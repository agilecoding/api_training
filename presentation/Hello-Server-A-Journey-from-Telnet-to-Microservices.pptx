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Together we travel from room-sized computers to microservices, and by the end you will know why almost every API you test is a REST API over HTTP. Audience: manual testers, automation engineers and business analysts. No coding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Point out the quiz after each part. Mention the glossary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were room-sized, rented time. People submitted punch cards, later used 'dumb terminals' that only displayed text. All the thinking happened in the one mainframe. Analogy: a library with one librarian; everyone queues at one desk. Key point for BAs: the first 'users' were operators, no one owned a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switching = phone call: a line is reserved the whole time. Packet switching = break the message into numbered envelopes; each finds its own route; reassemble at the end. Invented by Paul Baran (US) and Donald Davies (UK). It makes networks resilient: if one path fails, packets take another. This is the foundation of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29 Oct 1969 UCLA sent 'LOGIN' to Stanford; the system crashed after 'LO'. First message: 'LO'. By 1971 15 nodes. Funded by the US Department of Defense research agency ARPA. Note the nodes: UCLA, Stanford Research Institute, UC Santa Barbara, University of Utah.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quickly. Highlight 1983 as the 'birthday of the Internet' when ARPANET switched to TCP/IP. Highlight 1989-91 for the Web. Highlight 2000 for REST. Details are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is an agreed set of rules. Telnet: log in to a remote computer and type commands as if you were sitting there. Everything including passwords was plain text, so it is insecure; replaced by SSH in 1995. FTP: move files. SMTP: send mail. All three are TEXT protocols: humans can read the conversation. Foreshadow: HTTP is also text based, and that is why we can read it.A protocol is an agreed set of rules. Walk the four cards left to right. Telnet (1969, port 23) is the odd one out: it has no 3-digit status codes; it negotiates options using single bytes: IAC=255, WILL=251, WONT=252, DO=253, DONT=254. Everything typed, including the password, travels as plain text. FTP (1971, ports 21/20): commands USER, PASS, RETR; replies 220 Service ready, 331 Password required, 230 Logged in, 226 Transfer complete. SMTP (email 1971, SMTP 1982, port 25): HELO, MAIL FROM, RCPT TO; replies 250 OK, 550 Mailbox unavailable. HTTP (1991, port 80/443): methods GET/POST with headers; replies 200 OK, 404 Not Found. Same recipe each time: client sends a readable text command, server answers with a number. The first digit means the same family everywhere: 2 = success, 3 = need more, 4/5 = failure. Callout for testers: when you read HTTP status codes later, you are using an idea that is 50 years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Q2: B. Q3: A.Q1: B. Q2: B. Q3: A.
ANSWERS: A mini poll. Ask for a show of hands per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postal-letter analogy: address format, envelope, stamps, delivery rules. Both sides must agree or nothing works. Business analysts: a protocol is like an interface contract between two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four-layer TCP/IP model. Analogy: sending a parcel. You write the letter (application), put it in a box with a tracking number (transport), the post office adds street addresses and sorting (internet), the truck drives on roads (link). Each layer only talks to the layer above and below. HTTP lives at the top. Testers: when you see 'connection refused' it is a lower layer; 404 is the top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describe the same networking, with different granularity. OSI (Open Systems Interconnection) was created by ISO as a theoretical blueprint with 7 rigid, specialised layers. It is rarely implemented literally, but it is the common language network engineers use to troubleshoot: people say 'a layer 7 issue' or 'a layer 3 problem'. TCP/IP, the Internet Protocol Suite, came from DARPA and the US Department of Defense; it is pragmatic and built around the real protocols that run the Internet (TCP, IP, Ethernet). The mapping: TCP/IP Application covers OSI layers 7, 6 and 5 (application, presentation, session); in TCP/IP, formatting such as JSON, encryption such as TLS, and session handling are done by the application protocols themselves. TCP/IP Transport equals OSI layer 4; TCP and UDP behave the same in both models. TCP/IP Internet equals OSI layer 3 (network): IP addressing and routing. TCP/IP Network Access (link) covers OSI layers 2 and 1 (data link and physical): MAC addresses, framing, cables and radio. Tester takeaway: when someone says layer 7 they mean the application (HTTP, your API); layer 4 is TCP ports; layer 3 is IP and routing. Most API testing lives at layer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Encapsulation is how data travels down the stack. Each layer takes what it receives from the layer above and adds its own header (the link layer also adds a trailer), like putting a letter in an envelope, then into a box, then onto a truck. Application layer: the browser creates the HTTP request; this is just data or a message. Transport layer: TCP breaks the data into chunks and adds a header with source and destination port numbers (for example port 80 or 443), sequence numbers so the pieces can be reassembled in order, acknowledgment numbers and flow-control flags; data plus TCP header is a segment (a datagram for UDP). Internet layer: IP adds a header with source and destination IP addresses, a time-to-live (TTL) and a protocol identifier; the result is a packet. Link layer: the packet is wrapped in a frame with source and destination MAC addresses for delivery on the local network, plus a trailer, the frame check sequence (FCS), a checksum for error detection. Physical layer: the frame becomes bits sent as electrical pulses, light or radio waves. At the destination the process is reversed, called decapsulation: the link layer checks the FCS and strips its header and trailer; IP checks the destination address and strips its header; TCP uses ports and sequence numbers to reassemble the data, detect missing pieces and strip its header; finally the application receives the original HTTP message. Tester takeaway: the HTTP request you test is only the innermost payload. Tools such as Wireshark show all the layers, which helps when diagnosing network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of encapsulation with real-looking values. You type a URL and press Enter. Step 1, application layer: the browser builds the HTTP request, for example GET /index.html HTTP/1.1 with headers such as Host, User-Agent and Cookie. It hands this down; no network headers have been added yet. Step 2, transport layer: the operating system splits the message into chunks and adds a TCP header: a source port chosen randomly by your OS (for example 51514), a destination port (443 for HTTPS or 80 for HTTP), sequence numbers and acknowledgment flags for reliable, ordered delivery. The unit is now a segment. Step 3, internet layer: IP adds a header with your source IP address and the destination server's IP address, which DNS resolved earlier, plus a TTL. The unit is now a packet. Step 4, link layer: the packet is wrapped in a frame with a MAC header and an FCS trailer for error checking. Important detail: the destination MAC address is NOT the web server; it is your local router (the next hop). MAC addresses only work on the local link and are rewritten at every hop, while the IP addresses stay the same end to end. Finally the network card turns the frame into electrical voltages on copper, pulses of light on fibre or radio waves on Wi-Fi, and the journey across the Internet begins. At the other end the process runs in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 = Internet Protocol, 1981. Gives each device an address (IPv4 like 192.168.1.10; IPv6 for the future because IPv4 ran out of ~4.3 billion addresses). Routers read the destination and pass the packet one hop closer, like postal sorting offices. IP is best-effort: no guarantee of delivery. Ports: apartment numbers in the building. IP address picks the building, port picks the apartment/application. Port 80 HTTP, 443 HTTPS, 22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 Transmission Control Protocol. Three-way handshake: SYN, SYN-ACK, ACK, then data flows. If a packet is lost, the receiver does not acknowledge it and the sender resends. Packets are numbered so they are reassembled in order. UDP skips all this: faster, no guarantees: used for video calls, games, DNS. HTTP/3 uses QUIC over UDP, we will see that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use numbers, humans use names. DNS translates 'example.com' to 93.184.216.34. Before DNS everyone downloaded one HOSTS.TXT file. Flow: browser asks local resolver; resolver asks root, then .com, then the domain's name server; answer is cached. Testers: wrong environment URL or stale DNS cache is a classic 'works on my machine' cause. Also note 1 Jan 1983 flag day: ARPANET switched to TCP/IP, the Internet as we know it was born.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Internet (IP) layer. Q2: B. Q3: B (DNS).Q1: Internet (IP) layer. Q2: B. Q3: B (DNS).
ANSWERS: Pause for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CERN, Tim Berners-Lee wanted scientists to share documents easily. He combined three ideas: URL (address of anything), HTTP (how to fetch it), HTML (how to write the document with links). First website 1991 info.cern.ch. In 1993 CERN made it royalty-free. Pre-web internet was for experts using command lines (Telnet, FTP); the web made it for everyone. Point: the Web is an application on the Internet; Internet is not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URL piece by piece. Scheme tells the protocol. Host is the server (resolved by DNS). Port is optional (80 and 443 are defaults). Path identifies the resource. Query string passes filters. Fragment is only for the browser. REST APIs lean heavily on path and query. Tester tip: path parameters identify, query parameters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is stateless request-response over TCP. The client always starts. Each request is independent; the server does not remember previous requests unless you send something like a token or cookie. Walk through the picture. In manual testing tools like Flashpost/Postman you are playing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request has a request line (method, path, version), headers (metadata) and an optional body. Right: the response has a status line (version, status code, reason), headers and a body. Blank line separates headers from body. Content-Type tells how to read the body; Authorization carries credentials; Accept says what the client wants back. Every API test you write checks these pieces: status, headers,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(JavaScript Object Notation) is the text format most REST APIs use. It is lighter than XML and readable by humans. Six types: string, number, boolean, null, object and array. Go through the sample on the left and map each field to a type. Content negotiation is how client and server agree on the format: Content-Type says what I am sending, Accept says what I want back. If the server cannot produce the requested format it returns 406 Not Acceptable; if it cannot read what you sent it returns 415 Unsupported Media Type. Testers: most JSON bugs are small: trailing commas, missing quotes, null versus a missing field, and a number sent as a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tell the server what to do with the resource. GET reads, POST creates, PUT replaces, PATCH partially updates, DELETE removes. Safe means no change to server data. Idempotent means repeating gives the same end result: calling DELETE twice leaves the thing deleted; calling POST twice creates two. This is a very common test design topic: idempotency tests, duplicate-submit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three separate properties; do not mix them up. Safe: the method never changes server data, it is read-only (GET, HEAD, OPTIONS). Idempotent: repeating the call gives the same end result as calling it once (GET, HEAD, OPTIONS, PUT, DELETE). State-changing: the method modifies data on the server (POST, PUT, PATCH, DELETE). Note that DELETE also changes state, and it is idempotent: deleting twice leaves the same end state. So the groups overlap: GET is safe and idempotent; PUT and DELETE change state but are idempotent; POST changes state and is not idempotent; PATCH changes state and is generally not idempotent. Walk through the three examples. POST /users sent twice creates two records with two different IDs. PUT /users/42 sent twice with the same data replaces the record twice; the final state is identical. PATCH depends on the operation: setting an email to the same value is repeatable, but an increment such as login_count +1 changes the state further each time. A word of caution: here 'stateful' only means 'changes data on the server'. HTTP itself remains a stateless protocol, which the next slides explain. Tester takeaway: send the call twice and compare the end state, not just the status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digit tells the family. 2xx success; 3xx redirect; 4xx client made a mistake; 5xx server made a mistake. Memorise the most important ones: 200, 201, 204, 400, 401, 403, 404, 409, 422, 500, 503. Teaching point: 401 is 'who are you', 403 is 'I know you but not allowed'. 4xx vs 5xx decides who to blame: very useful in defect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Stateless is one of the founding principles that let the web scale to billions of users. Definition: each HTTP request-response pair is independent and self-contained. The server treats every request as if it has never seen the client before; it keeps no memory or session history, so every request must carry everything needed to process it: authentication token, cookie, parameters. Benefits. Scalability and simplicity: servers do not track whether you are on step 1 or step 5 of a workflow, so they do not run out of memory holding conversations for millions of users. Load balancing and fault tolerance: if Server A handles your POST and your next GET lands on Server B, nothing breaks, because no server holds exclusive memory of you. Reliability: if the network drops mid-transaction, no half-open conversation is left hanging. The apparent paradox: a POST clearly changes server state. The distinction is where the state lives. Protocol statelessness is at the network layer: the channel between client and server keeps no session memory. Application state is at the database layer: the database changes and remembers things such as a saved profile or a recorded payment. The server updates its database for one self-contained request, then the conversation is forgotten. The next slide shows how real applications add identity back with cookies, sessions and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request stands alone, the server does not remember you. Solutions: cookies (the server hands a small token, browser sends it back every time), session IDs, bearer tokens like JWT, API keys. REST APIs prefer tokens in headers. Testers: always check what happens with missing, expired or wrong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questions. Authentication: who are you? Failure gives 401 Unauthorized (the name is historical; it really means unauthenticated). Authorization: what are you allowed to do? Failure gives 403 Forbidden. Then the four common ways APIs identify callers. Basic auth: username and password Base64-encoded on every call; only safe over HTTPS. API key: a secret string identifying the calling application, usually in a header such as x-api-key. Bearer token (JWT): a signed token with three parts, header.payload.signature; the server verifies the signature and keeps no session; the payload is only encoded, not encrypted, so anyone can read it, and it has an expiry. OAuth 2.0: a framework for delegated access (for example 'Sign in with Google'); it issues short-lived access tokens, refresh tokens and scopes. OAuth is how you get a token; the token itself is often a JWT. Testers: no token, expired token, tampered token, valid token with the wrong role or scope, and another user's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HTTP/0.9 1991: only GET, only HTML. HTTP/1.0 1996: headers, status codes, other content types. HTTP/1.1 1997: persistent connections, host header, still the foundation of most APIs and the one you see in tools. HTTP/2 2015: binary, multiplexing many requests on one connection, header compression. HTTP/3 2022: runs on QUIC over UDP to avoid TCP head-of-line blocking. For a tester: the methods, status codes and headers are unchanged across versions; only the transport is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is plain text: anyone on the path (Wi-Fi, ISP) can read or alter it. HTTPS wraps HTTP in TLS: server proves identity with a certificate, then both sides agree on keys and encrypt. The padlock. Certificates expire: a classic production incident. For testing: use HTTPS in all non-local environments, test with expired/self-signed certs where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relay race: every version solved one pain and exposed the next. 0.9 (1991): one command, GET /index.html, raw HTML back, connection closed; no headers, no status codes, text only. 1.0 (1996): headers and status codes let us send images and styles (Content-Type: image/jpeg) and report errors (200, 404); but every file needed a brand-new TCP connection. 1.1 (1997): persistent connections (Keep-Alive) and the Host header (many sites on one IP); but requests are answered one at a time, so a slow first file blocks the rest (head-of-line blocking) and browsers open about 6 parallel connections as a workaround. HTTP/2 (2015): multiplexing (many streams on one connection, binary frames) and HPACK header compression; but it still rides on TCP, so one lost packet freezes every stream. HTTP/3 (2022): QUIC over UDP, so only the affected stream pauses, and the handshake is faster. What next: QUIC tuning for 5G, satellite and moving vehicles; WebTransport (built on HTTP/3) for low-latency two-way streaming, a modern alternative to WebSockets; and research into AI-aware packet prioritisation. Treat the last one as research, not a product. Tester tip: methods, status codes and headers are the same in every version, so your API tests do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 began at Google and was standardised by the IETF (RFC 9000, 2021). It is now just a name, no longer treated as an acronym (it once stood for Quick UDP Internet Connections). It runs on UDP but adds the reliability TCP used to provide, plus encryption (TLS 1.3 built in) and independent streams. Three wins. 1) Independent streams: if one packet is lost, only its stream waits, fixing TCP head-of-line blocking. 2) Faster connections: transport and TLS handshake are combined (1 round trip), and returning visitors can resume with 0-RTT. 3) Connection migration: a connection is identified by a connection ID, not by IP and port, so switching from Wi-Fi to mobile data does not drop the session. Tester takeaway: the HTTP you test (methods, status codes, headers) is unchanged; if UDP is blocked, clients fall back to HTTP/2 over TCP, so test both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path /users/42/orders identifies; ?status=open filters. Q2: B 403. Q3: B Idempotent.Q1: path /users/42/orders identifies; ?status=open filters. Q2: B 403. Q3: B Idempotent.
ANSWERS: Pause for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modern internet uses HTTP/2 and HTTP/3 at the same time, alongside a still-massive amount of HTTP/1.1. The transition is gradual and tiered. HTTP/1.1 is the legacy fallback, supported almost everywhere for older clients, proxies and legacy internal services. HTTP/2 is the current workhorse: deployed on the vast majority of major sites, CDNs such as Cloudflare and Akamai, and cloud providers, and it carries the bulk of standard browsing. HTTP/3 is the modern standard: widely adopted and growing fast; Google, YouTube, Meta and Cloudflare serve a large share of traffic over QUIC on UDP, and Chrome, Safari, Edge and Firefox have enabled it by default for years. Why not 100 percent HTTP/3? Older servers, firewalls and enterprise networks sometimes block or misconfigure UDP, forcing a fallback to TCP (HTTP/2 or 1.1). And processing UDP/QUIC takes slightly more server CPU than TCP, though hardware acceleration and optimisation are closing the gap. Tester tip: because clients fall back automatically, a test can pass on HTTP/2 while HTTP/3 is broken, or the reverse, so test with each version where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was built for humans with browsers. By the late 1990s businesses wanted their systems to talk to each other: payment to bank, order to warehouse. That is an API: Application Programming Interface. Analogy: a restaurant menu and waiter. You (client) order from the menu (API); the kitchen (server) stays hidden. Early attempts: RPC (call a function on another machine), CORBA, DCOM, XML-RPC, then SOAP. REST arrived in 2000 and became the default. In 2015 two newer styles appeared for specific needs: GraphQL (clients ask for exactly the fields they need) and gRPC (fast, binary, contract-first RPC over HTTP/2). We cover both later in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as a story of 40 years; each step fixed the pain of the one before. RPC (1980s): pretend the remote server is local; you called a function as if it lived on your machine; the catch was tight coupling to languages and hardware, for example a C server and a Fortran client broke. CORBA (1991): a universal enterprise standard with a central broker and rigid interface files; bloated, hard to set up and a nightmare through firewalls; it buckled under its own weight. XML-RPC (1998): let's use the web instead; the function call is wrapped in XML and sent as an HTTP POST; XML is verbose, but it proved HTTP was the right transport. SOAP (1998-2000): XML-RPC plus thousands of pages of rules: security, transactions, WSDL contracts; painfully bureaucratic, the symbol of enterprise over-engineering. REST (2000): back to simplicity; resources as nouns and HTTP verbs; intuitive, readable, scales easily, the backbone of public web and mobile APIs. GraphQL (2015): ask for exactly what you want; fixes over-fetching and under-fetching; the cost moves to the server and caching is trickier. gRPC (2015): Google's high-speed RPC; compact binary Protocol Buffers over HTTP/2; perfect for internal microservices, rarely used where humans must read the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SOAP = Simple Object Access Protocol, though it is not simple. Messages are XML in an envelope; the contract is a WSDL file; standards like WS-Security exist. Strengths: strict contracts, enterprise security, transactions. Weaknesses: verbose, heavy tooling, hard to read and debug by hand, mostly POST to a single endpoint. Still widely used in banking, insurance, government. Testers will meet it in legacy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Roy Fielding, co-author of HTTP, described REST in his PhD thesis in 2000: REpresentational State Transfer. It is NOT a protocol or a standard; it is an architectural style: a set of constraints that, when followed, make web systems scalable and simple. Walk through the six constraints. Most 'REST APIs' in the wild are 'REST-ish' (JSON over HTTP). That is fine; knowing the constraints helps to evaluate designs. Statelessness and uniform interface are the two testers meet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one resource, 'users', maps to a handful of URL and verb combinations. This is the CRUD mapping. Resources are nouns in plural. IDs in the path. Representation is usually JSON. Status codes tell the result. Nested resources like /users/42/orders express relationships. This is exactly the structure of the Flashpost exercise API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missing middle of the story. In 2000 Salesforce and eBay launched some of the first commercial web APIs, mostly XML/SOAP. Amazon Web Services followed in 2002, and S3 in 2006 offered a simple REST interface. Flickr (2004) and Twitter (2006) showed that a few simple HTTP URLs returning data was enough for a whole ecosystem of apps. JSON, popularised by Douglas Crockford, replaced bulky XML. The iPhone in 2007 created huge demand for light APIs for mobile apps. Around 2011-2014 teams such as Netflix split monoliths into small services, and Martin Fowler and James Lewis published the 'Microservices' article in March 2014. Swagger (2011) became the OpenAPI standard in 2015. Dates are approximate for the first public releases; the pattern is what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advantage to an audience. Simplicity and readable: testers can try with a browser or Postman. Uses existing HTTP so no new infrastructure: caching, load balancers, security work already. Stateless: easy to scale horizontally. Language neutral: any system that speaks HTTP. JSON is lighter than XML. Loose coupling and independent deployment: fits microservices. Honest limits: over/under fetching, no strict contract by default, chatty.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Leonard Richardson's model grades APIs in four levels. Level 0: one URL, one verb (SOAP style RPC over HTTP). Level 1: separate resources (many URLs). Level 2: proper HTTP verbs and status codes: this is where most real-world 'REST APIs' stop and are perfectly good. Level 3: hypermedia (HATEOAS): responses contain links to next actions. Use it to talk with developers and BAs about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has no built-in contract, so the industry standardised how to describe one. Swagger was created in 2011; it became the OpenAPI Specification under the Linux Foundation in 2015; OpenAPI 3.0 came in 2017 and 3.1 in 2021. An OpenAPI file (YAML or JSON) lists every path, method, parameter, request body, response and status code. From that one file you get interactive documentation (Swagger UI), generated client and server code, a mock server, and automatic validation of requests and responses. Contract-first means the BA, developers and testers agree on the file before code is written. Testers: validate real responses against the contract; any drift is a bug in the API or in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practical topics that appear in almost every real REST API. Versioning: APIs change, so the version is put in the URL (/v1/users, most common) or in a header; old versions must keep working until retired. Pagination: lists are returned in pages (?page=2&amp;size=20, or a cursor); test first page, last page, empty result, a page beyond the end and a size above the limit. Rate limiting: to protect the server, too many calls get 429 Too Many Requests, usually with a Retry-After header telling you when to try again. Idempotency: GET, PUT, DELETE are idempotent, POST is not; payment APIs use an Idempotency-Key header so a retried POST does not charge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Facebook created GraphQL in 2012 and open-sourced in 2015 for mobile apps on slow networks. Problem 1 over-fetching: GET /users/42 returns 30 fields, you needed 2. Problem 2 under-fetching: to show a profile page you call /users/42, /users/42/orders, /orders/7/items: three round trips. GraphQL: single endpoint, the client writes a query naming exactly the fields it needs. Trade-offs: caching is harder, usually POST, often 200 OK even for errors (errors in the body), complexity on the server. Testers: assert on 'errors' array not on status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open-sourced gRPC in 2015. Contract-first: you describe services and messages in a .proto file; code is generated for any language. Messages are binary (Protocol Buffers), small and fast; transport is HTTP/2 with streaming in both directions. Great between internal microservices; not browser friendly without a proxy; not human readable, so testing needs special tools (grpcurl, Postman gRPC). It is a modern version of the old RPC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2015 nothing has radically replaced gRPC for backend microservices; it remains the gold standard for high-performance internal communication. Instead the evolution moved horizontally. Connect (Connect-RPC), popular around 2022-2024: browsers cannot speak full gRPC without a proxy such as Envoy, because JavaScript has no low-level control of HTTP/2 frames. Connect lets you write gRPC-style code with Protocol Buffers that runs over HTTP/1.1, HTTP/2 or HTTP/3 as ordinary fetch requests, JSON or binary, so web frontends can call gRPC backends easily. WebTransport: WebSockets suffered TCP head-of-line blocking; WebTransport is a browser API built on HTTP/3 and QUIC with two-way, multi-stream, low-latency communication for gaming, live audio and video, and collaborative tools. GraphQL has also evolved: subscriptions for live updates, and Federation, which stitches hundreds of microservices, often gRPC underneath, into one unified graph for frontends. Ecosystem today: REST and GraphQL for public web and mobile APIs; gRPC for internal microservices; Connect-RPC and WebTransport as the new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REST is request and response: the client always starts. Four ways to get 'push' behaviour. Polling: the client keeps asking 'anything new?'; simple but wasteful. Webhooks: you give the other system a URL; when something happens it sends an HTTP POST to you (payment succeeded, code pushed). Server-Sent Events: the browser opens one long HTTP response and the server streams events down it, one direction only (live scores, notifications). WebSockets (RFC 6455, 2011): a persistent two-way connection that starts as a normal HTTP request with an Upgrade header and the server answers 101 Switching Protocols (chat, trading, collaborative editing). Testing: these are not single request/response checks. Test connect, message order, reconnect after drop, timeouts, and for webhooks you need a receiver endpoint or a mock to capture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No winner: pick for context. REST is the default for most web APIs; that is why this course focuses on it and why the Flashpost/Karate material uses REST. If the audience remembers one thing: you will meet REST 80 to 90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/users/42, nouns in URL and the method carries the verb. Q2: B. Q3: False, it is an architectural style that uses HTTP.Q1: /users/42, nouns in URL and the method carries the verb. Q2: B. Q3: False, it is an architectural style that uses HTTP.
ANSWERS: Pause for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Monolith: one big application, one deployment, one database. Simple at first, but a small change means redeploying everything, scaling means copying everything, one bug can take down all. Microservices: many small services, each owning one business capability and its own data, deployed independently. Analogy: a department store (everything under one roof) versus a shopping street of specialised shops. Cost: more moving parts, network calls, distributed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over HTTP is the most common way services talk. Clients (web/mobile) hit an API gateway: a single front door that authenticates, routes and rate limits. The gateway calls services via REST; services call each other via REST (synchronous) or via messages/events (asynchronous: Kafka, RabbitMQ). Each service exposes a REST contract (OpenAPI). gRPC may be used for internal high-speed calls. Because REST is stateless, any instance of a service can handle any request, so scaling is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service call should wait for an answer. With REST (synchronous) the caller waits and fails if the other service is down. With events (asynchronous) the producer publishes a message such as OrderPlaced to a broker (Kafka, RabbitMQ, a cloud queue) and moves on; any number of consumers pick it up when ready. Benefits: looser coupling, resilience, many consumers. Costs: eventual consistency (data is not updated everywhere instantly), duplicate or out-of-order messages, harder debugging. Use REST when you need an immediate answer; use events when the work can happen later or many services care. Testers: do not use fixed sleeps; wait or poll until the expected result appears, and test duplicates, retries and delayed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logic is split across services, the UI tests alone are slow and fragile. Teams test most at the API layer: fast, stable, close to business rules. Test pyramid: many unit tests, many API/service tests, few UI tests. Dependencies: service A needs service B; use mocks/stubs when B is not ready or to simulate failures. Contract testing: ensure provider and consumer agree on the shape of messages so changes do not break others. BAs: requirements should describe service contracts, error cases and SLAs, not just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per audience. Manual testers: you can now read and write raw requests. Automation engineers: automate at the API layer; REST maps cleanly to tools. BAs: write contracts and error scenarios as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repo kit: TRAINING-GUIDE.md. Learners run the sample User Management API locally (Node/Express on port 3000), practise manually with the Flashpost VS Code extension, then automate the same checks with Karate 2.1.2. The seven tiers move from a simple status check up to contract testing and mocks. Suggest doing the manual exercises first, then the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journey. Invite questions. Point to the glossary handout for the terms and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full handout is in glossary-handout.html.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3" name="Text 0"/>
          <p:cNvSpPr/>
          <p:nvPr/>
        </p:nvSpPr>
        <p:spPr>
          <a:xfrm>
            <a:off x="731520" y="1188720"/>
            <a:ext cx="10515600" cy="1188720"/>
          </a:xfrm>
          <a:prstGeom prst="rect">
            <a:avLst/>
          </a:prstGeom>
          <a:noFill/>
          <a:ln/>
        </p:spPr>
        <p:txBody>
          <a:bodyPr wrap="square" lIns="508" tIns="508" rIns="508" bIns="508"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Hello, Server</a:t>
            </a:r>
            <a:endParaRPr lang="en-US" sz="7200" dirty="0"/>
          </a:p>
        </p:txBody>
      </p:sp>
      <p:sp>
        <p:nvSpPr>
          <p:cNvPr id="4" name="Text 1"/>
          <p:cNvSpPr/>
          <p:nvPr/>
        </p:nvSpPr>
        <p:spPr>
          <a:xfrm>
            <a:off x="731520" y="2194560"/>
            <a:ext cx="10515600" cy="640080"/>
          </a:xfrm>
          <a:prstGeom prst="rect">
            <a:avLst/>
          </a:prstGeom>
          <a:noFill/>
          <a:ln/>
        </p:spPr>
        <p:txBody>
          <a:bodyPr wrap="square" lIns="508" tIns="508" rIns="508" bIns="508" rtlCol="0" anchor="ctr"/>
          <a:lstStyle/>
          <a:p>
            <a:pPr indent="0" marL="0">
              <a:buNone/>
            </a:pPr>
            <a:r>
              <a:rPr lang="en-US" sz="3200" b="1" dirty="0">
                <a:solidFill>
                  <a:srgbClr val="0F9D8F"/>
                </a:solidFill>
                <a:latin typeface="Calibri" pitchFamily="34" charset="0"/>
                <a:ea typeface="Calibri" pitchFamily="34" charset="-122"/>
                <a:cs typeface="Calibri" pitchFamily="34" charset="-120"/>
              </a:rPr>
              <a:t>A Journey from Telnet to Microservices</a:t>
            </a:r>
            <a:endParaRPr lang="en-US" sz="3200" dirty="0"/>
          </a:p>
        </p:txBody>
      </p:sp>
      <p:sp>
        <p:nvSpPr>
          <p:cNvPr id="5" name="Text 2"/>
          <p:cNvSpPr/>
          <p:nvPr/>
        </p:nvSpPr>
        <p:spPr>
          <a:xfrm>
            <a:off x="731520" y="2926080"/>
            <a:ext cx="10058400" cy="822960"/>
          </a:xfrm>
          <a:prstGeom prst="rect">
            <a:avLst/>
          </a:prstGeom>
          <a:noFill/>
          <a:ln/>
        </p:spPr>
        <p:txBody>
          <a:bodyPr wrap="square" lIns="508" tIns="508" rIns="508" bIns="508" rtlCol="0" anchor="ctr"/>
          <a:lstStyle/>
          <a:p>
            <a:pPr indent="0" marL="0">
              <a:buNone/>
            </a:pPr>
            <a:r>
              <a:rPr lang="en-US" sz="2400" dirty="0">
                <a:solidFill>
                  <a:srgbClr val="9FB3C8"/>
                </a:solidFill>
                <a:latin typeface="Calibri" pitchFamily="34" charset="0"/>
                <a:ea typeface="Calibri" pitchFamily="34" charset="-122"/>
                <a:cs typeface="Calibri" pitchFamily="34" charset="-120"/>
              </a:rPr>
              <a:t>How computers learned to talk: protocols, HTTP, RESTful services and microservices, and why every tester needs to know the story</a:t>
            </a:r>
            <a:endParaRPr lang="en-US" sz="2400" dirty="0"/>
          </a:p>
        </p:txBody>
      </p:sp>
      <p:sp>
        <p:nvSpPr>
          <p:cNvPr id="6" name="Text 3"/>
          <p:cNvSpPr/>
          <p:nvPr/>
        </p:nvSpPr>
        <p:spPr>
          <a:xfrm>
            <a:off x="731520" y="4023360"/>
            <a:ext cx="822960" cy="822960"/>
          </a:xfrm>
          <a:prstGeom prst="rect">
            <a:avLst/>
          </a:prstGeom>
          <a:noFill/>
          <a:ln/>
        </p:spPr>
        <p:txBody>
          <a:bodyPr wrap="square" lIns="508" tIns="508" rIns="508" bIns="508"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7" name="Text 4"/>
          <p:cNvSpPr/>
          <p:nvPr/>
        </p:nvSpPr>
        <p:spPr>
          <a:xfrm>
            <a:off x="1600200" y="4023360"/>
            <a:ext cx="822960" cy="822960"/>
          </a:xfrm>
          <a:prstGeom prst="rect">
            <a:avLst/>
          </a:prstGeom>
          <a:noFill/>
          <a:ln/>
        </p:spPr>
        <p:txBody>
          <a:bodyPr wrap="square" lIns="508" tIns="508" rIns="508" bIns="508" rtlCol="0" anchor="ctr"/>
          <a:lstStyle/>
          <a:p>
            <a:pPr algn="ctr" indent="0" marL="0">
              <a:buNone/>
            </a:pPr>
            <a:r>
              <a:rPr lang="en-US" sz="4000" dirty="0">
                <a:solidFill>
                  <a:srgbClr val="0F9D8F"/>
                </a:solidFill>
                <a:latin typeface="Calibri" pitchFamily="34" charset="0"/>
                <a:ea typeface="Calibri" pitchFamily="34" charset="-122"/>
                <a:cs typeface="Calibri" pitchFamily="34" charset="-120"/>
              </a:rPr>
              <a:t>➜</a:t>
            </a:r>
            <a:endParaRPr lang="en-US" sz="4000" dirty="0"/>
          </a:p>
        </p:txBody>
      </p:sp>
      <p:sp>
        <p:nvSpPr>
          <p:cNvPr id="8" name="Text 5"/>
          <p:cNvSpPr/>
          <p:nvPr/>
        </p:nvSpPr>
        <p:spPr>
          <a:xfrm>
            <a:off x="2468880" y="4023360"/>
            <a:ext cx="822960" cy="822960"/>
          </a:xfrm>
          <a:prstGeom prst="rect">
            <a:avLst/>
          </a:prstGeom>
          <a:noFill/>
          <a:ln/>
        </p:spPr>
        <p:txBody>
          <a:bodyPr wrap="square" lIns="508" tIns="508" rIns="508" bIns="508"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9" name="Text 6"/>
          <p:cNvSpPr/>
          <p:nvPr/>
        </p:nvSpPr>
        <p:spPr>
          <a:xfrm>
            <a:off x="3337560" y="4023360"/>
            <a:ext cx="822960" cy="822960"/>
          </a:xfrm>
          <a:prstGeom prst="rect">
            <a:avLst/>
          </a:prstGeom>
          <a:noFill/>
          <a:ln/>
        </p:spPr>
        <p:txBody>
          <a:bodyPr wrap="square" lIns="508" tIns="508" rIns="508" bIns="508" rtlCol="0" anchor="ctr"/>
          <a:lstStyle/>
          <a:p>
            <a:pPr algn="ctr" indent="0" marL="0">
              <a:buNone/>
            </a:pPr>
            <a:r>
              <a:rPr lang="en-US" sz="4000" dirty="0">
                <a:solidFill>
                  <a:srgbClr val="0F9D8F"/>
                </a:solidFill>
                <a:latin typeface="Calibri" pitchFamily="34" charset="0"/>
                <a:ea typeface="Calibri" pitchFamily="34" charset="-122"/>
                <a:cs typeface="Calibri" pitchFamily="34" charset="-120"/>
              </a:rPr>
              <a:t>➜</a:t>
            </a:r>
            <a:endParaRPr lang="en-US" sz="4000" dirty="0"/>
          </a:p>
        </p:txBody>
      </p:sp>
      <p:sp>
        <p:nvSpPr>
          <p:cNvPr id="10" name="Text 7"/>
          <p:cNvSpPr/>
          <p:nvPr/>
        </p:nvSpPr>
        <p:spPr>
          <a:xfrm>
            <a:off x="4206240" y="4023360"/>
            <a:ext cx="822960" cy="822960"/>
          </a:xfrm>
          <a:prstGeom prst="rect">
            <a:avLst/>
          </a:prstGeom>
          <a:noFill/>
          <a:ln/>
        </p:spPr>
        <p:txBody>
          <a:bodyPr wrap="square" lIns="508" tIns="508" rIns="508" bIns="508"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11" name="Text 8"/>
          <p:cNvSpPr/>
          <p:nvPr/>
        </p:nvSpPr>
        <p:spPr>
          <a:xfrm>
            <a:off x="5074920" y="4023360"/>
            <a:ext cx="822960" cy="822960"/>
          </a:xfrm>
          <a:prstGeom prst="rect">
            <a:avLst/>
          </a:prstGeom>
          <a:noFill/>
          <a:ln/>
        </p:spPr>
        <p:txBody>
          <a:bodyPr wrap="square" lIns="508" tIns="508" rIns="508" bIns="508" rtlCol="0" anchor="ctr"/>
          <a:lstStyle/>
          <a:p>
            <a:pPr algn="ctr" indent="0" marL="0">
              <a:buNone/>
            </a:pPr>
            <a:r>
              <a:rPr lang="en-US" sz="4000" dirty="0">
                <a:solidFill>
                  <a:srgbClr val="0F9D8F"/>
                </a:solidFill>
                <a:latin typeface="Calibri" pitchFamily="34" charset="0"/>
                <a:ea typeface="Calibri" pitchFamily="34" charset="-122"/>
                <a:cs typeface="Calibri" pitchFamily="34" charset="-120"/>
              </a:rPr>
              <a:t>➜</a:t>
            </a:r>
            <a:endParaRPr lang="en-US" sz="4000" dirty="0"/>
          </a:p>
        </p:txBody>
      </p:sp>
      <p:sp>
        <p:nvSpPr>
          <p:cNvPr id="12" name="Text 9"/>
          <p:cNvSpPr/>
          <p:nvPr/>
        </p:nvSpPr>
        <p:spPr>
          <a:xfrm>
            <a:off x="5943600" y="4023360"/>
            <a:ext cx="822960" cy="822960"/>
          </a:xfrm>
          <a:prstGeom prst="rect">
            <a:avLst/>
          </a:prstGeom>
          <a:noFill/>
          <a:ln/>
        </p:spPr>
        <p:txBody>
          <a:bodyPr wrap="square" lIns="508" tIns="508" rIns="508" bIns="508"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13" name="Text 10"/>
          <p:cNvSpPr/>
          <p:nvPr/>
        </p:nvSpPr>
        <p:spPr>
          <a:xfrm>
            <a:off x="731520" y="5669280"/>
            <a:ext cx="10058400" cy="457200"/>
          </a:xfrm>
          <a:prstGeom prst="rect">
            <a:avLst/>
          </a:prstGeom>
          <a:noFill/>
          <a:ln/>
        </p:spPr>
        <p:txBody>
          <a:bodyPr wrap="square" lIns="508" tIns="508" rIns="508" bIns="508" rtlCol="0" anchor="ctr"/>
          <a:lstStyle/>
          <a:p>
            <a:pPr indent="0" marL="0">
              <a:buNone/>
            </a:pPr>
            <a:r>
              <a:rPr lang="en-US" sz="1600" dirty="0">
                <a:solidFill>
                  <a:srgbClr val="F59E0B"/>
                </a:solidFill>
                <a:latin typeface="Calibri" pitchFamily="34" charset="0"/>
                <a:ea typeface="Calibri" pitchFamily="34" charset="-122"/>
                <a:cs typeface="Calibri" pitchFamily="34" charset="-120"/>
              </a:rPr>
              <a:t>A foundation for manual testers, automation engineers and business analysts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we will cover</a:t>
            </a:r>
            <a:endParaRPr lang="en-US" sz="2800" dirty="0"/>
          </a:p>
        </p:txBody>
      </p:sp>
      <p:sp>
        <p:nvSpPr>
          <p:cNvPr id="5" name="Text 3"/>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280160"/>
            <a:ext cx="640080" cy="640080"/>
          </a:xfrm>
          <a:prstGeom prst="roundRect">
            <a:avLst>
              <a:gd name="adj" fmla="val 11429"/>
            </a:avLst>
          </a:prstGeom>
          <a:solidFill>
            <a:srgbClr val="3B82F6"/>
          </a:solidFill>
          <a:ln w="15875">
            <a:solidFill>
              <a:srgbClr val="3B82F6"/>
            </a:solidFill>
          </a:ln>
        </p:spPr>
        <p:txBody>
          <a:bodyPr wrap="square" lIns="1016" tIns="1016" rIns="1016" bIns="1016"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Text 5"/>
          <p:cNvSpPr/>
          <p:nvPr/>
        </p:nvSpPr>
        <p:spPr>
          <a:xfrm>
            <a:off x="1371600" y="1261872"/>
            <a:ext cx="3840480" cy="365760"/>
          </a:xfrm>
          <a:prstGeom prst="rect">
            <a:avLst/>
          </a:prstGeom>
          <a:noFill/>
          <a:ln/>
        </p:spPr>
        <p:txBody>
          <a:bodyPr wrap="square" lIns="508" tIns="508" rIns="508" bIns="508"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Before the Internet</a:t>
            </a:r>
            <a:endParaRPr lang="en-US" sz="2000" dirty="0"/>
          </a:p>
        </p:txBody>
      </p:sp>
      <p:sp>
        <p:nvSpPr>
          <p:cNvPr id="9" name="Text 6"/>
          <p:cNvSpPr/>
          <p:nvPr/>
        </p:nvSpPr>
        <p:spPr>
          <a:xfrm>
            <a:off x="1371600" y="1572768"/>
            <a:ext cx="7315200" cy="320040"/>
          </a:xfrm>
          <a:prstGeom prst="rect">
            <a:avLst/>
          </a:prstGeom>
          <a:noFill/>
          <a:ln/>
        </p:spPr>
        <p:txBody>
          <a:bodyPr wrap="square" lIns="508" tIns="508" rIns="508" bIns="508"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Mainframes, ARPANET, Telnet, FTP, email</a:t>
            </a:r>
            <a:endParaRPr lang="en-US" sz="1400" dirty="0"/>
          </a:p>
        </p:txBody>
      </p:sp>
      <p:sp>
        <p:nvSpPr>
          <p:cNvPr id="10" name="Text 7"/>
          <p:cNvSpPr/>
          <p:nvPr/>
        </p:nvSpPr>
        <p:spPr>
          <a:xfrm>
            <a:off x="548640" y="2029968"/>
            <a:ext cx="640080" cy="640080"/>
          </a:xfrm>
          <a:prstGeom prst="roundRect">
            <a:avLst>
              <a:gd name="adj" fmla="val 11429"/>
            </a:avLst>
          </a:prstGeom>
          <a:solidFill>
            <a:srgbClr val="0F9D8F"/>
          </a:solidFill>
          <a:ln w="15875">
            <a:solidFill>
              <a:srgbClr val="0F9D8F"/>
            </a:solidFill>
          </a:ln>
        </p:spPr>
        <p:txBody>
          <a:bodyPr wrap="square" lIns="1016" tIns="1016" rIns="1016" bIns="1016"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1" name="Text 8"/>
          <p:cNvSpPr/>
          <p:nvPr/>
        </p:nvSpPr>
        <p:spPr>
          <a:xfrm>
            <a:off x="1371600" y="2011680"/>
            <a:ext cx="3840480" cy="365760"/>
          </a:xfrm>
          <a:prstGeom prst="rect">
            <a:avLst/>
          </a:prstGeom>
          <a:noFill/>
          <a:ln/>
        </p:spPr>
        <p:txBody>
          <a:bodyPr wrap="square" lIns="508" tIns="508" rIns="508" bIns="508"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TCP/IP: the rules of the road</a:t>
            </a:r>
            <a:endParaRPr lang="en-US" sz="2000" dirty="0"/>
          </a:p>
        </p:txBody>
      </p:sp>
      <p:sp>
        <p:nvSpPr>
          <p:cNvPr id="12" name="Text 9"/>
          <p:cNvSpPr/>
          <p:nvPr/>
        </p:nvSpPr>
        <p:spPr>
          <a:xfrm>
            <a:off x="1371600" y="2322576"/>
            <a:ext cx="7315200" cy="320040"/>
          </a:xfrm>
          <a:prstGeom prst="rect">
            <a:avLst/>
          </a:prstGeom>
          <a:noFill/>
          <a:ln/>
        </p:spPr>
        <p:txBody>
          <a:bodyPr wrap="square" lIns="508" tIns="508" rIns="508" bIns="508" rtlCol="0" anchor="ctr"/>
          <a:lstStyle/>
          <a:p>
            <a:pPr indent="0" marL="0">
              <a:buNone/>
            </a:pPr>
            <a:r>
              <a:rPr lang="en-US" sz="1400" dirty="0">
                <a:solidFill>
                  <a:srgbClr val="64748B"/>
                </a:solidFill>
                <a:latin typeface="Calibri" pitchFamily="34" charset="0"/>
                <a:ea typeface="Calibri" pitchFamily="34" charset="-122"/>
                <a:cs typeface="Calibri" pitchFamily="34" charset="-120"/>
              </a:rPr>
              <a:t>Layers, IP, TCP, DNS, ports</a:t>
            </a:r>
            <a:endParaRPr lang="en-US" sz="1400" dirty="0"/>
          </a:p>
        </p:txBody>
      </p:sp>
      <p:sp>
        <p:nvSpPr>
          <p:cNvPr id="13" name="Text 10"/>
          <p:cNvSpPr/>
          <p:nvPr/>
        </p:nvSpPr>
        <p:spPr>
          <a:xfrm>
            <a:off x="548640" y="2779776"/>
            <a:ext cx="640080" cy="640080"/>
          </a:xfrm>
          <a:prstGeom prst="roundRect">
            <a:avLst>
              <a:gd name="adj" fmla="val 11429"/>
            </a:avLst>
          </a:prstGeom>
          <a:solidFill>
            <a:srgbClr val="7C5CFC"/>
          </a:solidFill>
          <a:ln w="15875">
            <a:solidFill>
              <a:srgbClr val="7C5CFC"/>
            </a:solidFill>
          </a:ln>
        </p:spPr>
        <p:txBody>
          <a:bodyPr wrap="square" lIns="1016" tIns="1016" rIns="1016" bIns="1016"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4" name="Text 11"/>
          <p:cNvSpPr/>
          <p:nvPr/>
        </p:nvSpPr>
        <p:spPr>
          <a:xfrm>
            <a:off x="1371600" y="2761488"/>
            <a:ext cx="3840480" cy="365760"/>
          </a:xfrm>
          <a:prstGeom prst="rect">
            <a:avLst/>
          </a:prstGeom>
          <a:noFill/>
          <a:ln/>
        </p:spPr>
        <p:txBody>
          <a:bodyPr wrap="square" lIns="508" tIns="508" rIns="508" bIns="508"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The Web and HTTP</a:t>
            </a:r>
            <a:endParaRPr lang="en-US" sz="2000" dirty="0"/>
          </a:p>
        </p:txBody>
      </p:sp>
      <p:sp>
        <p:nvSpPr>
          <p:cNvPr id="15" name="Text 12"/>
          <p:cNvSpPr/>
          <p:nvPr/>
        </p:nvSpPr>
        <p:spPr>
          <a:xfrm>
            <a:off x="1371600" y="3072384"/>
            <a:ext cx="7315200" cy="320040"/>
          </a:xfrm>
          <a:prstGeom prst="rect">
            <a:avLst/>
          </a:prstGeom>
          <a:noFill/>
          <a:ln/>
        </p:spPr>
        <p:txBody>
          <a:bodyPr wrap="square" lIns="508" tIns="508" rIns="508" bIns="508" rtlCol="0" anchor="ctr"/>
          <a:lstStyle/>
          <a:p>
            <a:pPr indent="0" marL="0">
              <a:buNone/>
            </a:pPr>
            <a:r>
              <a:rPr lang="en-US" sz="1400" dirty="0">
                <a:solidFill>
                  <a:srgbClr val="64748B"/>
                </a:solidFill>
                <a:latin typeface="Calibri" pitchFamily="34" charset="0"/>
                <a:ea typeface="Calibri" pitchFamily="34" charset="-122"/>
                <a:cs typeface="Calibri" pitchFamily="34" charset="-120"/>
              </a:rPr>
              <a:t>URLs, requests, JSON, methods, status codes, auth, HTTP versions, HTTPS</a:t>
            </a:r>
            <a:endParaRPr lang="en-US" sz="1400" dirty="0"/>
          </a:p>
        </p:txBody>
      </p:sp>
      <p:sp>
        <p:nvSpPr>
          <p:cNvPr id="16" name="Text 13"/>
          <p:cNvSpPr/>
          <p:nvPr/>
        </p:nvSpPr>
        <p:spPr>
          <a:xfrm>
            <a:off x="548640" y="3529584"/>
            <a:ext cx="640080" cy="640080"/>
          </a:xfrm>
          <a:prstGeom prst="roundRect">
            <a:avLst>
              <a:gd name="adj" fmla="val 11429"/>
            </a:avLst>
          </a:prstGeom>
          <a:solidFill>
            <a:srgbClr val="F59E0B"/>
          </a:solidFill>
          <a:ln w="15875">
            <a:solidFill>
              <a:srgbClr val="F59E0B"/>
            </a:solidFill>
          </a:ln>
        </p:spPr>
        <p:txBody>
          <a:bodyPr wrap="square" lIns="1016" tIns="1016" rIns="1016" bIns="1016"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7" name="Text 14"/>
          <p:cNvSpPr/>
          <p:nvPr/>
        </p:nvSpPr>
        <p:spPr>
          <a:xfrm>
            <a:off x="1371600" y="3511296"/>
            <a:ext cx="3840480" cy="365760"/>
          </a:xfrm>
          <a:prstGeom prst="rect">
            <a:avLst/>
          </a:prstGeom>
          <a:noFill/>
          <a:ln/>
        </p:spPr>
        <p:txBody>
          <a:bodyPr wrap="square" lIns="508" tIns="508" rIns="508" bIns="508"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From web pages to APIs</a:t>
            </a:r>
            <a:endParaRPr lang="en-US" sz="2000" dirty="0"/>
          </a:p>
        </p:txBody>
      </p:sp>
      <p:sp>
        <p:nvSpPr>
          <p:cNvPr id="18" name="Text 15"/>
          <p:cNvSpPr/>
          <p:nvPr/>
        </p:nvSpPr>
        <p:spPr>
          <a:xfrm>
            <a:off x="1371600" y="3822192"/>
            <a:ext cx="7315200" cy="320040"/>
          </a:xfrm>
          <a:prstGeom prst="rect">
            <a:avLst/>
          </a:prstGeom>
          <a:noFill/>
          <a:ln/>
        </p:spPr>
        <p:txBody>
          <a:bodyPr wrap="square" lIns="508" tIns="508" rIns="508" bIns="508"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SOAP, REST, OpenAPI, real-world REST, GraphQL, gRPC, real-time push</a:t>
            </a:r>
            <a:endParaRPr lang="en-US" sz="1400" dirty="0"/>
          </a:p>
        </p:txBody>
      </p:sp>
      <p:sp>
        <p:nvSpPr>
          <p:cNvPr id="19" name="Text 16"/>
          <p:cNvSpPr/>
          <p:nvPr/>
        </p:nvSpPr>
        <p:spPr>
          <a:xfrm>
            <a:off x="548640" y="4279392"/>
            <a:ext cx="640080" cy="640080"/>
          </a:xfrm>
          <a:prstGeom prst="roundRect">
            <a:avLst>
              <a:gd name="adj" fmla="val 11429"/>
            </a:avLst>
          </a:prstGeom>
          <a:solidFill>
            <a:srgbClr val="E5484D"/>
          </a:solidFill>
          <a:ln w="15875">
            <a:solidFill>
              <a:srgbClr val="E5484D"/>
            </a:solidFill>
          </a:ln>
        </p:spPr>
        <p:txBody>
          <a:bodyPr wrap="square" lIns="1016" tIns="1016" rIns="1016" bIns="1016"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0" name="Text 17"/>
          <p:cNvSpPr/>
          <p:nvPr/>
        </p:nvSpPr>
        <p:spPr>
          <a:xfrm>
            <a:off x="1371600" y="4261104"/>
            <a:ext cx="3840480" cy="365760"/>
          </a:xfrm>
          <a:prstGeom prst="rect">
            <a:avLst/>
          </a:prstGeom>
          <a:noFill/>
          <a:ln/>
        </p:spPr>
        <p:txBody>
          <a:bodyPr wrap="square" lIns="508" tIns="508" rIns="508" bIns="508"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Microservices</a:t>
            </a:r>
            <a:endParaRPr lang="en-US" sz="2000" dirty="0"/>
          </a:p>
        </p:txBody>
      </p:sp>
      <p:sp>
        <p:nvSpPr>
          <p:cNvPr id="21" name="Text 18"/>
          <p:cNvSpPr/>
          <p:nvPr/>
        </p:nvSpPr>
        <p:spPr>
          <a:xfrm>
            <a:off x="1371600" y="4572000"/>
            <a:ext cx="7315200" cy="320040"/>
          </a:xfrm>
          <a:prstGeom prst="rect">
            <a:avLst/>
          </a:prstGeom>
          <a:noFill/>
          <a:ln/>
        </p:spPr>
        <p:txBody>
          <a:bodyPr wrap="square" lIns="508" tIns="508" rIns="508" bIns="508"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Monolith vs services, where REST fits, events and brokers, testing</a:t>
            </a:r>
            <a:endParaRPr lang="en-US" sz="1400" dirty="0"/>
          </a:p>
        </p:txBody>
      </p:sp>
      <p:sp>
        <p:nvSpPr>
          <p:cNvPr id="22" name="Text 19"/>
          <p:cNvSpPr/>
          <p:nvPr/>
        </p:nvSpPr>
        <p:spPr>
          <a:xfrm>
            <a:off x="548640" y="5029200"/>
            <a:ext cx="640080" cy="640080"/>
          </a:xfrm>
          <a:prstGeom prst="roundRect">
            <a:avLst>
              <a:gd name="adj" fmla="val 11429"/>
            </a:avLst>
          </a:prstGeom>
          <a:solidFill>
            <a:srgbClr val="0B1F3A"/>
          </a:solidFill>
          <a:ln w="15875">
            <a:solidFill>
              <a:srgbClr val="0B1F3A"/>
            </a:solidFill>
          </a:ln>
        </p:spPr>
        <p:txBody>
          <a:bodyPr wrap="square" lIns="1016" tIns="1016" rIns="1016" bIns="1016"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23" name="Text 20"/>
          <p:cNvSpPr/>
          <p:nvPr/>
        </p:nvSpPr>
        <p:spPr>
          <a:xfrm>
            <a:off x="1371600" y="5010912"/>
            <a:ext cx="3840480" cy="365760"/>
          </a:xfrm>
          <a:prstGeom prst="rect">
            <a:avLst/>
          </a:prstGeom>
          <a:noFill/>
          <a:ln/>
        </p:spPr>
        <p:txBody>
          <a:bodyPr wrap="square" lIns="508" tIns="508" rIns="508" bIns="508"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Wrap-up</a:t>
            </a:r>
            <a:endParaRPr lang="en-US" sz="2000" dirty="0"/>
          </a:p>
        </p:txBody>
      </p:sp>
      <p:sp>
        <p:nvSpPr>
          <p:cNvPr id="24" name="Text 21"/>
          <p:cNvSpPr/>
          <p:nvPr/>
        </p:nvSpPr>
        <p:spPr>
          <a:xfrm>
            <a:off x="1371600" y="5321808"/>
            <a:ext cx="7315200" cy="320040"/>
          </a:xfrm>
          <a:prstGeom prst="rect">
            <a:avLst/>
          </a:prstGeom>
          <a:noFill/>
          <a:ln/>
        </p:spPr>
        <p:txBody>
          <a:bodyPr wrap="square" lIns="508" tIns="508" rIns="508" bIns="508" rtlCol="0" anchor="ctr"/>
          <a:lstStyle/>
          <a:p>
            <a:pPr indent="0" marL="0">
              <a:buNone/>
            </a:pPr>
            <a:r>
              <a:rPr lang="en-US" sz="1400" dirty="0">
                <a:solidFill>
                  <a:srgbClr val="64748B"/>
                </a:solidFill>
                <a:latin typeface="Calibri" pitchFamily="34" charset="0"/>
                <a:ea typeface="Calibri" pitchFamily="34" charset="-122"/>
                <a:cs typeface="Calibri" pitchFamily="34" charset="-120"/>
              </a:rPr>
              <a:t>Role takeaways, hands-on next steps, Q&amp;A</a:t>
            </a:r>
            <a:endParaRPr lang="en-US" sz="1400" dirty="0"/>
          </a:p>
        </p:txBody>
      </p:sp>
      <p:sp>
        <p:nvSpPr>
          <p:cNvPr id="25" name="Shape 22"/>
          <p:cNvSpPr/>
          <p:nvPr/>
        </p:nvSpPr>
        <p:spPr>
          <a:xfrm>
            <a:off x="457200" y="5989320"/>
            <a:ext cx="82296" cy="548640"/>
          </a:xfrm>
          <a:prstGeom prst="rect">
            <a:avLst/>
          </a:prstGeom>
          <a:solidFill>
            <a:srgbClr val="0F9D8F"/>
          </a:solidFill>
          <a:ln/>
        </p:spPr>
      </p:sp>
      <p:sp>
        <p:nvSpPr>
          <p:cNvPr id="26" name="Text 23"/>
          <p:cNvSpPr/>
          <p:nvPr/>
        </p:nvSpPr>
        <p:spPr>
          <a:xfrm>
            <a:off x="594360" y="598932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Goal: after this session you can read a raw HTTP request, explain why REST won, and describe how microservices talk to each other.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2011680"/>
            <a:ext cx="109728" cy="2011680"/>
          </a:xfrm>
          <a:prstGeom prst="rect">
            <a:avLst/>
          </a:prstGeom>
          <a:solidFill>
            <a:srgbClr val="0F9D8F"/>
          </a:solidFill>
          <a:ln/>
        </p:spPr>
      </p:sp>
      <p:sp>
        <p:nvSpPr>
          <p:cNvPr id="3" name="Text 1"/>
          <p:cNvSpPr/>
          <p:nvPr/>
        </p:nvSpPr>
        <p:spPr>
          <a:xfrm>
            <a:off x="1005840" y="1920240"/>
            <a:ext cx="5486400" cy="457200"/>
          </a:xfrm>
          <a:prstGeom prst="rect">
            <a:avLst/>
          </a:prstGeom>
          <a:noFill/>
          <a:ln/>
        </p:spPr>
        <p:txBody>
          <a:bodyPr wrap="square" lIns="508" tIns="508" rIns="508" bIns="508" rtlCol="0" anchor="ctr"/>
          <a:lstStyle/>
          <a:p>
            <a:pPr indent="0" marL="0">
              <a:buNone/>
            </a:pPr>
            <a:r>
              <a:rPr lang="en-US" sz="1600" b="1" spc="400" kern="0" dirty="0">
                <a:solidFill>
                  <a:srgbClr val="F59E0B"/>
                </a:solidFill>
                <a:latin typeface="Calibri" pitchFamily="34" charset="0"/>
                <a:ea typeface="Calibri" pitchFamily="34" charset="-122"/>
                <a:cs typeface="Calibri" pitchFamily="34" charset="-120"/>
              </a:rPr>
              <a:t>PART 1</a:t>
            </a:r>
            <a:endParaRPr lang="en-US" sz="1600" dirty="0"/>
          </a:p>
        </p:txBody>
      </p:sp>
      <p:sp>
        <p:nvSpPr>
          <p:cNvPr id="4" name="Text 2"/>
          <p:cNvSpPr/>
          <p:nvPr/>
        </p:nvSpPr>
        <p:spPr>
          <a:xfrm>
            <a:off x="1005840" y="2377440"/>
            <a:ext cx="10058400" cy="1005840"/>
          </a:xfrm>
          <a:prstGeom prst="rect">
            <a:avLst/>
          </a:prstGeom>
          <a:noFill/>
          <a:ln/>
        </p:spPr>
        <p:txBody>
          <a:bodyPr wrap="square" lIns="508" tIns="508" rIns="508" bIns="508"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Before the Internet</a:t>
            </a:r>
            <a:endParaRPr lang="en-US" sz="4400" dirty="0"/>
          </a:p>
        </p:txBody>
      </p:sp>
      <p:sp>
        <p:nvSpPr>
          <p:cNvPr id="5" name="Text 3"/>
          <p:cNvSpPr/>
          <p:nvPr/>
        </p:nvSpPr>
        <p:spPr>
          <a:xfrm>
            <a:off x="1005840" y="3383280"/>
            <a:ext cx="9601200" cy="731520"/>
          </a:xfrm>
          <a:prstGeom prst="rect">
            <a:avLst/>
          </a:prstGeom>
          <a:noFill/>
          <a:ln/>
        </p:spPr>
        <p:txBody>
          <a:bodyPr wrap="square" lIns="508" tIns="508" rIns="508" bIns="508" rtlCol="0" anchor="ctr"/>
          <a:lstStyle/>
          <a:p>
            <a:pPr indent="0" marL="0">
              <a:buNone/>
            </a:pPr>
            <a:r>
              <a:rPr lang="en-US" sz="2000" dirty="0">
                <a:solidFill>
                  <a:srgbClr val="9FB3C8"/>
                </a:solidFill>
                <a:latin typeface="Calibri" pitchFamily="34" charset="0"/>
                <a:ea typeface="Calibri" pitchFamily="34" charset="-122"/>
                <a:cs typeface="Calibri" pitchFamily="34" charset="-120"/>
              </a:rPr>
              <a:t>1950s to 1980s: islands of computing, the first connections, and the first bug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1950s-60s: One giant computer, many dumb screens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Before the Internet</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8" name="Text 5"/>
          <p:cNvSpPr/>
          <p:nvPr/>
        </p:nvSpPr>
        <p:spPr>
          <a:xfrm>
            <a:off x="4572000" y="1828800"/>
            <a:ext cx="3017520" cy="1828800"/>
          </a:xfrm>
          <a:prstGeom prst="roundRect">
            <a:avLst>
              <a:gd name="adj" fmla="val 4000"/>
            </a:avLst>
          </a:prstGeom>
          <a:solidFill>
            <a:srgbClr val="0B1F3A"/>
          </a:solidFill>
          <a:ln w="15875">
            <a:solidFill>
              <a:srgbClr val="0B1F3A"/>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a:p>
            <a:pPr algn="ctr" indent="0" marL="0">
              <a:buNone/>
            </a:pPr>
            <a:r>
              <a:rPr lang="en-US" sz="1800" b="1" dirty="0">
                <a:solidFill>
                  <a:srgbClr val="FFFFFF"/>
                </a:solidFill>
                <a:latin typeface="Calibri" pitchFamily="34" charset="0"/>
                <a:ea typeface="Calibri" pitchFamily="34" charset="-122"/>
                <a:cs typeface="Calibri" pitchFamily="34" charset="-120"/>
              </a:rPr>
              <a:t>MAINFRAME</a:t>
            </a:r>
            <a:endParaRPr lang="en-US" sz="1800" dirty="0"/>
          </a:p>
          <a:p>
            <a:pPr algn="ctr" indent="0" marL="0">
              <a:buNone/>
            </a:pPr>
            <a:r>
              <a:rPr lang="en-US" sz="1800" b="1" dirty="0">
                <a:solidFill>
                  <a:srgbClr val="FFFFFF"/>
                </a:solidFill>
                <a:latin typeface="Calibri" pitchFamily="34" charset="0"/>
                <a:ea typeface="Calibri" pitchFamily="34" charset="-122"/>
                <a:cs typeface="Calibri" pitchFamily="34" charset="-120"/>
              </a:rPr>
              <a:t>(all processing + all data)</a:t>
            </a:r>
            <a:endParaRPr lang="en-US" sz="1800" dirty="0"/>
          </a:p>
        </p:txBody>
      </p:sp>
      <p:sp>
        <p:nvSpPr>
          <p:cNvPr id="9" name="Text 6"/>
          <p:cNvSpPr/>
          <p:nvPr/>
        </p:nvSpPr>
        <p:spPr>
          <a:xfrm>
            <a:off x="731520" y="1371600"/>
            <a:ext cx="2103120" cy="1188720"/>
          </a:xfrm>
          <a:prstGeom prst="roundRect">
            <a:avLst>
              <a:gd name="adj" fmla="val 6154"/>
            </a:avLst>
          </a:prstGeom>
          <a:solidFill>
            <a:srgbClr val="E0ECFF"/>
          </a:solidFill>
          <a:ln w="15875">
            <a:solidFill>
              <a:srgbClr val="3B82F6"/>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Dumb terminal</a:t>
            </a:r>
            <a:endParaRPr lang="en-US" sz="1400" dirty="0"/>
          </a:p>
        </p:txBody>
      </p:sp>
      <p:sp>
        <p:nvSpPr>
          <p:cNvPr id="10" name="Shape 7"/>
          <p:cNvSpPr/>
          <p:nvPr/>
        </p:nvSpPr>
        <p:spPr>
          <a:xfrm>
            <a:off x="2834640" y="1965960"/>
            <a:ext cx="1737360" cy="777240"/>
          </a:xfrm>
          <a:prstGeom prst="line">
            <a:avLst/>
          </a:prstGeom>
          <a:noFill/>
          <a:ln w="25400">
            <a:solidFill>
              <a:srgbClr val="3B82F6"/>
            </a:solidFill>
            <a:prstDash val="solid"/>
            <a:tailEnd type="triangle"/>
          </a:ln>
        </p:spPr>
      </p:sp>
      <p:sp>
        <p:nvSpPr>
          <p:cNvPr id="11" name="Text 8"/>
          <p:cNvSpPr/>
          <p:nvPr/>
        </p:nvSpPr>
        <p:spPr>
          <a:xfrm>
            <a:off x="731520" y="3383280"/>
            <a:ext cx="2103120" cy="1188720"/>
          </a:xfrm>
          <a:prstGeom prst="roundRect">
            <a:avLst>
              <a:gd name="adj" fmla="val 6154"/>
            </a:avLst>
          </a:prstGeom>
          <a:solidFill>
            <a:srgbClr val="E0ECFF"/>
          </a:solidFill>
          <a:ln w="15875">
            <a:solidFill>
              <a:srgbClr val="3B82F6"/>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Dumb terminal</a:t>
            </a:r>
            <a:endParaRPr lang="en-US" sz="1400" dirty="0"/>
          </a:p>
        </p:txBody>
      </p:sp>
      <p:sp>
        <p:nvSpPr>
          <p:cNvPr id="12" name="Shape 9"/>
          <p:cNvSpPr/>
          <p:nvPr/>
        </p:nvSpPr>
        <p:spPr>
          <a:xfrm flipV="1">
            <a:off x="2834640" y="2743200"/>
            <a:ext cx="1737360" cy="1234440"/>
          </a:xfrm>
          <a:prstGeom prst="line">
            <a:avLst/>
          </a:prstGeom>
          <a:noFill/>
          <a:ln w="25400">
            <a:solidFill>
              <a:srgbClr val="3B82F6"/>
            </a:solidFill>
            <a:prstDash val="solid"/>
            <a:tailEnd type="triangle"/>
          </a:ln>
        </p:spPr>
      </p:sp>
      <p:sp>
        <p:nvSpPr>
          <p:cNvPr id="13" name="Text 10"/>
          <p:cNvSpPr/>
          <p:nvPr/>
        </p:nvSpPr>
        <p:spPr>
          <a:xfrm>
            <a:off x="9326880" y="1371600"/>
            <a:ext cx="2103120" cy="1188720"/>
          </a:xfrm>
          <a:prstGeom prst="roundRect">
            <a:avLst>
              <a:gd name="adj" fmla="val 6154"/>
            </a:avLst>
          </a:prstGeom>
          <a:solidFill>
            <a:srgbClr val="E0ECFF"/>
          </a:solidFill>
          <a:ln w="15875">
            <a:solidFill>
              <a:srgbClr val="3B82F6"/>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Dumb terminal</a:t>
            </a:r>
            <a:endParaRPr lang="en-US" sz="1400" dirty="0"/>
          </a:p>
        </p:txBody>
      </p:sp>
      <p:sp>
        <p:nvSpPr>
          <p:cNvPr id="14" name="Shape 11"/>
          <p:cNvSpPr/>
          <p:nvPr/>
        </p:nvSpPr>
        <p:spPr>
          <a:xfrm flipH="1">
            <a:off x="7589520" y="1965960"/>
            <a:ext cx="1737360" cy="777240"/>
          </a:xfrm>
          <a:prstGeom prst="line">
            <a:avLst/>
          </a:prstGeom>
          <a:noFill/>
          <a:ln w="25400">
            <a:solidFill>
              <a:srgbClr val="3B82F6"/>
            </a:solidFill>
            <a:prstDash val="solid"/>
            <a:tailEnd type="triangle"/>
          </a:ln>
        </p:spPr>
      </p:sp>
      <p:sp>
        <p:nvSpPr>
          <p:cNvPr id="15" name="Text 12"/>
          <p:cNvSpPr/>
          <p:nvPr/>
        </p:nvSpPr>
        <p:spPr>
          <a:xfrm>
            <a:off x="9326880" y="3383280"/>
            <a:ext cx="2103120" cy="1188720"/>
          </a:xfrm>
          <a:prstGeom prst="roundRect">
            <a:avLst>
              <a:gd name="adj" fmla="val 6154"/>
            </a:avLst>
          </a:prstGeom>
          <a:solidFill>
            <a:srgbClr val="E0ECFF"/>
          </a:solidFill>
          <a:ln w="15875">
            <a:solidFill>
              <a:srgbClr val="3B82F6"/>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Dumb terminal</a:t>
            </a:r>
            <a:endParaRPr lang="en-US" sz="1400" dirty="0"/>
          </a:p>
        </p:txBody>
      </p:sp>
      <p:sp>
        <p:nvSpPr>
          <p:cNvPr id="16" name="Shape 13"/>
          <p:cNvSpPr/>
          <p:nvPr/>
        </p:nvSpPr>
        <p:spPr>
          <a:xfrm flipH="1" flipV="1">
            <a:off x="7589520" y="2743200"/>
            <a:ext cx="1737360" cy="1234440"/>
          </a:xfrm>
          <a:prstGeom prst="line">
            <a:avLst/>
          </a:prstGeom>
          <a:noFill/>
          <a:ln w="25400">
            <a:solidFill>
              <a:srgbClr val="3B82F6"/>
            </a:solidFill>
            <a:prstDash val="solid"/>
            <a:tailEnd type="triangle"/>
          </a:ln>
        </p:spPr>
      </p:sp>
      <p:sp>
        <p:nvSpPr>
          <p:cNvPr id="17" name="Text 14"/>
          <p:cNvSpPr/>
          <p:nvPr/>
        </p:nvSpPr>
        <p:spPr>
          <a:xfrm>
            <a:off x="731520" y="4846320"/>
            <a:ext cx="10698480" cy="12801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Terminals = keyboard + screen, no brain</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Computers could not talk to each other; moving data meant carrying tapes or cards ("sneakernet")</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Each vendor (IBM, DEC) used its own private networking rules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big idea: packet switching (1960s)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Before the Internet</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8" name="Text 5"/>
          <p:cNvSpPr/>
          <p:nvPr/>
        </p:nvSpPr>
        <p:spPr>
          <a:xfrm>
            <a:off x="548640" y="1188720"/>
            <a:ext cx="5303520" cy="365760"/>
          </a:xfrm>
          <a:prstGeom prst="rect">
            <a:avLst/>
          </a:prstGeom>
          <a:noFill/>
          <a:ln/>
        </p:spPr>
        <p:txBody>
          <a:bodyPr wrap="square" lIns="508" tIns="508" rIns="508" bIns="508" rtlCol="0" anchor="ctr"/>
          <a:lstStyle/>
          <a:p>
            <a:pPr indent="0" marL="0">
              <a:buNone/>
            </a:pPr>
            <a:r>
              <a:rPr lang="en-US" sz="1800" b="1" dirty="0">
                <a:solidFill>
                  <a:srgbClr val="E5484D"/>
                </a:solidFill>
                <a:latin typeface="Calibri" pitchFamily="34" charset="0"/>
                <a:ea typeface="Calibri" pitchFamily="34" charset="-122"/>
                <a:cs typeface="Calibri" pitchFamily="34" charset="-120"/>
              </a:rPr>
              <a:t>Circuit switching (phone call)</a:t>
            </a:r>
            <a:endParaRPr lang="en-US" sz="1800" dirty="0"/>
          </a:p>
        </p:txBody>
      </p:sp>
      <p:sp>
        <p:nvSpPr>
          <p:cNvPr id="9" name="Text 6"/>
          <p:cNvSpPr/>
          <p:nvPr/>
        </p:nvSpPr>
        <p:spPr>
          <a:xfrm>
            <a:off x="731520" y="2286000"/>
            <a:ext cx="731520" cy="731520"/>
          </a:xfrm>
          <a:prstGeom prst="roundRect">
            <a:avLst>
              <a:gd name="adj" fmla="val 10000"/>
            </a:avLst>
          </a:prstGeom>
          <a:solidFill>
            <a:srgbClr val="E5484D"/>
          </a:solidFill>
          <a:ln w="15875">
            <a:solidFill>
              <a:srgbClr val="E5484D"/>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10" name="Text 7"/>
          <p:cNvSpPr/>
          <p:nvPr/>
        </p:nvSpPr>
        <p:spPr>
          <a:xfrm>
            <a:off x="4754880" y="2286000"/>
            <a:ext cx="731520" cy="731520"/>
          </a:xfrm>
          <a:prstGeom prst="roundRect">
            <a:avLst>
              <a:gd name="adj" fmla="val 10000"/>
            </a:avLst>
          </a:prstGeom>
          <a:solidFill>
            <a:srgbClr val="E5484D"/>
          </a:solidFill>
          <a:ln w="15875">
            <a:solidFill>
              <a:srgbClr val="E5484D"/>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1" name="Shape 8"/>
          <p:cNvSpPr/>
          <p:nvPr/>
        </p:nvSpPr>
        <p:spPr>
          <a:xfrm>
            <a:off x="1463040" y="2651760"/>
            <a:ext cx="3291840" cy="0"/>
          </a:xfrm>
          <a:prstGeom prst="line">
            <a:avLst/>
          </a:prstGeom>
          <a:noFill/>
          <a:ln w="76200">
            <a:solidFill>
              <a:srgbClr val="E5484D"/>
            </a:solidFill>
            <a:prstDash val="solid"/>
          </a:ln>
        </p:spPr>
      </p:sp>
      <p:sp>
        <p:nvSpPr>
          <p:cNvPr id="12" name="Text 9"/>
          <p:cNvSpPr/>
          <p:nvPr/>
        </p:nvSpPr>
        <p:spPr>
          <a:xfrm>
            <a:off x="548640" y="3200400"/>
            <a:ext cx="5303520" cy="640080"/>
          </a:xfrm>
          <a:prstGeom prst="rect">
            <a:avLst/>
          </a:prstGeom>
          <a:noFill/>
          <a:ln/>
        </p:spPr>
        <p:txBody>
          <a:bodyPr wrap="square" lIns="508" tIns="508" rIns="508" bIns="508"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One dedicated line, reserved for the whole call, even during silence</a:t>
            </a:r>
            <a:endParaRPr lang="en-US" sz="1400" dirty="0"/>
          </a:p>
        </p:txBody>
      </p:sp>
      <p:sp>
        <p:nvSpPr>
          <p:cNvPr id="13" name="Text 10"/>
          <p:cNvSpPr/>
          <p:nvPr/>
        </p:nvSpPr>
        <p:spPr>
          <a:xfrm>
            <a:off x="6309360" y="1188720"/>
            <a:ext cx="5303520" cy="365760"/>
          </a:xfrm>
          <a:prstGeom prst="rect">
            <a:avLst/>
          </a:prstGeom>
          <a:noFill/>
          <a:ln/>
        </p:spPr>
        <p:txBody>
          <a:bodyPr wrap="square" lIns="508" tIns="508" rIns="508" bIns="508" rtlCol="0" anchor="ctr"/>
          <a:lstStyle/>
          <a:p>
            <a:pPr indent="0" marL="0">
              <a:buNone/>
            </a:pPr>
            <a:r>
              <a:rPr lang="en-US" sz="1800" b="1" dirty="0">
                <a:solidFill>
                  <a:srgbClr val="0F9D8F"/>
                </a:solidFill>
                <a:latin typeface="Calibri" pitchFamily="34" charset="0"/>
                <a:ea typeface="Calibri" pitchFamily="34" charset="-122"/>
                <a:cs typeface="Calibri" pitchFamily="34" charset="-120"/>
              </a:rPr>
              <a:t>Packet switching (Internet)</a:t>
            </a:r>
            <a:endParaRPr lang="en-US" sz="1800" dirty="0"/>
          </a:p>
        </p:txBody>
      </p:sp>
      <p:sp>
        <p:nvSpPr>
          <p:cNvPr id="14" name="Text 11"/>
          <p:cNvSpPr/>
          <p:nvPr/>
        </p:nvSpPr>
        <p:spPr>
          <a:xfrm>
            <a:off x="6400800" y="2286000"/>
            <a:ext cx="731520" cy="731520"/>
          </a:xfrm>
          <a:prstGeom prst="roundRect">
            <a:avLst>
              <a:gd name="adj" fmla="val 10000"/>
            </a:avLst>
          </a:prstGeom>
          <a:solidFill>
            <a:srgbClr val="0F9D8F"/>
          </a:solidFill>
          <a:ln w="15875">
            <a:solidFill>
              <a:srgbClr val="0F9D8F"/>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15" name="Text 12"/>
          <p:cNvSpPr/>
          <p:nvPr/>
        </p:nvSpPr>
        <p:spPr>
          <a:xfrm>
            <a:off x="10972800" y="2286000"/>
            <a:ext cx="731520" cy="731520"/>
          </a:xfrm>
          <a:prstGeom prst="roundRect">
            <a:avLst>
              <a:gd name="adj" fmla="val 10000"/>
            </a:avLst>
          </a:prstGeom>
          <a:solidFill>
            <a:srgbClr val="0F9D8F"/>
          </a:solidFill>
          <a:ln w="15875">
            <a:solidFill>
              <a:srgbClr val="0F9D8F"/>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6" name="Text 13"/>
          <p:cNvSpPr/>
          <p:nvPr/>
        </p:nvSpPr>
        <p:spPr>
          <a:xfrm>
            <a:off x="8412480" y="1645920"/>
            <a:ext cx="1005840" cy="457200"/>
          </a:xfrm>
          <a:prstGeom prst="roundRect">
            <a:avLst>
              <a:gd name="adj" fmla="val 16000"/>
            </a:avLst>
          </a:prstGeom>
          <a:solidFill>
            <a:srgbClr val="DDF4F0"/>
          </a:solidFill>
          <a:ln w="15875">
            <a:solidFill>
              <a:srgbClr val="0F9D8F"/>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router</a:t>
            </a:r>
            <a:endParaRPr lang="en-US" sz="1200" dirty="0"/>
          </a:p>
        </p:txBody>
      </p:sp>
      <p:sp>
        <p:nvSpPr>
          <p:cNvPr id="17" name="Text 14"/>
          <p:cNvSpPr/>
          <p:nvPr/>
        </p:nvSpPr>
        <p:spPr>
          <a:xfrm>
            <a:off x="8412480" y="3200400"/>
            <a:ext cx="1005840" cy="457200"/>
          </a:xfrm>
          <a:prstGeom prst="roundRect">
            <a:avLst>
              <a:gd name="adj" fmla="val 16000"/>
            </a:avLst>
          </a:prstGeom>
          <a:solidFill>
            <a:srgbClr val="DDF4F0"/>
          </a:solidFill>
          <a:ln w="15875">
            <a:solidFill>
              <a:srgbClr val="0F9D8F"/>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router</a:t>
            </a:r>
            <a:endParaRPr lang="en-US" sz="1200" dirty="0"/>
          </a:p>
        </p:txBody>
      </p:sp>
      <p:sp>
        <p:nvSpPr>
          <p:cNvPr id="18" name="Shape 15"/>
          <p:cNvSpPr/>
          <p:nvPr/>
        </p:nvSpPr>
        <p:spPr>
          <a:xfrm flipV="1">
            <a:off x="7132320" y="1874520"/>
            <a:ext cx="1280160" cy="685800"/>
          </a:xfrm>
          <a:prstGeom prst="line">
            <a:avLst/>
          </a:prstGeom>
          <a:noFill/>
          <a:ln w="25400">
            <a:solidFill>
              <a:srgbClr val="0F9D8F"/>
            </a:solidFill>
            <a:prstDash val="solid"/>
            <a:tailEnd type="triangle"/>
          </a:ln>
        </p:spPr>
      </p:sp>
      <p:sp>
        <p:nvSpPr>
          <p:cNvPr id="19" name="Shape 16"/>
          <p:cNvSpPr/>
          <p:nvPr/>
        </p:nvSpPr>
        <p:spPr>
          <a:xfrm>
            <a:off x="9418320" y="1874520"/>
            <a:ext cx="1554480" cy="685800"/>
          </a:xfrm>
          <a:prstGeom prst="line">
            <a:avLst/>
          </a:prstGeom>
          <a:noFill/>
          <a:ln w="25400">
            <a:solidFill>
              <a:srgbClr val="0F9D8F"/>
            </a:solidFill>
            <a:prstDash val="solid"/>
            <a:tailEnd type="triangle"/>
          </a:ln>
        </p:spPr>
      </p:sp>
      <p:sp>
        <p:nvSpPr>
          <p:cNvPr id="20" name="Shape 17"/>
          <p:cNvSpPr/>
          <p:nvPr/>
        </p:nvSpPr>
        <p:spPr>
          <a:xfrm>
            <a:off x="7132320" y="2743200"/>
            <a:ext cx="1280160" cy="685800"/>
          </a:xfrm>
          <a:prstGeom prst="line">
            <a:avLst/>
          </a:prstGeom>
          <a:noFill/>
          <a:ln w="25400">
            <a:solidFill>
              <a:srgbClr val="0F9D8F"/>
            </a:solidFill>
            <a:prstDash val="solid"/>
            <a:tailEnd type="triangle"/>
          </a:ln>
        </p:spPr>
      </p:sp>
      <p:sp>
        <p:nvSpPr>
          <p:cNvPr id="21" name="Shape 18"/>
          <p:cNvSpPr/>
          <p:nvPr/>
        </p:nvSpPr>
        <p:spPr>
          <a:xfrm flipV="1">
            <a:off x="9418320" y="2743200"/>
            <a:ext cx="1554480" cy="685800"/>
          </a:xfrm>
          <a:prstGeom prst="line">
            <a:avLst/>
          </a:prstGeom>
          <a:noFill/>
          <a:ln w="25400">
            <a:solidFill>
              <a:srgbClr val="0F9D8F"/>
            </a:solidFill>
            <a:prstDash val="solid"/>
            <a:tailEnd type="triangle"/>
          </a:ln>
        </p:spPr>
      </p:sp>
      <p:sp>
        <p:nvSpPr>
          <p:cNvPr id="22" name="Text 19"/>
          <p:cNvSpPr/>
          <p:nvPr/>
        </p:nvSpPr>
        <p:spPr>
          <a:xfrm>
            <a:off x="6309360" y="3931920"/>
            <a:ext cx="5303520" cy="548640"/>
          </a:xfrm>
          <a:prstGeom prst="rect">
            <a:avLst/>
          </a:prstGeom>
          <a:noFill/>
          <a:ln/>
        </p:spPr>
        <p:txBody>
          <a:bodyPr wrap="square" lIns="508" tIns="508" rIns="508" bIns="508"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Message cut into numbered packets; each takes any free route</a:t>
            </a:r>
            <a:endParaRPr lang="en-US" sz="1400" dirty="0"/>
          </a:p>
        </p:txBody>
      </p:sp>
      <p:sp>
        <p:nvSpPr>
          <p:cNvPr id="23" name="Text 20"/>
          <p:cNvSpPr/>
          <p:nvPr/>
        </p:nvSpPr>
        <p:spPr>
          <a:xfrm>
            <a:off x="6766560" y="4572000"/>
            <a:ext cx="822960" cy="457200"/>
          </a:xfrm>
          <a:prstGeom prst="roundRect">
            <a:avLst>
              <a:gd name="adj" fmla="val 16000"/>
            </a:avLst>
          </a:prstGeom>
          <a:solidFill>
            <a:srgbClr val="FEF3C7"/>
          </a:solidFill>
          <a:ln w="15875">
            <a:solidFill>
              <a:srgbClr val="F59E0B"/>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1</a:t>
            </a:r>
            <a:endParaRPr lang="en-US" sz="1400" dirty="0"/>
          </a:p>
        </p:txBody>
      </p:sp>
      <p:sp>
        <p:nvSpPr>
          <p:cNvPr id="24" name="Text 21"/>
          <p:cNvSpPr/>
          <p:nvPr/>
        </p:nvSpPr>
        <p:spPr>
          <a:xfrm>
            <a:off x="7863840" y="4572000"/>
            <a:ext cx="822960" cy="457200"/>
          </a:xfrm>
          <a:prstGeom prst="roundRect">
            <a:avLst>
              <a:gd name="adj" fmla="val 16000"/>
            </a:avLst>
          </a:prstGeom>
          <a:solidFill>
            <a:srgbClr val="FEF3C7"/>
          </a:solidFill>
          <a:ln w="15875">
            <a:solidFill>
              <a:srgbClr val="F59E0B"/>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2</a:t>
            </a:r>
            <a:endParaRPr lang="en-US" sz="1400" dirty="0"/>
          </a:p>
        </p:txBody>
      </p:sp>
      <p:sp>
        <p:nvSpPr>
          <p:cNvPr id="25" name="Text 22"/>
          <p:cNvSpPr/>
          <p:nvPr/>
        </p:nvSpPr>
        <p:spPr>
          <a:xfrm>
            <a:off x="8961120" y="4572000"/>
            <a:ext cx="822960" cy="457200"/>
          </a:xfrm>
          <a:prstGeom prst="roundRect">
            <a:avLst>
              <a:gd name="adj" fmla="val 16000"/>
            </a:avLst>
          </a:prstGeom>
          <a:solidFill>
            <a:srgbClr val="FEF3C7"/>
          </a:solidFill>
          <a:ln w="15875">
            <a:solidFill>
              <a:srgbClr val="F59E0B"/>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3</a:t>
            </a:r>
            <a:endParaRPr lang="en-US" sz="1400" dirty="0"/>
          </a:p>
        </p:txBody>
      </p:sp>
      <p:sp>
        <p:nvSpPr>
          <p:cNvPr id="26" name="Text 23"/>
          <p:cNvSpPr/>
          <p:nvPr/>
        </p:nvSpPr>
        <p:spPr>
          <a:xfrm>
            <a:off x="10058400" y="4572000"/>
            <a:ext cx="822960" cy="457200"/>
          </a:xfrm>
          <a:prstGeom prst="roundRect">
            <a:avLst>
              <a:gd name="adj" fmla="val 16000"/>
            </a:avLst>
          </a:prstGeom>
          <a:solidFill>
            <a:srgbClr val="FEF3C7"/>
          </a:solidFill>
          <a:ln w="15875">
            <a:solidFill>
              <a:srgbClr val="F59E0B"/>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4</a:t>
            </a:r>
            <a:endParaRPr lang="en-US" sz="1400" dirty="0"/>
          </a:p>
        </p:txBody>
      </p:sp>
      <p:sp>
        <p:nvSpPr>
          <p:cNvPr id="27" name="Text 24"/>
          <p:cNvSpPr/>
          <p:nvPr/>
        </p:nvSpPr>
        <p:spPr>
          <a:xfrm>
            <a:off x="11155680" y="4572000"/>
            <a:ext cx="914400" cy="457200"/>
          </a:xfrm>
          <a:prstGeom prst="rect">
            <a:avLst/>
          </a:prstGeom>
          <a:noFill/>
          <a:ln/>
        </p:spPr>
        <p:txBody>
          <a:bodyPr wrap="square" lIns="508" tIns="508" rIns="508" bIns="508"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packets</a:t>
            </a:r>
            <a:endParaRPr lang="en-US" sz="1200" dirty="0"/>
          </a:p>
        </p:txBody>
      </p:sp>
      <p:sp>
        <p:nvSpPr>
          <p:cNvPr id="28" name="Shape 25"/>
          <p:cNvSpPr/>
          <p:nvPr/>
        </p:nvSpPr>
        <p:spPr>
          <a:xfrm>
            <a:off x="457200" y="5577840"/>
            <a:ext cx="82296" cy="548640"/>
          </a:xfrm>
          <a:prstGeom prst="rect">
            <a:avLst/>
          </a:prstGeom>
          <a:solidFill>
            <a:srgbClr val="F59E0B"/>
          </a:solidFill>
          <a:ln/>
        </p:spPr>
      </p:sp>
      <p:sp>
        <p:nvSpPr>
          <p:cNvPr id="29" name="Text 26"/>
          <p:cNvSpPr/>
          <p:nvPr/>
        </p:nvSpPr>
        <p:spPr>
          <a:xfrm>
            <a:off x="594360" y="557784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Why testers care: networks are unreliable by design. Packets get lost, delayed or reordered, so protocols must handle it. This is why timeouts and retries exist.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1969: ARPANET connects four computers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Before the Internet</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8" name="Text 5"/>
          <p:cNvSpPr/>
          <p:nvPr/>
        </p:nvSpPr>
        <p:spPr>
          <a:xfrm>
            <a:off x="1371600" y="2926080"/>
            <a:ext cx="201168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UCLA</a:t>
            </a:r>
            <a:endParaRPr lang="en-US" sz="1400" dirty="0"/>
          </a:p>
        </p:txBody>
      </p:sp>
      <p:sp>
        <p:nvSpPr>
          <p:cNvPr id="9" name="Text 6"/>
          <p:cNvSpPr/>
          <p:nvPr/>
        </p:nvSpPr>
        <p:spPr>
          <a:xfrm>
            <a:off x="4572000" y="1554480"/>
            <a:ext cx="201168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Stanford (SRI)</a:t>
            </a:r>
            <a:endParaRPr lang="en-US" sz="1400" dirty="0"/>
          </a:p>
        </p:txBody>
      </p:sp>
      <p:sp>
        <p:nvSpPr>
          <p:cNvPr id="10" name="Text 7"/>
          <p:cNvSpPr/>
          <p:nvPr/>
        </p:nvSpPr>
        <p:spPr>
          <a:xfrm>
            <a:off x="4572000" y="4297680"/>
            <a:ext cx="201168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UC Santa Barbara</a:t>
            </a:r>
            <a:endParaRPr lang="en-US" sz="1400" dirty="0"/>
          </a:p>
        </p:txBody>
      </p:sp>
      <p:sp>
        <p:nvSpPr>
          <p:cNvPr id="11" name="Text 8"/>
          <p:cNvSpPr/>
          <p:nvPr/>
        </p:nvSpPr>
        <p:spPr>
          <a:xfrm>
            <a:off x="7772400" y="2926080"/>
            <a:ext cx="201168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Univ. of Utah</a:t>
            </a:r>
            <a:endParaRPr lang="en-US" sz="1400" dirty="0"/>
          </a:p>
        </p:txBody>
      </p:sp>
      <p:sp>
        <p:nvSpPr>
          <p:cNvPr id="12" name="Shape 9"/>
          <p:cNvSpPr/>
          <p:nvPr/>
        </p:nvSpPr>
        <p:spPr>
          <a:xfrm flipV="1">
            <a:off x="3383280" y="2286000"/>
            <a:ext cx="1188720" cy="1005840"/>
          </a:xfrm>
          <a:prstGeom prst="line">
            <a:avLst/>
          </a:prstGeom>
          <a:noFill/>
          <a:ln w="25400">
            <a:solidFill>
              <a:srgbClr val="3B82F6"/>
            </a:solidFill>
            <a:prstDash val="solid"/>
            <a:tailEnd type="triangle"/>
          </a:ln>
        </p:spPr>
      </p:sp>
      <p:sp>
        <p:nvSpPr>
          <p:cNvPr id="13" name="Shape 10"/>
          <p:cNvSpPr/>
          <p:nvPr/>
        </p:nvSpPr>
        <p:spPr>
          <a:xfrm>
            <a:off x="3383280" y="3840480"/>
            <a:ext cx="1188720" cy="914400"/>
          </a:xfrm>
          <a:prstGeom prst="line">
            <a:avLst/>
          </a:prstGeom>
          <a:noFill/>
          <a:ln w="25400">
            <a:solidFill>
              <a:srgbClr val="3B82F6"/>
            </a:solidFill>
            <a:prstDash val="solid"/>
            <a:tailEnd type="triangle"/>
          </a:ln>
        </p:spPr>
      </p:sp>
      <p:sp>
        <p:nvSpPr>
          <p:cNvPr id="14" name="Shape 11"/>
          <p:cNvSpPr/>
          <p:nvPr/>
        </p:nvSpPr>
        <p:spPr>
          <a:xfrm>
            <a:off x="6583680" y="2194560"/>
            <a:ext cx="1188720" cy="1005840"/>
          </a:xfrm>
          <a:prstGeom prst="line">
            <a:avLst/>
          </a:prstGeom>
          <a:noFill/>
          <a:ln w="25400">
            <a:solidFill>
              <a:srgbClr val="3B82F6"/>
            </a:solidFill>
            <a:prstDash val="solid"/>
            <a:tailEnd type="triangle"/>
          </a:ln>
        </p:spPr>
      </p:sp>
      <p:sp>
        <p:nvSpPr>
          <p:cNvPr id="15" name="Shape 12"/>
          <p:cNvSpPr/>
          <p:nvPr/>
        </p:nvSpPr>
        <p:spPr>
          <a:xfrm flipV="1">
            <a:off x="6583680" y="3749040"/>
            <a:ext cx="1188720" cy="1005840"/>
          </a:xfrm>
          <a:prstGeom prst="line">
            <a:avLst/>
          </a:prstGeom>
          <a:noFill/>
          <a:ln w="25400">
            <a:solidFill>
              <a:srgbClr val="3B82F6"/>
            </a:solidFill>
            <a:prstDash val="solid"/>
            <a:tailEnd type="triangle"/>
          </a:ln>
        </p:spPr>
      </p:sp>
      <p:sp>
        <p:nvSpPr>
          <p:cNvPr id="16" name="Shape 13"/>
          <p:cNvSpPr/>
          <p:nvPr/>
        </p:nvSpPr>
        <p:spPr>
          <a:xfrm>
            <a:off x="5577840" y="2651760"/>
            <a:ext cx="0" cy="1645920"/>
          </a:xfrm>
          <a:prstGeom prst="line">
            <a:avLst/>
          </a:prstGeom>
          <a:noFill/>
          <a:ln w="25400">
            <a:solidFill>
              <a:srgbClr val="3B82F6"/>
            </a:solidFill>
            <a:prstDash val="solid"/>
            <a:tailEnd type="triangle"/>
          </a:ln>
        </p:spPr>
      </p:sp>
      <p:sp>
        <p:nvSpPr>
          <p:cNvPr id="17" name="Text 14"/>
          <p:cNvSpPr/>
          <p:nvPr/>
        </p:nvSpPr>
        <p:spPr>
          <a:xfrm>
            <a:off x="9966960" y="2286000"/>
            <a:ext cx="1920240" cy="2194560"/>
          </a:xfrm>
          <a:prstGeom prst="roundRect">
            <a:avLst>
              <a:gd name="adj" fmla="val 3810"/>
            </a:avLst>
          </a:prstGeom>
          <a:solidFill>
            <a:srgbClr val="FEF3C7"/>
          </a:solidFill>
          <a:ln w="15875">
            <a:solidFill>
              <a:srgbClr val="F59E0B"/>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29 Oct 1969</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First message sent: "LO"</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(the system crashed before "LOGIN" finished!)</a:t>
            </a:r>
            <a:endParaRPr lang="en-US" sz="1300" dirty="0"/>
          </a:p>
        </p:txBody>
      </p:sp>
      <p:sp>
        <p:nvSpPr>
          <p:cNvPr id="18" name="Shape 15"/>
          <p:cNvSpPr/>
          <p:nvPr/>
        </p:nvSpPr>
        <p:spPr>
          <a:xfrm>
            <a:off x="457200" y="5486400"/>
            <a:ext cx="82296" cy="548640"/>
          </a:xfrm>
          <a:prstGeom prst="rect">
            <a:avLst/>
          </a:prstGeom>
          <a:solidFill>
            <a:srgbClr val="E5484D"/>
          </a:solidFill>
          <a:ln/>
        </p:spPr>
      </p:sp>
      <p:sp>
        <p:nvSpPr>
          <p:cNvPr id="19" name="Text 16"/>
          <p:cNvSpPr/>
          <p:nvPr/>
        </p:nvSpPr>
        <p:spPr>
          <a:xfrm>
            <a:off x="594360" y="5486400"/>
            <a:ext cx="11064240" cy="548640"/>
          </a:xfrm>
          <a:prstGeom prst="rect">
            <a:avLst/>
          </a:prstGeom>
          <a:solidFill>
            <a:srgbClr val="FDE4E4"/>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The first message ever sent over a network crashed it. Arguably the first bug report in networking history.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Timeline: the road to the Web</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Before the Internet</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548640" y="3291840"/>
            <a:ext cx="11064240" cy="0"/>
          </a:xfrm>
          <a:prstGeom prst="line">
            <a:avLst/>
          </a:prstGeom>
          <a:noFill/>
          <a:ln w="50800">
            <a:solidFill>
              <a:srgbClr val="0B1F3A"/>
            </a:solidFill>
            <a:prstDash val="solid"/>
          </a:ln>
        </p:spPr>
      </p:sp>
      <p:sp>
        <p:nvSpPr>
          <p:cNvPr id="9" name="Shape 6"/>
          <p:cNvSpPr/>
          <p:nvPr/>
        </p:nvSpPr>
        <p:spPr>
          <a:xfrm>
            <a:off x="960120" y="3154680"/>
            <a:ext cx="274320" cy="274320"/>
          </a:xfrm>
          <a:prstGeom prst="ellipse">
            <a:avLst/>
          </a:prstGeom>
          <a:solidFill>
            <a:srgbClr val="3B82F6"/>
          </a:solidFill>
          <a:ln w="25400">
            <a:solidFill>
              <a:srgbClr val="FFFFFF"/>
            </a:solidFill>
            <a:prstDash val="solid"/>
          </a:ln>
        </p:spPr>
      </p:sp>
      <p:sp>
        <p:nvSpPr>
          <p:cNvPr id="10" name="Text 7"/>
          <p:cNvSpPr/>
          <p:nvPr/>
        </p:nvSpPr>
        <p:spPr>
          <a:xfrm>
            <a:off x="502920" y="1600200"/>
            <a:ext cx="1280160" cy="1234440"/>
          </a:xfrm>
          <a:prstGeom prst="roundRect">
            <a:avLst>
              <a:gd name="adj" fmla="val 5926"/>
            </a:avLst>
          </a:prstGeom>
          <a:solidFill>
            <a:srgbClr val="FFFFFF"/>
          </a:solidFill>
          <a:ln w="15875">
            <a:solidFill>
              <a:srgbClr val="3B82F6"/>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1969</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ARPANET</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4 nodes</a:t>
            </a:r>
            <a:endParaRPr lang="en-US" sz="1200" dirty="0"/>
          </a:p>
        </p:txBody>
      </p:sp>
      <p:sp>
        <p:nvSpPr>
          <p:cNvPr id="11" name="Shape 8"/>
          <p:cNvSpPr/>
          <p:nvPr/>
        </p:nvSpPr>
        <p:spPr>
          <a:xfrm>
            <a:off x="1097280" y="2834640"/>
            <a:ext cx="0" cy="320040"/>
          </a:xfrm>
          <a:prstGeom prst="line">
            <a:avLst/>
          </a:prstGeom>
          <a:noFill/>
          <a:ln w="19050">
            <a:solidFill>
              <a:srgbClr val="3B82F6"/>
            </a:solidFill>
            <a:prstDash val="solid"/>
          </a:ln>
        </p:spPr>
      </p:sp>
      <p:sp>
        <p:nvSpPr>
          <p:cNvPr id="12" name="Shape 9"/>
          <p:cNvSpPr/>
          <p:nvPr/>
        </p:nvSpPr>
        <p:spPr>
          <a:xfrm>
            <a:off x="2240280" y="3154680"/>
            <a:ext cx="274320" cy="274320"/>
          </a:xfrm>
          <a:prstGeom prst="ellipse">
            <a:avLst/>
          </a:prstGeom>
          <a:solidFill>
            <a:srgbClr val="3B82F6"/>
          </a:solidFill>
          <a:ln w="25400">
            <a:solidFill>
              <a:srgbClr val="FFFFFF"/>
            </a:solidFill>
            <a:prstDash val="solid"/>
          </a:ln>
        </p:spPr>
      </p:sp>
      <p:sp>
        <p:nvSpPr>
          <p:cNvPr id="13" name="Text 10"/>
          <p:cNvSpPr/>
          <p:nvPr/>
        </p:nvSpPr>
        <p:spPr>
          <a:xfrm>
            <a:off x="1783080" y="3703320"/>
            <a:ext cx="1280160" cy="1234440"/>
          </a:xfrm>
          <a:prstGeom prst="roundRect">
            <a:avLst>
              <a:gd name="adj" fmla="val 5926"/>
            </a:avLst>
          </a:prstGeom>
          <a:solidFill>
            <a:srgbClr val="FFFFFF"/>
          </a:solidFill>
          <a:ln w="15875">
            <a:solidFill>
              <a:srgbClr val="3B82F6"/>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1971</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Email, FTP</a:t>
            </a:r>
            <a:endParaRPr lang="en-US" sz="1200" dirty="0"/>
          </a:p>
        </p:txBody>
      </p:sp>
      <p:sp>
        <p:nvSpPr>
          <p:cNvPr id="14" name="Shape 11"/>
          <p:cNvSpPr/>
          <p:nvPr/>
        </p:nvSpPr>
        <p:spPr>
          <a:xfrm>
            <a:off x="2377440" y="3429000"/>
            <a:ext cx="0" cy="320040"/>
          </a:xfrm>
          <a:prstGeom prst="line">
            <a:avLst/>
          </a:prstGeom>
          <a:noFill/>
          <a:ln w="19050">
            <a:solidFill>
              <a:srgbClr val="3B82F6"/>
            </a:solidFill>
            <a:prstDash val="solid"/>
          </a:ln>
        </p:spPr>
      </p:sp>
      <p:sp>
        <p:nvSpPr>
          <p:cNvPr id="15" name="Shape 12"/>
          <p:cNvSpPr/>
          <p:nvPr/>
        </p:nvSpPr>
        <p:spPr>
          <a:xfrm>
            <a:off x="3520440" y="3154680"/>
            <a:ext cx="274320" cy="274320"/>
          </a:xfrm>
          <a:prstGeom prst="ellipse">
            <a:avLst/>
          </a:prstGeom>
          <a:solidFill>
            <a:srgbClr val="3B82F6"/>
          </a:solidFill>
          <a:ln w="25400">
            <a:solidFill>
              <a:srgbClr val="FFFFFF"/>
            </a:solidFill>
            <a:prstDash val="solid"/>
          </a:ln>
        </p:spPr>
      </p:sp>
      <p:sp>
        <p:nvSpPr>
          <p:cNvPr id="16" name="Text 13"/>
          <p:cNvSpPr/>
          <p:nvPr/>
        </p:nvSpPr>
        <p:spPr>
          <a:xfrm>
            <a:off x="3063240" y="1600200"/>
            <a:ext cx="1280160" cy="1234440"/>
          </a:xfrm>
          <a:prstGeom prst="roundRect">
            <a:avLst>
              <a:gd name="adj" fmla="val 5926"/>
            </a:avLst>
          </a:prstGeom>
          <a:solidFill>
            <a:srgbClr val="FFFFFF"/>
          </a:solidFill>
          <a:ln w="15875">
            <a:solidFill>
              <a:srgbClr val="3B82F6"/>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1974</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TCP/IP designed</a:t>
            </a:r>
            <a:endParaRPr lang="en-US" sz="1200" dirty="0"/>
          </a:p>
        </p:txBody>
      </p:sp>
      <p:sp>
        <p:nvSpPr>
          <p:cNvPr id="17" name="Shape 14"/>
          <p:cNvSpPr/>
          <p:nvPr/>
        </p:nvSpPr>
        <p:spPr>
          <a:xfrm>
            <a:off x="3657600" y="2834640"/>
            <a:ext cx="0" cy="320040"/>
          </a:xfrm>
          <a:prstGeom prst="line">
            <a:avLst/>
          </a:prstGeom>
          <a:noFill/>
          <a:ln w="19050">
            <a:solidFill>
              <a:srgbClr val="3B82F6"/>
            </a:solidFill>
            <a:prstDash val="solid"/>
          </a:ln>
        </p:spPr>
      </p:sp>
      <p:sp>
        <p:nvSpPr>
          <p:cNvPr id="18" name="Shape 15"/>
          <p:cNvSpPr/>
          <p:nvPr/>
        </p:nvSpPr>
        <p:spPr>
          <a:xfrm>
            <a:off x="4800600" y="3154680"/>
            <a:ext cx="274320" cy="274320"/>
          </a:xfrm>
          <a:prstGeom prst="ellipse">
            <a:avLst/>
          </a:prstGeom>
          <a:solidFill>
            <a:srgbClr val="0F9D8F"/>
          </a:solidFill>
          <a:ln w="25400">
            <a:solidFill>
              <a:srgbClr val="FFFFFF"/>
            </a:solidFill>
            <a:prstDash val="solid"/>
          </a:ln>
        </p:spPr>
      </p:sp>
      <p:sp>
        <p:nvSpPr>
          <p:cNvPr id="19" name="Text 16"/>
          <p:cNvSpPr/>
          <p:nvPr/>
        </p:nvSpPr>
        <p:spPr>
          <a:xfrm>
            <a:off x="4343400" y="3703320"/>
            <a:ext cx="1280160" cy="1234440"/>
          </a:xfrm>
          <a:prstGeom prst="roundRect">
            <a:avLst>
              <a:gd name="adj" fmla="val 5926"/>
            </a:avLst>
          </a:prstGeom>
          <a:solidFill>
            <a:srgbClr val="FFFFFF"/>
          </a:solidFill>
          <a:ln w="15875">
            <a:solidFill>
              <a:srgbClr val="0F9D8F"/>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1983</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TCP/IP switch</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Internet is born</a:t>
            </a:r>
            <a:endParaRPr lang="en-US" sz="1200" dirty="0"/>
          </a:p>
        </p:txBody>
      </p:sp>
      <p:sp>
        <p:nvSpPr>
          <p:cNvPr id="20" name="Shape 17"/>
          <p:cNvSpPr/>
          <p:nvPr/>
        </p:nvSpPr>
        <p:spPr>
          <a:xfrm>
            <a:off x="4937760" y="3429000"/>
            <a:ext cx="0" cy="320040"/>
          </a:xfrm>
          <a:prstGeom prst="line">
            <a:avLst/>
          </a:prstGeom>
          <a:noFill/>
          <a:ln w="19050">
            <a:solidFill>
              <a:srgbClr val="0F9D8F"/>
            </a:solidFill>
            <a:prstDash val="solid"/>
          </a:ln>
        </p:spPr>
      </p:sp>
      <p:sp>
        <p:nvSpPr>
          <p:cNvPr id="21" name="Shape 18"/>
          <p:cNvSpPr/>
          <p:nvPr/>
        </p:nvSpPr>
        <p:spPr>
          <a:xfrm>
            <a:off x="6080760" y="3154680"/>
            <a:ext cx="274320" cy="274320"/>
          </a:xfrm>
          <a:prstGeom prst="ellipse">
            <a:avLst/>
          </a:prstGeom>
          <a:solidFill>
            <a:srgbClr val="0F9D8F"/>
          </a:solidFill>
          <a:ln w="25400">
            <a:solidFill>
              <a:srgbClr val="FFFFFF"/>
            </a:solidFill>
            <a:prstDash val="solid"/>
          </a:ln>
        </p:spPr>
      </p:sp>
      <p:sp>
        <p:nvSpPr>
          <p:cNvPr id="22" name="Text 19"/>
          <p:cNvSpPr/>
          <p:nvPr/>
        </p:nvSpPr>
        <p:spPr>
          <a:xfrm>
            <a:off x="5623560" y="1600200"/>
            <a:ext cx="1280160" cy="1234440"/>
          </a:xfrm>
          <a:prstGeom prst="roundRect">
            <a:avLst>
              <a:gd name="adj" fmla="val 5926"/>
            </a:avLst>
          </a:prstGeom>
          <a:solidFill>
            <a:srgbClr val="FFFFFF"/>
          </a:solidFill>
          <a:ln w="15875">
            <a:solidFill>
              <a:srgbClr val="0F9D8F"/>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1984</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DNS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names not numbers</a:t>
            </a:r>
            <a:endParaRPr lang="en-US" sz="1200" dirty="0"/>
          </a:p>
        </p:txBody>
      </p:sp>
      <p:sp>
        <p:nvSpPr>
          <p:cNvPr id="23" name="Shape 20"/>
          <p:cNvSpPr/>
          <p:nvPr/>
        </p:nvSpPr>
        <p:spPr>
          <a:xfrm>
            <a:off x="6217920" y="2834640"/>
            <a:ext cx="0" cy="320040"/>
          </a:xfrm>
          <a:prstGeom prst="line">
            <a:avLst/>
          </a:prstGeom>
          <a:noFill/>
          <a:ln w="19050">
            <a:solidFill>
              <a:srgbClr val="0F9D8F"/>
            </a:solidFill>
            <a:prstDash val="solid"/>
          </a:ln>
        </p:spPr>
      </p:sp>
      <p:sp>
        <p:nvSpPr>
          <p:cNvPr id="24" name="Shape 21"/>
          <p:cNvSpPr/>
          <p:nvPr/>
        </p:nvSpPr>
        <p:spPr>
          <a:xfrm>
            <a:off x="7360920" y="3154680"/>
            <a:ext cx="274320" cy="274320"/>
          </a:xfrm>
          <a:prstGeom prst="ellipse">
            <a:avLst/>
          </a:prstGeom>
          <a:solidFill>
            <a:srgbClr val="7C5CFC"/>
          </a:solidFill>
          <a:ln w="25400">
            <a:solidFill>
              <a:srgbClr val="FFFFFF"/>
            </a:solidFill>
            <a:prstDash val="solid"/>
          </a:ln>
        </p:spPr>
      </p:sp>
      <p:sp>
        <p:nvSpPr>
          <p:cNvPr id="25" name="Text 22"/>
          <p:cNvSpPr/>
          <p:nvPr/>
        </p:nvSpPr>
        <p:spPr>
          <a:xfrm>
            <a:off x="6903720" y="3703320"/>
            <a:ext cx="1280160" cy="1234440"/>
          </a:xfrm>
          <a:prstGeom prst="roundRect">
            <a:avLst>
              <a:gd name="adj" fmla="val 5926"/>
            </a:avLst>
          </a:prstGeom>
          <a:solidFill>
            <a:srgbClr val="FFFFFF"/>
          </a:solidFill>
          <a:ln w="15875">
            <a:solidFill>
              <a:srgbClr val="7C5CFC"/>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1991</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World Wide Web</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HTTP + HTML</a:t>
            </a:r>
            <a:endParaRPr lang="en-US" sz="1200" dirty="0"/>
          </a:p>
        </p:txBody>
      </p:sp>
      <p:sp>
        <p:nvSpPr>
          <p:cNvPr id="26" name="Shape 23"/>
          <p:cNvSpPr/>
          <p:nvPr/>
        </p:nvSpPr>
        <p:spPr>
          <a:xfrm>
            <a:off x="7498080" y="3429000"/>
            <a:ext cx="0" cy="320040"/>
          </a:xfrm>
          <a:prstGeom prst="line">
            <a:avLst/>
          </a:prstGeom>
          <a:noFill/>
          <a:ln w="19050">
            <a:solidFill>
              <a:srgbClr val="7C5CFC"/>
            </a:solidFill>
            <a:prstDash val="solid"/>
          </a:ln>
        </p:spPr>
      </p:sp>
      <p:sp>
        <p:nvSpPr>
          <p:cNvPr id="27" name="Shape 24"/>
          <p:cNvSpPr/>
          <p:nvPr/>
        </p:nvSpPr>
        <p:spPr>
          <a:xfrm>
            <a:off x="8641080" y="3154680"/>
            <a:ext cx="274320" cy="274320"/>
          </a:xfrm>
          <a:prstGeom prst="ellipse">
            <a:avLst/>
          </a:prstGeom>
          <a:solidFill>
            <a:srgbClr val="7C5CFC"/>
          </a:solidFill>
          <a:ln w="25400">
            <a:solidFill>
              <a:srgbClr val="FFFFFF"/>
            </a:solidFill>
            <a:prstDash val="solid"/>
          </a:ln>
        </p:spPr>
      </p:sp>
      <p:sp>
        <p:nvSpPr>
          <p:cNvPr id="28" name="Text 25"/>
          <p:cNvSpPr/>
          <p:nvPr/>
        </p:nvSpPr>
        <p:spPr>
          <a:xfrm>
            <a:off x="8183880" y="1600200"/>
            <a:ext cx="1280160" cy="1234440"/>
          </a:xfrm>
          <a:prstGeom prst="roundRect">
            <a:avLst>
              <a:gd name="adj" fmla="val 5926"/>
            </a:avLst>
          </a:prstGeom>
          <a:solidFill>
            <a:srgbClr val="FFFFFF"/>
          </a:solidFill>
          <a:ln w="15875">
            <a:solidFill>
              <a:srgbClr val="7C5CFC"/>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1996</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HTTP/1.0</a:t>
            </a:r>
            <a:endParaRPr lang="en-US" sz="1200" dirty="0"/>
          </a:p>
        </p:txBody>
      </p:sp>
      <p:sp>
        <p:nvSpPr>
          <p:cNvPr id="29" name="Shape 26"/>
          <p:cNvSpPr/>
          <p:nvPr/>
        </p:nvSpPr>
        <p:spPr>
          <a:xfrm>
            <a:off x="8778240" y="2834640"/>
            <a:ext cx="0" cy="320040"/>
          </a:xfrm>
          <a:prstGeom prst="line">
            <a:avLst/>
          </a:prstGeom>
          <a:noFill/>
          <a:ln w="19050">
            <a:solidFill>
              <a:srgbClr val="7C5CFC"/>
            </a:solidFill>
            <a:prstDash val="solid"/>
          </a:ln>
        </p:spPr>
      </p:sp>
      <p:sp>
        <p:nvSpPr>
          <p:cNvPr id="30" name="Shape 27"/>
          <p:cNvSpPr/>
          <p:nvPr/>
        </p:nvSpPr>
        <p:spPr>
          <a:xfrm>
            <a:off x="9921240" y="3154680"/>
            <a:ext cx="274320" cy="274320"/>
          </a:xfrm>
          <a:prstGeom prst="ellipse">
            <a:avLst/>
          </a:prstGeom>
          <a:solidFill>
            <a:srgbClr val="F59E0B"/>
          </a:solidFill>
          <a:ln w="25400">
            <a:solidFill>
              <a:srgbClr val="FFFFFF"/>
            </a:solidFill>
            <a:prstDash val="solid"/>
          </a:ln>
        </p:spPr>
      </p:sp>
      <p:sp>
        <p:nvSpPr>
          <p:cNvPr id="31" name="Text 28"/>
          <p:cNvSpPr/>
          <p:nvPr/>
        </p:nvSpPr>
        <p:spPr>
          <a:xfrm>
            <a:off x="9464040" y="3703320"/>
            <a:ext cx="1280160" cy="1234440"/>
          </a:xfrm>
          <a:prstGeom prst="roundRect">
            <a:avLst>
              <a:gd name="adj" fmla="val 5926"/>
            </a:avLst>
          </a:prstGeom>
          <a:solidFill>
            <a:srgbClr val="FFFFFF"/>
          </a:solidFill>
          <a:ln w="15875">
            <a:solidFill>
              <a:srgbClr val="F59E0B"/>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2000</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REST</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Fielding thesis</a:t>
            </a:r>
            <a:endParaRPr lang="en-US" sz="1200" dirty="0"/>
          </a:p>
        </p:txBody>
      </p:sp>
      <p:sp>
        <p:nvSpPr>
          <p:cNvPr id="32" name="Shape 29"/>
          <p:cNvSpPr/>
          <p:nvPr/>
        </p:nvSpPr>
        <p:spPr>
          <a:xfrm>
            <a:off x="10058400" y="3429000"/>
            <a:ext cx="0" cy="320040"/>
          </a:xfrm>
          <a:prstGeom prst="line">
            <a:avLst/>
          </a:prstGeom>
          <a:noFill/>
          <a:ln w="19050">
            <a:solidFill>
              <a:srgbClr val="F59E0B"/>
            </a:solidFill>
            <a:prstDash val="solid"/>
          </a:ln>
        </p:spPr>
      </p:sp>
      <p:sp>
        <p:nvSpPr>
          <p:cNvPr id="33" name="Shape 30"/>
          <p:cNvSpPr/>
          <p:nvPr/>
        </p:nvSpPr>
        <p:spPr>
          <a:xfrm>
            <a:off x="11201400" y="3154680"/>
            <a:ext cx="274320" cy="274320"/>
          </a:xfrm>
          <a:prstGeom prst="ellipse">
            <a:avLst/>
          </a:prstGeom>
          <a:solidFill>
            <a:srgbClr val="E5484D"/>
          </a:solidFill>
          <a:ln w="25400">
            <a:solidFill>
              <a:srgbClr val="FFFFFF"/>
            </a:solidFill>
            <a:prstDash val="solid"/>
          </a:ln>
        </p:spPr>
      </p:sp>
      <p:sp>
        <p:nvSpPr>
          <p:cNvPr id="34" name="Text 31"/>
          <p:cNvSpPr/>
          <p:nvPr/>
        </p:nvSpPr>
        <p:spPr>
          <a:xfrm>
            <a:off x="10744200" y="1600200"/>
            <a:ext cx="1280160" cy="1234440"/>
          </a:xfrm>
          <a:prstGeom prst="roundRect">
            <a:avLst>
              <a:gd name="adj" fmla="val 5926"/>
            </a:avLst>
          </a:prstGeom>
          <a:solidFill>
            <a:srgbClr val="FFFFFF"/>
          </a:solidFill>
          <a:ln w="15875">
            <a:solidFill>
              <a:srgbClr val="E5484D"/>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2015</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gRPC / HTTP/2 / GraphQL</a:t>
            </a:r>
            <a:endParaRPr lang="en-US" sz="1200" dirty="0"/>
          </a:p>
        </p:txBody>
      </p:sp>
      <p:sp>
        <p:nvSpPr>
          <p:cNvPr id="35" name="Shape 32"/>
          <p:cNvSpPr/>
          <p:nvPr/>
        </p:nvSpPr>
        <p:spPr>
          <a:xfrm>
            <a:off x="11338560" y="2834640"/>
            <a:ext cx="0" cy="320040"/>
          </a:xfrm>
          <a:prstGeom prst="line">
            <a:avLst/>
          </a:prstGeom>
          <a:noFill/>
          <a:ln w="19050">
            <a:solidFill>
              <a:srgbClr val="E5484D"/>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Text commands out, numeric codes back</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Before the Internet</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9" name="Text 5"/>
          <p:cNvSpPr/>
          <p:nvPr/>
        </p:nvSpPr>
        <p:spPr>
          <a:xfrm>
            <a:off x="7863840" y="1005840"/>
            <a:ext cx="3840480" cy="274320"/>
          </a:xfrm>
          <a:prstGeom prst="rect">
            <a:avLst/>
          </a:prstGeom>
          <a:noFill/>
          <a:ln/>
        </p:spPr>
        <p:txBody>
          <a:bodyPr wrap="square" lIns="0" tIns="0" rIns="0" bIns="0" rtlCol="0" anchor="ctr"/>
          <a:lstStyle/>
          <a:p>
            <a:pPr algn="r" indent="0" marL="0">
              <a:buNone/>
            </a:pPr>
            <a:r>
              <a:rPr lang="en-US" sz="1200" dirty="0">
                <a:solidFill>
                  <a:srgbClr val="3B82F6"/>
                </a:solidFill>
                <a:latin typeface="Calibri" pitchFamily="34" charset="0"/>
                <a:ea typeface="Calibri" pitchFamily="34" charset="-122"/>
                <a:cs typeface="Calibri" pitchFamily="34" charset="-120"/>
              </a:rPr>
              <a:t>■ client sends   </a:t>
            </a:r>
            <a:pPr algn="r" indent="0" marL="0">
              <a:buNone/>
            </a:pPr>
            <a:r>
              <a:rPr lang="en-US" sz="1200" dirty="0">
                <a:solidFill>
                  <a:srgbClr val="16A34A"/>
                </a:solidFill>
                <a:latin typeface="Calibri" pitchFamily="34" charset="0"/>
                <a:ea typeface="Calibri" pitchFamily="34" charset="-122"/>
                <a:cs typeface="Calibri" pitchFamily="34" charset="-120"/>
              </a:rPr>
              <a:t>■ server replies</a:t>
            </a:r>
            <a:endParaRPr lang="en-US" sz="1200" dirty="0"/>
          </a:p>
        </p:txBody>
      </p:sp>
      <p:sp>
        <p:nvSpPr>
          <p:cNvPr id="10" name="Text 6"/>
          <p:cNvSpPr/>
          <p:nvPr/>
        </p:nvSpPr>
        <p:spPr>
          <a:xfrm>
            <a:off x="548640" y="1325880"/>
            <a:ext cx="2697480" cy="548640"/>
          </a:xfrm>
          <a:prstGeom prst="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Telnet</a:t>
            </a:r>
            <a:endParaRPr lang="en-US" sz="2200" dirty="0"/>
          </a:p>
        </p:txBody>
      </p:sp>
      <p:sp>
        <p:nvSpPr>
          <p:cNvPr id="11" name="Text 7"/>
          <p:cNvSpPr/>
          <p:nvPr/>
        </p:nvSpPr>
        <p:spPr>
          <a:xfrm>
            <a:off x="548640" y="1892808"/>
            <a:ext cx="2697480" cy="274320"/>
          </a:xfrm>
          <a:prstGeom prst="rect">
            <a:avLst/>
          </a:prstGeom>
          <a:noFill/>
          <a:ln/>
        </p:spPr>
        <p:txBody>
          <a:bodyPr wrap="square" lIns="508" tIns="508" rIns="508" bIns="508"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1969 · port 23</a:t>
            </a:r>
            <a:endParaRPr lang="en-US" sz="1100" dirty="0"/>
          </a:p>
        </p:txBody>
      </p:sp>
      <p:sp>
        <p:nvSpPr>
          <p:cNvPr id="12" name="Text 8"/>
          <p:cNvSpPr/>
          <p:nvPr/>
        </p:nvSpPr>
        <p:spPr>
          <a:xfrm>
            <a:off x="548640" y="2148840"/>
            <a:ext cx="2697480" cy="320040"/>
          </a:xfrm>
          <a:prstGeom prst="rect">
            <a:avLst/>
          </a:prstGeom>
          <a:noFill/>
          <a:ln/>
        </p:spPr>
        <p:txBody>
          <a:bodyPr wrap="square" lIns="508" tIns="508" rIns="508" bIns="508"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Remote login</a:t>
            </a:r>
            <a:endParaRPr lang="en-US" sz="1500" dirty="0"/>
          </a:p>
        </p:txBody>
      </p:sp>
      <p:sp>
        <p:nvSpPr>
          <p:cNvPr id="13" name="Text 9"/>
          <p:cNvSpPr/>
          <p:nvPr/>
        </p:nvSpPr>
        <p:spPr>
          <a:xfrm>
            <a:off x="548640" y="2514600"/>
            <a:ext cx="2697480" cy="1783080"/>
          </a:xfrm>
          <a:prstGeom prst="roundRect">
            <a:avLst>
              <a:gd name="adj" fmla="val 3077"/>
            </a:avLst>
          </a:prstGeom>
          <a:solidFill>
            <a:srgbClr val="111827"/>
          </a:solidFill>
          <a:ln/>
        </p:spPr>
        <p:txBody>
          <a:bodyPr wrap="square" lIns="1270" tIns="1270" rIns="1270" bIns="1270" rtlCol="0" anchor="t"/>
          <a:lstStyle/>
          <a:p>
            <a:pPr indent="0" marL="0">
              <a:buNone/>
            </a:pPr>
            <a:r>
              <a:rPr lang="en-US" sz="1100" dirty="0">
                <a:solidFill>
                  <a:srgbClr val="93C5FD"/>
                </a:solidFill>
                <a:latin typeface="Consolas" pitchFamily="34" charset="0"/>
                <a:ea typeface="Consolas" pitchFamily="34" charset="-122"/>
                <a:cs typeface="Consolas" pitchFamily="34" charset="-120"/>
              </a:rPr>
              <a:t>$ telnet host 23</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IAC DO ECHO (255 253)</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login: alice</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Password: ****</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Welcome to host</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 ls</a:t>
            </a:r>
            <a:endParaRPr lang="en-US" sz="1100" dirty="0"/>
          </a:p>
        </p:txBody>
      </p:sp>
      <p:sp>
        <p:nvSpPr>
          <p:cNvPr id="14" name="Text 10"/>
          <p:cNvSpPr/>
          <p:nvPr/>
        </p:nvSpPr>
        <p:spPr>
          <a:xfrm>
            <a:off x="548640" y="4389120"/>
            <a:ext cx="2697480" cy="256032"/>
          </a:xfrm>
          <a:prstGeom prst="rect">
            <a:avLst>
              <a:gd name="adj" fmla="val 28571"/>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CLIENT SENDS</a:t>
            </a:r>
            <a:endParaRPr lang="en-US" sz="1000" dirty="0"/>
          </a:p>
        </p:txBody>
      </p:sp>
      <p:sp>
        <p:nvSpPr>
          <p:cNvPr id="15" name="Text 11"/>
          <p:cNvSpPr/>
          <p:nvPr/>
        </p:nvSpPr>
        <p:spPr>
          <a:xfrm>
            <a:off x="548640" y="4645152"/>
            <a:ext cx="2697480" cy="45720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Keystrokes, plus option requests: DO / DONT</a:t>
            </a:r>
            <a:endParaRPr lang="en-US" sz="1200" dirty="0"/>
          </a:p>
        </p:txBody>
      </p:sp>
      <p:sp>
        <p:nvSpPr>
          <p:cNvPr id="16" name="Text 12"/>
          <p:cNvSpPr/>
          <p:nvPr/>
        </p:nvSpPr>
        <p:spPr>
          <a:xfrm>
            <a:off x="548640" y="5120640"/>
            <a:ext cx="2697480" cy="256032"/>
          </a:xfrm>
          <a:prstGeom prst="rect">
            <a:avLst>
              <a:gd name="adj" fmla="val 28571"/>
            </a:avLst>
          </a:prstGeom>
          <a:solidFill>
            <a:srgbClr val="DDF4F0"/>
          </a:solidFill>
          <a:ln w="15875">
            <a:solidFill>
              <a:srgbClr val="0F9D8F"/>
            </a:solidFill>
          </a:ln>
        </p:spPr>
        <p:txBody>
          <a:bodyPr wrap="square" lIns="1016" tIns="1016" rIns="1016" bIns="1016" rtlCol="0" anchor="ctr"/>
          <a:lstStyle/>
          <a:p>
            <a:pPr algn="ctr" indent="0" marL="0">
              <a:buNone/>
            </a:pPr>
            <a:r>
              <a:rPr lang="en-US" sz="1000" b="1" dirty="0">
                <a:solidFill>
                  <a:srgbClr val="0F9D8F"/>
                </a:solidFill>
                <a:latin typeface="Calibri" pitchFamily="34" charset="0"/>
                <a:ea typeface="Calibri" pitchFamily="34" charset="-122"/>
                <a:cs typeface="Calibri" pitchFamily="34" charset="-120"/>
              </a:rPr>
              <a:t>SERVER REPLIES</a:t>
            </a:r>
            <a:endParaRPr lang="en-US" sz="1000" dirty="0"/>
          </a:p>
        </p:txBody>
      </p:sp>
      <p:sp>
        <p:nvSpPr>
          <p:cNvPr id="17" name="Text 13"/>
          <p:cNvSpPr/>
          <p:nvPr/>
        </p:nvSpPr>
        <p:spPr>
          <a:xfrm>
            <a:off x="548640" y="5376672"/>
            <a:ext cx="2697480" cy="548640"/>
          </a:xfrm>
          <a:prstGeom prst="rect">
            <a:avLst/>
          </a:prstGeom>
          <a:noFill/>
          <a:ln/>
        </p:spPr>
        <p:txBody>
          <a:bodyPr wrap="square" lIns="508" tIns="508" rIns="508" bIns="508"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No status codes. Option bytes: IAC 255, WILL 251, DO 253, DONT 254</a:t>
            </a:r>
            <a:endParaRPr lang="en-US" sz="1200" dirty="0"/>
          </a:p>
        </p:txBody>
      </p:sp>
      <p:sp>
        <p:nvSpPr>
          <p:cNvPr id="18" name="Text 14"/>
          <p:cNvSpPr/>
          <p:nvPr/>
        </p:nvSpPr>
        <p:spPr>
          <a:xfrm>
            <a:off x="3337560" y="1325880"/>
            <a:ext cx="269748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FTP</a:t>
            </a:r>
            <a:endParaRPr lang="en-US" sz="2200" dirty="0"/>
          </a:p>
        </p:txBody>
      </p:sp>
      <p:sp>
        <p:nvSpPr>
          <p:cNvPr id="19" name="Text 15"/>
          <p:cNvSpPr/>
          <p:nvPr/>
        </p:nvSpPr>
        <p:spPr>
          <a:xfrm>
            <a:off x="3337560" y="1892808"/>
            <a:ext cx="2697480" cy="274320"/>
          </a:xfrm>
          <a:prstGeom prst="rect">
            <a:avLst/>
          </a:prstGeom>
          <a:noFill/>
          <a:ln/>
        </p:spPr>
        <p:txBody>
          <a:bodyPr wrap="square" lIns="508" tIns="508" rIns="508" bIns="508"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1971 · port 21</a:t>
            </a:r>
            <a:endParaRPr lang="en-US" sz="1100" dirty="0"/>
          </a:p>
        </p:txBody>
      </p:sp>
      <p:sp>
        <p:nvSpPr>
          <p:cNvPr id="20" name="Text 16"/>
          <p:cNvSpPr/>
          <p:nvPr/>
        </p:nvSpPr>
        <p:spPr>
          <a:xfrm>
            <a:off x="3337560" y="2148840"/>
            <a:ext cx="2697480" cy="320040"/>
          </a:xfrm>
          <a:prstGeom prst="rect">
            <a:avLst/>
          </a:prstGeom>
          <a:noFill/>
          <a:ln/>
        </p:spPr>
        <p:txBody>
          <a:bodyPr wrap="square" lIns="508" tIns="508" rIns="508" bIns="508"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Move files</a:t>
            </a:r>
            <a:endParaRPr lang="en-US" sz="1500" dirty="0"/>
          </a:p>
        </p:txBody>
      </p:sp>
      <p:sp>
        <p:nvSpPr>
          <p:cNvPr id="21" name="Text 17"/>
          <p:cNvSpPr/>
          <p:nvPr/>
        </p:nvSpPr>
        <p:spPr>
          <a:xfrm>
            <a:off x="3337560" y="2514600"/>
            <a:ext cx="2697480" cy="1783080"/>
          </a:xfrm>
          <a:prstGeom prst="roundRect">
            <a:avLst>
              <a:gd name="adj" fmla="val 3077"/>
            </a:avLst>
          </a:prstGeom>
          <a:solidFill>
            <a:srgbClr val="111827"/>
          </a:solidFill>
          <a:ln/>
        </p:spPr>
        <p:txBody>
          <a:bodyPr wrap="square" lIns="1270" tIns="1270" rIns="1270" bIns="1270" rtlCol="0" anchor="t"/>
          <a:lstStyle/>
          <a:p>
            <a:pPr indent="0" marL="0">
              <a:buNone/>
            </a:pPr>
            <a:r>
              <a:rPr lang="en-US" sz="1100" dirty="0">
                <a:solidFill>
                  <a:srgbClr val="86EFAC"/>
                </a:solidFill>
                <a:latin typeface="Consolas" pitchFamily="34" charset="0"/>
                <a:ea typeface="Consolas" pitchFamily="34" charset="-122"/>
                <a:cs typeface="Consolas" pitchFamily="34" charset="-120"/>
              </a:rPr>
              <a:t>220 Service ready</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USER alice</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331 Password required</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PASS ****</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230 Logged in</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RETR report.csv</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226 Transfer complete</a:t>
            </a:r>
            <a:endParaRPr lang="en-US" sz="1100" dirty="0"/>
          </a:p>
        </p:txBody>
      </p:sp>
      <p:sp>
        <p:nvSpPr>
          <p:cNvPr id="22" name="Text 18"/>
          <p:cNvSpPr/>
          <p:nvPr/>
        </p:nvSpPr>
        <p:spPr>
          <a:xfrm>
            <a:off x="3337560" y="4389120"/>
            <a:ext cx="2697480" cy="256032"/>
          </a:xfrm>
          <a:prstGeom prst="rect">
            <a:avLst>
              <a:gd name="adj" fmla="val 28571"/>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CLIENT SENDS</a:t>
            </a:r>
            <a:endParaRPr lang="en-US" sz="1000" dirty="0"/>
          </a:p>
        </p:txBody>
      </p:sp>
      <p:sp>
        <p:nvSpPr>
          <p:cNvPr id="23" name="Text 19"/>
          <p:cNvSpPr/>
          <p:nvPr/>
        </p:nvSpPr>
        <p:spPr>
          <a:xfrm>
            <a:off x="3337560" y="4645152"/>
            <a:ext cx="2697480" cy="45720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USER · PASS · RETR · STOR · QUIT</a:t>
            </a:r>
            <a:endParaRPr lang="en-US" sz="1200" dirty="0"/>
          </a:p>
        </p:txBody>
      </p:sp>
      <p:sp>
        <p:nvSpPr>
          <p:cNvPr id="24" name="Text 20"/>
          <p:cNvSpPr/>
          <p:nvPr/>
        </p:nvSpPr>
        <p:spPr>
          <a:xfrm>
            <a:off x="3337560" y="5120640"/>
            <a:ext cx="2697480" cy="256032"/>
          </a:xfrm>
          <a:prstGeom prst="rect">
            <a:avLst>
              <a:gd name="adj" fmla="val 28571"/>
            </a:avLst>
          </a:prstGeom>
          <a:solidFill>
            <a:srgbClr val="DDF4F0"/>
          </a:solidFill>
          <a:ln w="15875">
            <a:solidFill>
              <a:srgbClr val="0F9D8F"/>
            </a:solidFill>
          </a:ln>
        </p:spPr>
        <p:txBody>
          <a:bodyPr wrap="square" lIns="1016" tIns="1016" rIns="1016" bIns="1016" rtlCol="0" anchor="ctr"/>
          <a:lstStyle/>
          <a:p>
            <a:pPr algn="ctr" indent="0" marL="0">
              <a:buNone/>
            </a:pPr>
            <a:r>
              <a:rPr lang="en-US" sz="1000" b="1" dirty="0">
                <a:solidFill>
                  <a:srgbClr val="0F9D8F"/>
                </a:solidFill>
                <a:latin typeface="Calibri" pitchFamily="34" charset="0"/>
                <a:ea typeface="Calibri" pitchFamily="34" charset="-122"/>
                <a:cs typeface="Calibri" pitchFamily="34" charset="-120"/>
              </a:rPr>
              <a:t>SERVER REPLIES</a:t>
            </a:r>
            <a:endParaRPr lang="en-US" sz="1000" dirty="0"/>
          </a:p>
        </p:txBody>
      </p:sp>
      <p:sp>
        <p:nvSpPr>
          <p:cNvPr id="25" name="Text 21"/>
          <p:cNvSpPr/>
          <p:nvPr/>
        </p:nvSpPr>
        <p:spPr>
          <a:xfrm>
            <a:off x="3337560" y="5376672"/>
            <a:ext cx="2697480" cy="548640"/>
          </a:xfrm>
          <a:prstGeom prst="rect">
            <a:avLst/>
          </a:prstGeom>
          <a:noFill/>
          <a:ln/>
        </p:spPr>
        <p:txBody>
          <a:bodyPr wrap="square" lIns="508" tIns="508" rIns="508" bIns="508"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220 Service ready · 331 Password required · 230 Logged in · 226 Done</a:t>
            </a:r>
            <a:endParaRPr lang="en-US" sz="1200" dirty="0"/>
          </a:p>
        </p:txBody>
      </p:sp>
      <p:sp>
        <p:nvSpPr>
          <p:cNvPr id="26" name="Text 22"/>
          <p:cNvSpPr/>
          <p:nvPr/>
        </p:nvSpPr>
        <p:spPr>
          <a:xfrm>
            <a:off x="6126480" y="1325880"/>
            <a:ext cx="2697480" cy="548640"/>
          </a:xfrm>
          <a:prstGeom prst="rect">
            <a:avLst>
              <a:gd name="adj" fmla="val 13333"/>
            </a:avLst>
          </a:prstGeom>
          <a:solidFill>
            <a:srgbClr val="7C5CFC"/>
          </a:solidFill>
          <a:ln w="15875">
            <a:solidFill>
              <a:srgbClr val="7C5CFC"/>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SMTP</a:t>
            </a:r>
            <a:endParaRPr lang="en-US" sz="2200" dirty="0"/>
          </a:p>
        </p:txBody>
      </p:sp>
      <p:sp>
        <p:nvSpPr>
          <p:cNvPr id="27" name="Text 23"/>
          <p:cNvSpPr/>
          <p:nvPr/>
        </p:nvSpPr>
        <p:spPr>
          <a:xfrm>
            <a:off x="6126480" y="1892808"/>
            <a:ext cx="2697480" cy="274320"/>
          </a:xfrm>
          <a:prstGeom prst="rect">
            <a:avLst/>
          </a:prstGeom>
          <a:noFill/>
          <a:ln/>
        </p:spPr>
        <p:txBody>
          <a:bodyPr wrap="square" lIns="508" tIns="508" rIns="508" bIns="508"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email 1971 · SMTP 1982 · port 25</a:t>
            </a:r>
            <a:endParaRPr lang="en-US" sz="1100" dirty="0"/>
          </a:p>
        </p:txBody>
      </p:sp>
      <p:sp>
        <p:nvSpPr>
          <p:cNvPr id="28" name="Text 24"/>
          <p:cNvSpPr/>
          <p:nvPr/>
        </p:nvSpPr>
        <p:spPr>
          <a:xfrm>
            <a:off x="6126480" y="2148840"/>
            <a:ext cx="2697480" cy="320040"/>
          </a:xfrm>
          <a:prstGeom prst="rect">
            <a:avLst/>
          </a:prstGeom>
          <a:noFill/>
          <a:ln/>
        </p:spPr>
        <p:txBody>
          <a:bodyPr wrap="square" lIns="508" tIns="508" rIns="508" bIns="508"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Send email</a:t>
            </a:r>
            <a:endParaRPr lang="en-US" sz="1500" dirty="0"/>
          </a:p>
        </p:txBody>
      </p:sp>
      <p:sp>
        <p:nvSpPr>
          <p:cNvPr id="29" name="Text 25"/>
          <p:cNvSpPr/>
          <p:nvPr/>
        </p:nvSpPr>
        <p:spPr>
          <a:xfrm>
            <a:off x="6126480" y="2514600"/>
            <a:ext cx="2697480" cy="1783080"/>
          </a:xfrm>
          <a:prstGeom prst="roundRect">
            <a:avLst>
              <a:gd name="adj" fmla="val 3077"/>
            </a:avLst>
          </a:prstGeom>
          <a:solidFill>
            <a:srgbClr val="111827"/>
          </a:solidFill>
          <a:ln/>
        </p:spPr>
        <p:txBody>
          <a:bodyPr wrap="square" lIns="1270" tIns="1270" rIns="1270" bIns="1270" rtlCol="0" anchor="t"/>
          <a:lstStyle/>
          <a:p>
            <a:pPr indent="0" marL="0">
              <a:buNone/>
            </a:pPr>
            <a:r>
              <a:rPr lang="en-US" sz="1100" dirty="0">
                <a:solidFill>
                  <a:srgbClr val="86EFAC"/>
                </a:solidFill>
                <a:latin typeface="Consolas" pitchFamily="34" charset="0"/>
                <a:ea typeface="Consolas" pitchFamily="34" charset="-122"/>
                <a:cs typeface="Consolas" pitchFamily="34" charset="-120"/>
              </a:rPr>
              <a:t>220 mail.x.com ready</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HELO client.com</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250 OK</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MAIL FROM:&lt;a@x.com&gt;</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250 OK</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RCPT TO:&lt;zz@y.com&gt;</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550 Mailbox unavailable</a:t>
            </a:r>
            <a:endParaRPr lang="en-US" sz="1100" dirty="0"/>
          </a:p>
        </p:txBody>
      </p:sp>
      <p:sp>
        <p:nvSpPr>
          <p:cNvPr id="30" name="Text 26"/>
          <p:cNvSpPr/>
          <p:nvPr/>
        </p:nvSpPr>
        <p:spPr>
          <a:xfrm>
            <a:off x="6126480" y="4389120"/>
            <a:ext cx="2697480" cy="256032"/>
          </a:xfrm>
          <a:prstGeom prst="rect">
            <a:avLst>
              <a:gd name="adj" fmla="val 28571"/>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CLIENT SENDS</a:t>
            </a:r>
            <a:endParaRPr lang="en-US" sz="1000" dirty="0"/>
          </a:p>
        </p:txBody>
      </p:sp>
      <p:sp>
        <p:nvSpPr>
          <p:cNvPr id="31" name="Text 27"/>
          <p:cNvSpPr/>
          <p:nvPr/>
        </p:nvSpPr>
        <p:spPr>
          <a:xfrm>
            <a:off x="6126480" y="4645152"/>
            <a:ext cx="2697480" cy="45720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HELO · MAIL FROM · RCPT TO · DATA · QUIT</a:t>
            </a:r>
            <a:endParaRPr lang="en-US" sz="1200" dirty="0"/>
          </a:p>
        </p:txBody>
      </p:sp>
      <p:sp>
        <p:nvSpPr>
          <p:cNvPr id="32" name="Text 28"/>
          <p:cNvSpPr/>
          <p:nvPr/>
        </p:nvSpPr>
        <p:spPr>
          <a:xfrm>
            <a:off x="6126480" y="5120640"/>
            <a:ext cx="2697480" cy="256032"/>
          </a:xfrm>
          <a:prstGeom prst="rect">
            <a:avLst>
              <a:gd name="adj" fmla="val 28571"/>
            </a:avLst>
          </a:prstGeom>
          <a:solidFill>
            <a:srgbClr val="DDF4F0"/>
          </a:solidFill>
          <a:ln w="15875">
            <a:solidFill>
              <a:srgbClr val="0F9D8F"/>
            </a:solidFill>
          </a:ln>
        </p:spPr>
        <p:txBody>
          <a:bodyPr wrap="square" lIns="1016" tIns="1016" rIns="1016" bIns="1016" rtlCol="0" anchor="ctr"/>
          <a:lstStyle/>
          <a:p>
            <a:pPr algn="ctr" indent="0" marL="0">
              <a:buNone/>
            </a:pPr>
            <a:r>
              <a:rPr lang="en-US" sz="1000" b="1" dirty="0">
                <a:solidFill>
                  <a:srgbClr val="0F9D8F"/>
                </a:solidFill>
                <a:latin typeface="Calibri" pitchFamily="34" charset="0"/>
                <a:ea typeface="Calibri" pitchFamily="34" charset="-122"/>
                <a:cs typeface="Calibri" pitchFamily="34" charset="-120"/>
              </a:rPr>
              <a:t>SERVER REPLIES</a:t>
            </a:r>
            <a:endParaRPr lang="en-US" sz="1000" dirty="0"/>
          </a:p>
        </p:txBody>
      </p:sp>
      <p:sp>
        <p:nvSpPr>
          <p:cNvPr id="33" name="Text 29"/>
          <p:cNvSpPr/>
          <p:nvPr/>
        </p:nvSpPr>
        <p:spPr>
          <a:xfrm>
            <a:off x="6126480" y="5376672"/>
            <a:ext cx="2697480" cy="548640"/>
          </a:xfrm>
          <a:prstGeom prst="rect">
            <a:avLst/>
          </a:prstGeom>
          <a:noFill/>
          <a:ln/>
        </p:spPr>
        <p:txBody>
          <a:bodyPr wrap="square" lIns="508" tIns="508" rIns="508" bIns="508"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250 OK · 550 Mailbox unavailable</a:t>
            </a:r>
            <a:endParaRPr lang="en-US" sz="1200" dirty="0"/>
          </a:p>
        </p:txBody>
      </p:sp>
      <p:sp>
        <p:nvSpPr>
          <p:cNvPr id="34" name="Text 30"/>
          <p:cNvSpPr/>
          <p:nvPr/>
        </p:nvSpPr>
        <p:spPr>
          <a:xfrm>
            <a:off x="8915400" y="1325880"/>
            <a:ext cx="2697480" cy="548640"/>
          </a:xfrm>
          <a:prstGeom prst="rect">
            <a:avLst>
              <a:gd name="adj" fmla="val 13333"/>
            </a:avLst>
          </a:prstGeom>
          <a:solidFill>
            <a:srgbClr val="F59E0B"/>
          </a:solidFill>
          <a:ln w="15875">
            <a:solidFill>
              <a:srgbClr val="F59E0B"/>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HTTP</a:t>
            </a:r>
            <a:endParaRPr lang="en-US" sz="2200" dirty="0"/>
          </a:p>
        </p:txBody>
      </p:sp>
      <p:sp>
        <p:nvSpPr>
          <p:cNvPr id="35" name="Text 31"/>
          <p:cNvSpPr/>
          <p:nvPr/>
        </p:nvSpPr>
        <p:spPr>
          <a:xfrm>
            <a:off x="8915400" y="1892808"/>
            <a:ext cx="2697480" cy="274320"/>
          </a:xfrm>
          <a:prstGeom prst="rect">
            <a:avLst/>
          </a:prstGeom>
          <a:noFill/>
          <a:ln/>
        </p:spPr>
        <p:txBody>
          <a:bodyPr wrap="square" lIns="508" tIns="508" rIns="508" bIns="508"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1991 · port 80 / 443</a:t>
            </a:r>
            <a:endParaRPr lang="en-US" sz="1100" dirty="0"/>
          </a:p>
        </p:txBody>
      </p:sp>
      <p:sp>
        <p:nvSpPr>
          <p:cNvPr id="36" name="Text 32"/>
          <p:cNvSpPr/>
          <p:nvPr/>
        </p:nvSpPr>
        <p:spPr>
          <a:xfrm>
            <a:off x="8915400" y="2148840"/>
            <a:ext cx="2697480" cy="320040"/>
          </a:xfrm>
          <a:prstGeom prst="rect">
            <a:avLst/>
          </a:prstGeom>
          <a:noFill/>
          <a:ln/>
        </p:spPr>
        <p:txBody>
          <a:bodyPr wrap="square" lIns="508" tIns="508" rIns="508" bIns="508"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Fetch web pages &amp; APIs</a:t>
            </a:r>
            <a:endParaRPr lang="en-US" sz="1500" dirty="0"/>
          </a:p>
        </p:txBody>
      </p:sp>
      <p:sp>
        <p:nvSpPr>
          <p:cNvPr id="37" name="Text 33"/>
          <p:cNvSpPr/>
          <p:nvPr/>
        </p:nvSpPr>
        <p:spPr>
          <a:xfrm>
            <a:off x="8915400" y="2514600"/>
            <a:ext cx="2697480" cy="1783080"/>
          </a:xfrm>
          <a:prstGeom prst="roundRect">
            <a:avLst>
              <a:gd name="adj" fmla="val 3077"/>
            </a:avLst>
          </a:prstGeom>
          <a:solidFill>
            <a:srgbClr val="111827"/>
          </a:solidFill>
          <a:ln/>
        </p:spPr>
        <p:txBody>
          <a:bodyPr wrap="square" lIns="1270" tIns="1270" rIns="1270" bIns="1270" rtlCol="0" anchor="t"/>
          <a:lstStyle/>
          <a:p>
            <a:pPr indent="0" marL="0">
              <a:buNone/>
            </a:pPr>
            <a:r>
              <a:rPr lang="en-US" sz="1100" dirty="0">
                <a:solidFill>
                  <a:srgbClr val="93C5FD"/>
                </a:solidFill>
                <a:latin typeface="Consolas" pitchFamily="34" charset="0"/>
                <a:ea typeface="Consolas" pitchFamily="34" charset="-122"/>
                <a:cs typeface="Consolas" pitchFamily="34" charset="-120"/>
              </a:rPr>
              <a:t>GET /users/99 HTTP/1.1</a:t>
            </a:r>
            <a:endParaRPr lang="en-US" sz="1100" dirty="0"/>
          </a:p>
          <a:p>
            <a:pPr indent="0" marL="0">
              <a:buNone/>
            </a:pPr>
            <a:r>
              <a:rPr lang="en-US" sz="1100" dirty="0">
                <a:solidFill>
                  <a:srgbClr val="93C5FD"/>
                </a:solidFill>
                <a:latin typeface="Consolas" pitchFamily="34" charset="0"/>
                <a:ea typeface="Consolas" pitchFamily="34" charset="-122"/>
                <a:cs typeface="Consolas" pitchFamily="34" charset="-120"/>
              </a:rPr>
              <a:t>Host: api.shop.com</a:t>
            </a:r>
            <a:endParaRPr lang="en-US" sz="1100" dirty="0"/>
          </a:p>
          <a:p>
            <a:pPr indent="0" marL="0">
              <a:buNone/>
            </a:pP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HTTP/1.1 404 Not Found</a:t>
            </a: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Content-Type: application/json</a:t>
            </a:r>
            <a:endParaRPr lang="en-US" sz="1100" dirty="0"/>
          </a:p>
          <a:p>
            <a:pPr indent="0" marL="0">
              <a:buNone/>
            </a:pPr>
            <a:endParaRPr lang="en-US" sz="1100" dirty="0"/>
          </a:p>
          <a:p>
            <a:pPr indent="0" marL="0">
              <a:buNone/>
            </a:pPr>
            <a:r>
              <a:rPr lang="en-US" sz="1100" dirty="0">
                <a:solidFill>
                  <a:srgbClr val="86EFAC"/>
                </a:solidFill>
                <a:latin typeface="Consolas" pitchFamily="34" charset="0"/>
                <a:ea typeface="Consolas" pitchFamily="34" charset="-122"/>
                <a:cs typeface="Consolas" pitchFamily="34" charset="-120"/>
              </a:rPr>
              <a:t>{"error":"no such user"}</a:t>
            </a:r>
            <a:endParaRPr lang="en-US" sz="1100" dirty="0"/>
          </a:p>
        </p:txBody>
      </p:sp>
      <p:sp>
        <p:nvSpPr>
          <p:cNvPr id="38" name="Text 34"/>
          <p:cNvSpPr/>
          <p:nvPr/>
        </p:nvSpPr>
        <p:spPr>
          <a:xfrm>
            <a:off x="8915400" y="4389120"/>
            <a:ext cx="2697480" cy="256032"/>
          </a:xfrm>
          <a:prstGeom prst="rect">
            <a:avLst>
              <a:gd name="adj" fmla="val 28571"/>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CLIENT SENDS</a:t>
            </a:r>
            <a:endParaRPr lang="en-US" sz="1000" dirty="0"/>
          </a:p>
        </p:txBody>
      </p:sp>
      <p:sp>
        <p:nvSpPr>
          <p:cNvPr id="39" name="Text 35"/>
          <p:cNvSpPr/>
          <p:nvPr/>
        </p:nvSpPr>
        <p:spPr>
          <a:xfrm>
            <a:off x="8915400" y="4645152"/>
            <a:ext cx="2697480" cy="45720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Methods GET · POST · PUT · DELETE + headers</a:t>
            </a:r>
            <a:endParaRPr lang="en-US" sz="1200" dirty="0"/>
          </a:p>
        </p:txBody>
      </p:sp>
      <p:sp>
        <p:nvSpPr>
          <p:cNvPr id="40" name="Text 36"/>
          <p:cNvSpPr/>
          <p:nvPr/>
        </p:nvSpPr>
        <p:spPr>
          <a:xfrm>
            <a:off x="8915400" y="5120640"/>
            <a:ext cx="2697480" cy="256032"/>
          </a:xfrm>
          <a:prstGeom prst="rect">
            <a:avLst>
              <a:gd name="adj" fmla="val 28571"/>
            </a:avLst>
          </a:prstGeom>
          <a:solidFill>
            <a:srgbClr val="DDF4F0"/>
          </a:solidFill>
          <a:ln w="15875">
            <a:solidFill>
              <a:srgbClr val="0F9D8F"/>
            </a:solidFill>
          </a:ln>
        </p:spPr>
        <p:txBody>
          <a:bodyPr wrap="square" lIns="1016" tIns="1016" rIns="1016" bIns="1016" rtlCol="0" anchor="ctr"/>
          <a:lstStyle/>
          <a:p>
            <a:pPr algn="ctr" indent="0" marL="0">
              <a:buNone/>
            </a:pPr>
            <a:r>
              <a:rPr lang="en-US" sz="1000" b="1" dirty="0">
                <a:solidFill>
                  <a:srgbClr val="0F9D8F"/>
                </a:solidFill>
                <a:latin typeface="Calibri" pitchFamily="34" charset="0"/>
                <a:ea typeface="Calibri" pitchFamily="34" charset="-122"/>
                <a:cs typeface="Calibri" pitchFamily="34" charset="-120"/>
              </a:rPr>
              <a:t>SERVER REPLIES</a:t>
            </a:r>
            <a:endParaRPr lang="en-US" sz="1000" dirty="0"/>
          </a:p>
        </p:txBody>
      </p:sp>
      <p:sp>
        <p:nvSpPr>
          <p:cNvPr id="41" name="Text 37"/>
          <p:cNvSpPr/>
          <p:nvPr/>
        </p:nvSpPr>
        <p:spPr>
          <a:xfrm>
            <a:off x="8915400" y="5376672"/>
            <a:ext cx="2697480" cy="548640"/>
          </a:xfrm>
          <a:prstGeom prst="rect">
            <a:avLst/>
          </a:prstGeom>
          <a:noFill/>
          <a:ln/>
        </p:spPr>
        <p:txBody>
          <a:bodyPr wrap="square" lIns="508" tIns="508" rIns="508" bIns="508"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200 OK · 404 Not Found</a:t>
            </a:r>
            <a:endParaRPr lang="en-US" sz="1200" dirty="0"/>
          </a:p>
        </p:txBody>
      </p:sp>
      <p:sp>
        <p:nvSpPr>
          <p:cNvPr id="42" name="Shape 38"/>
          <p:cNvSpPr/>
          <p:nvPr/>
        </p:nvSpPr>
        <p:spPr>
          <a:xfrm>
            <a:off x="457200" y="5961888"/>
            <a:ext cx="82296" cy="548640"/>
          </a:xfrm>
          <a:prstGeom prst="rect">
            <a:avLst/>
          </a:prstGeom>
          <a:solidFill>
            <a:srgbClr val="0F9D8F"/>
          </a:solidFill>
          <a:ln/>
        </p:spPr>
      </p:sp>
      <p:sp>
        <p:nvSpPr>
          <p:cNvPr id="43" name="Text 39"/>
          <p:cNvSpPr/>
          <p:nvPr/>
        </p:nvSpPr>
        <p:spPr>
          <a:xfrm>
            <a:off x="594360" y="5961888"/>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Same recipe for 50 years: text command out, number back. First digit: 2 = success, 3 = more needed, 4 or 5 = failure.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Knowledge check 1: before the Internet</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Before the Internet</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8" name="Text 5"/>
          <p:cNvSpPr/>
          <p:nvPr/>
        </p:nvSpPr>
        <p:spPr>
          <a:xfrm>
            <a:off x="548640" y="13258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9" name="Text 6"/>
          <p:cNvSpPr/>
          <p:nvPr/>
        </p:nvSpPr>
        <p:spPr>
          <a:xfrm>
            <a:off x="685800" y="14173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Q1</a:t>
            </a:r>
            <a:endParaRPr lang="en-US" sz="2600" dirty="0"/>
          </a:p>
        </p:txBody>
      </p:sp>
      <p:sp>
        <p:nvSpPr>
          <p:cNvPr id="10" name="Text 7"/>
          <p:cNvSpPr/>
          <p:nvPr/>
        </p:nvSpPr>
        <p:spPr>
          <a:xfrm>
            <a:off x="1371600" y="13716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What does packet switching do differently from a phone call?</a:t>
            </a:r>
            <a:endParaRPr lang="en-US" sz="1900" dirty="0"/>
          </a:p>
        </p:txBody>
      </p:sp>
      <p:sp>
        <p:nvSpPr>
          <p:cNvPr id="11" name="Text 8"/>
          <p:cNvSpPr/>
          <p:nvPr/>
        </p:nvSpPr>
        <p:spPr>
          <a:xfrm>
            <a:off x="1371600" y="20116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Reserves one line  B) Splits data into packets that find their own routes  C) Needs a mainframe</a:t>
            </a:r>
            <a:endParaRPr lang="en-US" sz="1500" dirty="0"/>
          </a:p>
        </p:txBody>
      </p:sp>
      <p:sp>
        <p:nvSpPr>
          <p:cNvPr id="12" name="Text 9"/>
          <p:cNvSpPr/>
          <p:nvPr/>
        </p:nvSpPr>
        <p:spPr>
          <a:xfrm>
            <a:off x="548640" y="29260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3" name="Text 10"/>
          <p:cNvSpPr/>
          <p:nvPr/>
        </p:nvSpPr>
        <p:spPr>
          <a:xfrm>
            <a:off x="685800" y="30175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Q2</a:t>
            </a:r>
            <a:endParaRPr lang="en-US" sz="2600" dirty="0"/>
          </a:p>
        </p:txBody>
      </p:sp>
      <p:sp>
        <p:nvSpPr>
          <p:cNvPr id="14" name="Text 11"/>
          <p:cNvSpPr/>
          <p:nvPr/>
        </p:nvSpPr>
        <p:spPr>
          <a:xfrm>
            <a:off x="1371600" y="29718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Why was Telnet replaced by SSH?</a:t>
            </a:r>
            <a:endParaRPr lang="en-US" sz="1900" dirty="0"/>
          </a:p>
        </p:txBody>
      </p:sp>
      <p:sp>
        <p:nvSpPr>
          <p:cNvPr id="15" name="Text 12"/>
          <p:cNvSpPr/>
          <p:nvPr/>
        </p:nvSpPr>
        <p:spPr>
          <a:xfrm>
            <a:off x="1371600" y="36118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It was too slow  B) It sent everything, even passwords, as plain text  C) It only worked on mainframes</a:t>
            </a:r>
            <a:endParaRPr lang="en-US" sz="1500" dirty="0"/>
          </a:p>
        </p:txBody>
      </p:sp>
      <p:sp>
        <p:nvSpPr>
          <p:cNvPr id="16" name="Text 13"/>
          <p:cNvSpPr/>
          <p:nvPr/>
        </p:nvSpPr>
        <p:spPr>
          <a:xfrm>
            <a:off x="548640" y="45262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7" name="Text 14"/>
          <p:cNvSpPr/>
          <p:nvPr/>
        </p:nvSpPr>
        <p:spPr>
          <a:xfrm>
            <a:off x="685800" y="46177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Q3</a:t>
            </a:r>
            <a:endParaRPr lang="en-US" sz="2600" dirty="0"/>
          </a:p>
        </p:txBody>
      </p:sp>
      <p:sp>
        <p:nvSpPr>
          <p:cNvPr id="18" name="Text 15"/>
          <p:cNvSpPr/>
          <p:nvPr/>
        </p:nvSpPr>
        <p:spPr>
          <a:xfrm>
            <a:off x="1371600" y="45720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What do FTP, SMTP and HTTP have in common?</a:t>
            </a:r>
            <a:endParaRPr lang="en-US" sz="1900" dirty="0"/>
          </a:p>
        </p:txBody>
      </p:sp>
      <p:sp>
        <p:nvSpPr>
          <p:cNvPr id="19" name="Text 16"/>
          <p:cNvSpPr/>
          <p:nvPr/>
        </p:nvSpPr>
        <p:spPr>
          <a:xfrm>
            <a:off x="1371600" y="52120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Text commands from a client and numeric replies from a server  B) They all use binary only  C) They were invented in 1969</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2011680"/>
            <a:ext cx="109728" cy="2011680"/>
          </a:xfrm>
          <a:prstGeom prst="rect">
            <a:avLst/>
          </a:prstGeom>
          <a:solidFill>
            <a:srgbClr val="0F9D8F"/>
          </a:solidFill>
          <a:ln/>
        </p:spPr>
      </p:sp>
      <p:sp>
        <p:nvSpPr>
          <p:cNvPr id="3" name="Text 1"/>
          <p:cNvSpPr/>
          <p:nvPr/>
        </p:nvSpPr>
        <p:spPr>
          <a:xfrm>
            <a:off x="1005840" y="1920240"/>
            <a:ext cx="5486400" cy="457200"/>
          </a:xfrm>
          <a:prstGeom prst="rect">
            <a:avLst/>
          </a:prstGeom>
          <a:noFill/>
          <a:ln/>
        </p:spPr>
        <p:txBody>
          <a:bodyPr wrap="square" lIns="508" tIns="508" rIns="508" bIns="508" rtlCol="0" anchor="ctr"/>
          <a:lstStyle/>
          <a:p>
            <a:pPr indent="0" marL="0">
              <a:buNone/>
            </a:pPr>
            <a:r>
              <a:rPr lang="en-US" sz="1600" b="1" spc="400" kern="0" dirty="0">
                <a:solidFill>
                  <a:srgbClr val="F59E0B"/>
                </a:solidFill>
                <a:latin typeface="Calibri" pitchFamily="34" charset="0"/>
                <a:ea typeface="Calibri" pitchFamily="34" charset="-122"/>
                <a:cs typeface="Calibri" pitchFamily="34" charset="-120"/>
              </a:rPr>
              <a:t>PART 2</a:t>
            </a:r>
            <a:endParaRPr lang="en-US" sz="1600" dirty="0"/>
          </a:p>
        </p:txBody>
      </p:sp>
      <p:sp>
        <p:nvSpPr>
          <p:cNvPr id="4" name="Text 2"/>
          <p:cNvSpPr/>
          <p:nvPr/>
        </p:nvSpPr>
        <p:spPr>
          <a:xfrm>
            <a:off x="1005840" y="2377440"/>
            <a:ext cx="10058400" cy="1005840"/>
          </a:xfrm>
          <a:prstGeom prst="rect">
            <a:avLst/>
          </a:prstGeom>
          <a:noFill/>
          <a:ln/>
        </p:spPr>
        <p:txBody>
          <a:bodyPr wrap="square" lIns="508" tIns="508" rIns="508" bIns="508"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TCP/IP: the rules of the road</a:t>
            </a:r>
            <a:endParaRPr lang="en-US" sz="4400" dirty="0"/>
          </a:p>
        </p:txBody>
      </p:sp>
      <p:sp>
        <p:nvSpPr>
          <p:cNvPr id="5" name="Text 3"/>
          <p:cNvSpPr/>
          <p:nvPr/>
        </p:nvSpPr>
        <p:spPr>
          <a:xfrm>
            <a:off x="1005840" y="3383280"/>
            <a:ext cx="9601200" cy="731520"/>
          </a:xfrm>
          <a:prstGeom prst="rect">
            <a:avLst/>
          </a:prstGeom>
          <a:noFill/>
          <a:ln/>
        </p:spPr>
        <p:txBody>
          <a:bodyPr wrap="square" lIns="508" tIns="508" rIns="508" bIns="508" rtlCol="0" anchor="ctr"/>
          <a:lstStyle/>
          <a:p>
            <a:pPr indent="0" marL="0">
              <a:buNone/>
            </a:pPr>
            <a:r>
              <a:rPr lang="en-US" sz="2000" dirty="0">
                <a:solidFill>
                  <a:srgbClr val="9FB3C8"/>
                </a:solidFill>
                <a:latin typeface="Calibri" pitchFamily="34" charset="0"/>
                <a:ea typeface="Calibri" pitchFamily="34" charset="-122"/>
                <a:cs typeface="Calibri" pitchFamily="34" charset="-120"/>
              </a:rPr>
              <a:t>Different networks, one common language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 protocol? A shared language plus manners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8" name="Text 5"/>
          <p:cNvSpPr/>
          <p:nvPr/>
        </p:nvSpPr>
        <p:spPr>
          <a:xfrm>
            <a:off x="731520" y="1554480"/>
            <a:ext cx="201168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 Alice</a:t>
            </a:r>
            <a:endParaRPr lang="en-US" sz="1800" dirty="0"/>
          </a:p>
        </p:txBody>
      </p:sp>
      <p:sp>
        <p:nvSpPr>
          <p:cNvPr id="9" name="Text 6"/>
          <p:cNvSpPr/>
          <p:nvPr/>
        </p:nvSpPr>
        <p:spPr>
          <a:xfrm>
            <a:off x="9418320" y="1554480"/>
            <a:ext cx="201168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 Bob</a:t>
            </a:r>
            <a:endParaRPr lang="en-US" sz="1800" dirty="0"/>
          </a:p>
        </p:txBody>
      </p:sp>
      <p:sp>
        <p:nvSpPr>
          <p:cNvPr id="10" name="Shape 7"/>
          <p:cNvSpPr/>
          <p:nvPr/>
        </p:nvSpPr>
        <p:spPr>
          <a:xfrm>
            <a:off x="2743200" y="1828800"/>
            <a:ext cx="6675120" cy="0"/>
          </a:xfrm>
          <a:prstGeom prst="line">
            <a:avLst/>
          </a:prstGeom>
          <a:noFill/>
          <a:ln w="25400">
            <a:solidFill>
              <a:srgbClr val="0F9D8F"/>
            </a:solidFill>
            <a:prstDash val="solid"/>
            <a:tailEnd type="triangle"/>
          </a:ln>
        </p:spPr>
      </p:sp>
      <p:sp>
        <p:nvSpPr>
          <p:cNvPr id="11" name="Shape 8"/>
          <p:cNvSpPr/>
          <p:nvPr/>
        </p:nvSpPr>
        <p:spPr>
          <a:xfrm flipH="1">
            <a:off x="2743200" y="2377440"/>
            <a:ext cx="6675120" cy="0"/>
          </a:xfrm>
          <a:prstGeom prst="line">
            <a:avLst/>
          </a:prstGeom>
          <a:noFill/>
          <a:ln w="25400">
            <a:solidFill>
              <a:srgbClr val="E5484D"/>
            </a:solidFill>
            <a:prstDash val="solid"/>
            <a:tailEnd type="triangle"/>
          </a:ln>
        </p:spPr>
      </p:sp>
      <p:sp>
        <p:nvSpPr>
          <p:cNvPr id="12" name="Text 9"/>
          <p:cNvSpPr/>
          <p:nvPr/>
        </p:nvSpPr>
        <p:spPr>
          <a:xfrm>
            <a:off x="3017520" y="1417320"/>
            <a:ext cx="6217920" cy="365760"/>
          </a:xfrm>
          <a:prstGeom prst="rect">
            <a:avLst/>
          </a:prstGeom>
          <a:noFill/>
          <a:ln/>
        </p:spPr>
        <p:txBody>
          <a:bodyPr wrap="square" lIns="508" tIns="508" rIns="508" bIns="508" rtlCol="0" anchor="ctr"/>
          <a:lstStyle/>
          <a:p>
            <a:pPr algn="ctr" indent="0" marL="0">
              <a:buNone/>
            </a:pPr>
            <a:r>
              <a:rPr lang="en-US" sz="1600" b="1" dirty="0">
                <a:solidFill>
                  <a:srgbClr val="0F9D8F"/>
                </a:solidFill>
                <a:latin typeface="Calibri" pitchFamily="34" charset="0"/>
                <a:ea typeface="Calibri" pitchFamily="34" charset="-122"/>
                <a:cs typeface="Calibri" pitchFamily="34" charset="-120"/>
              </a:rPr>
              <a:t>"Hello, may I have the page /home?"</a:t>
            </a:r>
            <a:endParaRPr lang="en-US" sz="1600" dirty="0"/>
          </a:p>
        </p:txBody>
      </p:sp>
      <p:sp>
        <p:nvSpPr>
          <p:cNvPr id="13" name="Text 10"/>
          <p:cNvSpPr/>
          <p:nvPr/>
        </p:nvSpPr>
        <p:spPr>
          <a:xfrm>
            <a:off x="3017520" y="2423160"/>
            <a:ext cx="6217920" cy="365760"/>
          </a:xfrm>
          <a:prstGeom prst="rect">
            <a:avLst/>
          </a:prstGeom>
          <a:noFill/>
          <a:ln/>
        </p:spPr>
        <p:txBody>
          <a:bodyPr wrap="square" lIns="508" tIns="508" rIns="508" bIns="508" rtlCol="0" anchor="ctr"/>
          <a:lstStyle/>
          <a:p>
            <a:pPr algn="ctr" indent="0" marL="0">
              <a:buNone/>
            </a:pPr>
            <a:r>
              <a:rPr lang="en-US" sz="1600" b="1" dirty="0">
                <a:solidFill>
                  <a:srgbClr val="E5484D"/>
                </a:solidFill>
                <a:latin typeface="Calibri" pitchFamily="34" charset="0"/>
                <a:ea typeface="Calibri" pitchFamily="34" charset="-122"/>
                <a:cs typeface="Calibri" pitchFamily="34" charset="-120"/>
              </a:rPr>
              <a:t>"OK, here it is." (or "Sorry, not found")</a:t>
            </a:r>
            <a:endParaRPr lang="en-US" sz="1600" dirty="0"/>
          </a:p>
        </p:txBody>
      </p:sp>
      <p:sp>
        <p:nvSpPr>
          <p:cNvPr id="14" name="Text 11"/>
          <p:cNvSpPr/>
          <p:nvPr/>
        </p:nvSpPr>
        <p:spPr>
          <a:xfrm>
            <a:off x="731520" y="3383280"/>
            <a:ext cx="265176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Format</a:t>
            </a:r>
            <a:endParaRPr lang="en-US" sz="1400" dirty="0"/>
          </a:p>
        </p:txBody>
      </p:sp>
      <p:sp>
        <p:nvSpPr>
          <p:cNvPr id="15" name="Text 12"/>
          <p:cNvSpPr/>
          <p:nvPr/>
        </p:nvSpPr>
        <p:spPr>
          <a:xfrm>
            <a:off x="731520" y="3931920"/>
            <a:ext cx="265176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What does a message look like?</a:t>
            </a:r>
            <a:endParaRPr lang="en-US" sz="1400" dirty="0"/>
          </a:p>
        </p:txBody>
      </p:sp>
      <p:sp>
        <p:nvSpPr>
          <p:cNvPr id="16" name="Text 13"/>
          <p:cNvSpPr/>
          <p:nvPr/>
        </p:nvSpPr>
        <p:spPr>
          <a:xfrm>
            <a:off x="3566160" y="3383280"/>
            <a:ext cx="265176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Order</a:t>
            </a:r>
            <a:endParaRPr lang="en-US" sz="1400" dirty="0"/>
          </a:p>
        </p:txBody>
      </p:sp>
      <p:sp>
        <p:nvSpPr>
          <p:cNvPr id="17" name="Text 14"/>
          <p:cNvSpPr/>
          <p:nvPr/>
        </p:nvSpPr>
        <p:spPr>
          <a:xfrm>
            <a:off x="3566160" y="3931920"/>
            <a:ext cx="265176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Who speaks first? What comes next?</a:t>
            </a:r>
            <a:endParaRPr lang="en-US" sz="1400" dirty="0"/>
          </a:p>
        </p:txBody>
      </p:sp>
      <p:sp>
        <p:nvSpPr>
          <p:cNvPr id="18" name="Text 15"/>
          <p:cNvSpPr/>
          <p:nvPr/>
        </p:nvSpPr>
        <p:spPr>
          <a:xfrm>
            <a:off x="6400800" y="3383280"/>
            <a:ext cx="265176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Errors</a:t>
            </a:r>
            <a:endParaRPr lang="en-US" sz="1400" dirty="0"/>
          </a:p>
        </p:txBody>
      </p:sp>
      <p:sp>
        <p:nvSpPr>
          <p:cNvPr id="19" name="Text 16"/>
          <p:cNvSpPr/>
          <p:nvPr/>
        </p:nvSpPr>
        <p:spPr>
          <a:xfrm>
            <a:off x="6400800" y="3931920"/>
            <a:ext cx="265176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What if a message is lost or wrong?</a:t>
            </a:r>
            <a:endParaRPr lang="en-US" sz="1400" dirty="0"/>
          </a:p>
        </p:txBody>
      </p:sp>
      <p:sp>
        <p:nvSpPr>
          <p:cNvPr id="20" name="Text 17"/>
          <p:cNvSpPr/>
          <p:nvPr/>
        </p:nvSpPr>
        <p:spPr>
          <a:xfrm>
            <a:off x="9235440" y="3383280"/>
            <a:ext cx="265176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p>
        </p:txBody>
      </p:sp>
      <p:sp>
        <p:nvSpPr>
          <p:cNvPr id="21" name="Text 18"/>
          <p:cNvSpPr/>
          <p:nvPr/>
        </p:nvSpPr>
        <p:spPr>
          <a:xfrm>
            <a:off x="9235440" y="3931920"/>
            <a:ext cx="265176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What does each code or word mean?</a:t>
            </a:r>
            <a:endParaRPr lang="en-US" sz="1400" dirty="0"/>
          </a:p>
        </p:txBody>
      </p:sp>
      <p:sp>
        <p:nvSpPr>
          <p:cNvPr id="22" name="Shape 19"/>
          <p:cNvSpPr/>
          <p:nvPr/>
        </p:nvSpPr>
        <p:spPr>
          <a:xfrm>
            <a:off x="457200" y="5212080"/>
            <a:ext cx="82296" cy="548640"/>
          </a:xfrm>
          <a:prstGeom prst="rect">
            <a:avLst/>
          </a:prstGeom>
          <a:solidFill>
            <a:srgbClr val="0F9D8F"/>
          </a:solidFill>
          <a:ln/>
        </p:spPr>
      </p:sp>
      <p:sp>
        <p:nvSpPr>
          <p:cNvPr id="23" name="Text 20"/>
          <p:cNvSpPr/>
          <p:nvPr/>
        </p:nvSpPr>
        <p:spPr>
          <a:xfrm>
            <a:off x="594360" y="521208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 protocol = the contract between two systems. An API is also a contract. Same idea, higher level.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Layers: each layer does one job</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
        <p:nvSpPr>
          <p:cNvPr id="8" name="Text 5"/>
          <p:cNvSpPr/>
          <p:nvPr/>
        </p:nvSpPr>
        <p:spPr>
          <a:xfrm>
            <a:off x="548640" y="1325880"/>
            <a:ext cx="2377440" cy="868680"/>
          </a:xfrm>
          <a:prstGeom prst="rect">
            <a:avLst>
              <a:gd name="adj" fmla="val 8421"/>
            </a:avLst>
          </a:prstGeom>
          <a:solidFill>
            <a:srgbClr val="7C5CFC"/>
          </a:solidFill>
          <a:ln w="15875">
            <a:solidFill>
              <a:srgbClr val="7C5CFC"/>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Application</a:t>
            </a:r>
            <a:endParaRPr lang="en-US" sz="2000" dirty="0"/>
          </a:p>
        </p:txBody>
      </p:sp>
      <p:sp>
        <p:nvSpPr>
          <p:cNvPr id="9" name="Text 6"/>
          <p:cNvSpPr/>
          <p:nvPr/>
        </p:nvSpPr>
        <p:spPr>
          <a:xfrm>
            <a:off x="2926080" y="1325880"/>
            <a:ext cx="512064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l" indent="0" marL="0">
              <a:buNone/>
            </a:pPr>
            <a:r>
              <a:rPr lang="en-US" sz="1600" dirty="0">
                <a:solidFill>
                  <a:srgbClr val="1F2937"/>
                </a:solidFill>
                <a:latin typeface="Calibri" pitchFamily="34" charset="0"/>
                <a:ea typeface="Calibri" pitchFamily="34" charset="-122"/>
                <a:cs typeface="Calibri" pitchFamily="34" charset="-120"/>
              </a:rPr>
              <a:t>HTTP, FTP, SMTP, DNS: what we want to say</a:t>
            </a:r>
            <a:endParaRPr lang="en-US" sz="1600" dirty="0"/>
          </a:p>
        </p:txBody>
      </p:sp>
      <p:sp>
        <p:nvSpPr>
          <p:cNvPr id="10" name="Text 7"/>
          <p:cNvSpPr/>
          <p:nvPr/>
        </p:nvSpPr>
        <p:spPr>
          <a:xfrm>
            <a:off x="8046720" y="1325880"/>
            <a:ext cx="3566160" cy="868680"/>
          </a:xfrm>
          <a:prstGeom prst="rect">
            <a:avLst>
              <a:gd name="adj" fmla="val 8421"/>
            </a:avLst>
          </a:prstGeom>
          <a:solidFill>
            <a:srgbClr val="FEF3C7"/>
          </a:solidFill>
          <a:ln w="15875">
            <a:solidFill>
              <a:srgbClr val="F59E0B"/>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 Letter</a:t>
            </a:r>
            <a:endParaRPr lang="en-US" sz="1500" dirty="0"/>
          </a:p>
        </p:txBody>
      </p:sp>
      <p:sp>
        <p:nvSpPr>
          <p:cNvPr id="11" name="Text 8"/>
          <p:cNvSpPr/>
          <p:nvPr/>
        </p:nvSpPr>
        <p:spPr>
          <a:xfrm>
            <a:off x="548640" y="2377440"/>
            <a:ext cx="2377440" cy="868680"/>
          </a:xfrm>
          <a:prstGeom prst="rect">
            <a:avLst>
              <a:gd name="adj" fmla="val 8421"/>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Transport</a:t>
            </a:r>
            <a:endParaRPr lang="en-US" sz="2000" dirty="0"/>
          </a:p>
        </p:txBody>
      </p:sp>
      <p:sp>
        <p:nvSpPr>
          <p:cNvPr id="12" name="Text 9"/>
          <p:cNvSpPr/>
          <p:nvPr/>
        </p:nvSpPr>
        <p:spPr>
          <a:xfrm>
            <a:off x="2926080" y="2377440"/>
            <a:ext cx="512064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l" indent="0" marL="0">
              <a:buNone/>
            </a:pPr>
            <a:r>
              <a:rPr lang="en-US" sz="1600" dirty="0">
                <a:solidFill>
                  <a:srgbClr val="1F2937"/>
                </a:solidFill>
                <a:latin typeface="Calibri" pitchFamily="34" charset="0"/>
                <a:ea typeface="Calibri" pitchFamily="34" charset="-122"/>
                <a:cs typeface="Calibri" pitchFamily="34" charset="-120"/>
              </a:rPr>
              <a:t>TCP / UDP: reliable delivery, ports</a:t>
            </a:r>
            <a:endParaRPr lang="en-US" sz="1600" dirty="0"/>
          </a:p>
        </p:txBody>
      </p:sp>
      <p:sp>
        <p:nvSpPr>
          <p:cNvPr id="13" name="Text 10"/>
          <p:cNvSpPr/>
          <p:nvPr/>
        </p:nvSpPr>
        <p:spPr>
          <a:xfrm>
            <a:off x="8046720" y="2377440"/>
            <a:ext cx="3566160" cy="868680"/>
          </a:xfrm>
          <a:prstGeom prst="rect">
            <a:avLst>
              <a:gd name="adj" fmla="val 8421"/>
            </a:avLst>
          </a:prstGeom>
          <a:solidFill>
            <a:srgbClr val="FEF3C7"/>
          </a:solidFill>
          <a:ln w="15875">
            <a:solidFill>
              <a:srgbClr val="F59E0B"/>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 Tracking number &amp; box</a:t>
            </a:r>
            <a:endParaRPr lang="en-US" sz="1500" dirty="0"/>
          </a:p>
        </p:txBody>
      </p:sp>
      <p:sp>
        <p:nvSpPr>
          <p:cNvPr id="14" name="Text 11"/>
          <p:cNvSpPr/>
          <p:nvPr/>
        </p:nvSpPr>
        <p:spPr>
          <a:xfrm>
            <a:off x="548640" y="3429000"/>
            <a:ext cx="2377440" cy="868680"/>
          </a:xfrm>
          <a:prstGeom prst="rect">
            <a:avLst>
              <a:gd name="adj" fmla="val 8421"/>
            </a:avLst>
          </a:prstGeom>
          <a:solidFill>
            <a:srgbClr val="3B82F6"/>
          </a:solidFill>
          <a:ln w="15875">
            <a:solidFill>
              <a:srgbClr val="3B82F6"/>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Internet</a:t>
            </a:r>
            <a:endParaRPr lang="en-US" sz="2000" dirty="0"/>
          </a:p>
        </p:txBody>
      </p:sp>
      <p:sp>
        <p:nvSpPr>
          <p:cNvPr id="15" name="Text 12"/>
          <p:cNvSpPr/>
          <p:nvPr/>
        </p:nvSpPr>
        <p:spPr>
          <a:xfrm>
            <a:off x="2926080" y="3429000"/>
            <a:ext cx="512064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l" indent="0" marL="0">
              <a:buNone/>
            </a:pPr>
            <a:r>
              <a:rPr lang="en-US" sz="1600" dirty="0">
                <a:solidFill>
                  <a:srgbClr val="1F2937"/>
                </a:solidFill>
                <a:latin typeface="Calibri" pitchFamily="34" charset="0"/>
                <a:ea typeface="Calibri" pitchFamily="34" charset="-122"/>
                <a:cs typeface="Calibri" pitchFamily="34" charset="-120"/>
              </a:rPr>
              <a:t>IP: addresses and routing</a:t>
            </a:r>
            <a:endParaRPr lang="en-US" sz="1600" dirty="0"/>
          </a:p>
        </p:txBody>
      </p:sp>
      <p:sp>
        <p:nvSpPr>
          <p:cNvPr id="16" name="Text 13"/>
          <p:cNvSpPr/>
          <p:nvPr/>
        </p:nvSpPr>
        <p:spPr>
          <a:xfrm>
            <a:off x="8046720" y="3429000"/>
            <a:ext cx="3566160" cy="868680"/>
          </a:xfrm>
          <a:prstGeom prst="rect">
            <a:avLst>
              <a:gd name="adj" fmla="val 8421"/>
            </a:avLst>
          </a:prstGeom>
          <a:solidFill>
            <a:srgbClr val="FEF3C7"/>
          </a:solidFill>
          <a:ln w="15875">
            <a:solidFill>
              <a:srgbClr val="F59E0B"/>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 Street addresses &amp; sorting</a:t>
            </a:r>
            <a:endParaRPr lang="en-US" sz="1500" dirty="0"/>
          </a:p>
        </p:txBody>
      </p:sp>
      <p:sp>
        <p:nvSpPr>
          <p:cNvPr id="17" name="Text 14"/>
          <p:cNvSpPr/>
          <p:nvPr/>
        </p:nvSpPr>
        <p:spPr>
          <a:xfrm>
            <a:off x="548640" y="4480560"/>
            <a:ext cx="2377440" cy="868680"/>
          </a:xfrm>
          <a:prstGeom prst="rect">
            <a:avLst>
              <a:gd name="adj" fmla="val 8421"/>
            </a:avLst>
          </a:prstGeom>
          <a:solidFill>
            <a:srgbClr val="0B1F3A"/>
          </a:solidFill>
          <a:ln w="15875">
            <a:solidFill>
              <a:srgbClr val="0B1F3A"/>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Link</a:t>
            </a:r>
            <a:endParaRPr lang="en-US" sz="2000" dirty="0"/>
          </a:p>
        </p:txBody>
      </p:sp>
      <p:sp>
        <p:nvSpPr>
          <p:cNvPr id="18" name="Text 15"/>
          <p:cNvSpPr/>
          <p:nvPr/>
        </p:nvSpPr>
        <p:spPr>
          <a:xfrm>
            <a:off x="2926080" y="4480560"/>
            <a:ext cx="512064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l" indent="0" marL="0">
              <a:buNone/>
            </a:pPr>
            <a:r>
              <a:rPr lang="en-US" sz="1600" dirty="0">
                <a:solidFill>
                  <a:srgbClr val="1F2937"/>
                </a:solidFill>
                <a:latin typeface="Calibri" pitchFamily="34" charset="0"/>
                <a:ea typeface="Calibri" pitchFamily="34" charset="-122"/>
                <a:cs typeface="Calibri" pitchFamily="34" charset="-120"/>
              </a:rPr>
              <a:t>Wi-Fi, Ethernet: physical wires/radio</a:t>
            </a:r>
            <a:endParaRPr lang="en-US" sz="1600" dirty="0"/>
          </a:p>
        </p:txBody>
      </p:sp>
      <p:sp>
        <p:nvSpPr>
          <p:cNvPr id="19" name="Text 16"/>
          <p:cNvSpPr/>
          <p:nvPr/>
        </p:nvSpPr>
        <p:spPr>
          <a:xfrm>
            <a:off x="8046720" y="4480560"/>
            <a:ext cx="3566160" cy="868680"/>
          </a:xfrm>
          <a:prstGeom prst="rect">
            <a:avLst>
              <a:gd name="adj" fmla="val 8421"/>
            </a:avLst>
          </a:prstGeom>
          <a:solidFill>
            <a:srgbClr val="FEF3C7"/>
          </a:solidFill>
          <a:ln w="15875">
            <a:solidFill>
              <a:srgbClr val="F59E0B"/>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 Delivery truck &amp; roads</a:t>
            </a:r>
            <a:endParaRPr lang="en-US" sz="1500" dirty="0"/>
          </a:p>
        </p:txBody>
      </p:sp>
      <p:sp>
        <p:nvSpPr>
          <p:cNvPr id="20" name="Text 17"/>
          <p:cNvSpPr/>
          <p:nvPr/>
        </p:nvSpPr>
        <p:spPr>
          <a:xfrm>
            <a:off x="548640" y="1051560"/>
            <a:ext cx="2377440" cy="274320"/>
          </a:xfrm>
          <a:prstGeom prst="rect">
            <a:avLst/>
          </a:prstGeom>
          <a:noFill/>
          <a:ln/>
        </p:spPr>
        <p:txBody>
          <a:bodyPr wrap="square" lIns="508" tIns="508" rIns="508" bIns="508"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Layer</a:t>
            </a:r>
            <a:endParaRPr lang="en-US" sz="1200" dirty="0"/>
          </a:p>
        </p:txBody>
      </p:sp>
      <p:sp>
        <p:nvSpPr>
          <p:cNvPr id="21" name="Text 18"/>
          <p:cNvSpPr/>
          <p:nvPr/>
        </p:nvSpPr>
        <p:spPr>
          <a:xfrm>
            <a:off x="2926080" y="1051560"/>
            <a:ext cx="4572000" cy="274320"/>
          </a:xfrm>
          <a:prstGeom prst="rect">
            <a:avLst/>
          </a:prstGeom>
          <a:noFill/>
          <a:ln/>
        </p:spPr>
        <p:txBody>
          <a:bodyPr wrap="square" lIns="508" tIns="508" rIns="508" bIns="508"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What it does</a:t>
            </a:r>
            <a:endParaRPr lang="en-US" sz="1200" dirty="0"/>
          </a:p>
        </p:txBody>
      </p:sp>
      <p:sp>
        <p:nvSpPr>
          <p:cNvPr id="22" name="Text 19"/>
          <p:cNvSpPr/>
          <p:nvPr/>
        </p:nvSpPr>
        <p:spPr>
          <a:xfrm>
            <a:off x="8046720" y="1051560"/>
            <a:ext cx="2743200" cy="274320"/>
          </a:xfrm>
          <a:prstGeom prst="rect">
            <a:avLst/>
          </a:prstGeom>
          <a:noFill/>
          <a:ln/>
        </p:spPr>
        <p:txBody>
          <a:bodyPr wrap="square" lIns="508" tIns="508" rIns="508" bIns="508"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Parcel analogy</a:t>
            </a:r>
            <a:endParaRPr lang="en-US" sz="1200" dirty="0"/>
          </a:p>
        </p:txBody>
      </p:sp>
      <p:sp>
        <p:nvSpPr>
          <p:cNvPr id="23" name="Shape 20"/>
          <p:cNvSpPr/>
          <p:nvPr/>
        </p:nvSpPr>
        <p:spPr>
          <a:xfrm>
            <a:off x="457200" y="5577840"/>
            <a:ext cx="82296" cy="548640"/>
          </a:xfrm>
          <a:prstGeom prst="rect">
            <a:avLst/>
          </a:prstGeom>
          <a:solidFill>
            <a:srgbClr val="F59E0B"/>
          </a:solidFill>
          <a:ln/>
        </p:spPr>
      </p:sp>
      <p:sp>
        <p:nvSpPr>
          <p:cNvPr id="24" name="Text 21"/>
          <p:cNvSpPr/>
          <p:nvPr/>
        </p:nvSpPr>
        <p:spPr>
          <a:xfrm>
            <a:off x="594360" y="557784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Debugging cheat code: "connection refused / timeout" = lower layers (network, server down). "404 / 500" = the application layer is answering.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OSI vs TCP/IP: 7 layers vs 4 layers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8" name="Text 5"/>
          <p:cNvSpPr/>
          <p:nvPr/>
        </p:nvSpPr>
        <p:spPr>
          <a:xfrm>
            <a:off x="548640" y="1051560"/>
            <a:ext cx="4206240" cy="256032"/>
          </a:xfrm>
          <a:prstGeom prst="rect">
            <a:avLst/>
          </a:prstGeom>
          <a:noFill/>
          <a:ln/>
        </p:spPr>
        <p:txBody>
          <a:bodyPr wrap="square" lIns="508" tIns="508" rIns="508" bIns="508"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OSI MODEL  ·  ISO, 7 layers</a:t>
            </a:r>
            <a:endParaRPr lang="en-US" sz="1100" dirty="0"/>
          </a:p>
        </p:txBody>
      </p:sp>
      <p:sp>
        <p:nvSpPr>
          <p:cNvPr id="9" name="Text 6"/>
          <p:cNvSpPr/>
          <p:nvPr/>
        </p:nvSpPr>
        <p:spPr>
          <a:xfrm>
            <a:off x="5029200" y="1051560"/>
            <a:ext cx="2926080" cy="256032"/>
          </a:xfrm>
          <a:prstGeom prst="rect">
            <a:avLst/>
          </a:prstGeom>
          <a:noFill/>
          <a:ln/>
        </p:spPr>
        <p:txBody>
          <a:bodyPr wrap="square" lIns="508" tIns="508" rIns="508" bIns="508"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TCP/IP MODEL  ·  DARPA, 4 layers</a:t>
            </a:r>
            <a:endParaRPr lang="en-US" sz="1100" dirty="0"/>
          </a:p>
        </p:txBody>
      </p:sp>
      <p:sp>
        <p:nvSpPr>
          <p:cNvPr id="10" name="Text 7"/>
          <p:cNvSpPr/>
          <p:nvPr/>
        </p:nvSpPr>
        <p:spPr>
          <a:xfrm>
            <a:off x="8138160" y="1051560"/>
            <a:ext cx="3474720" cy="256032"/>
          </a:xfrm>
          <a:prstGeom prst="rect">
            <a:avLst/>
          </a:prstGeom>
          <a:noFill/>
          <a:ln/>
        </p:spPr>
        <p:txBody>
          <a:bodyPr wrap="square" lIns="508" tIns="508" rIns="508" bIns="508"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EXAMPLES AND JOB</a:t>
            </a:r>
            <a:endParaRPr lang="en-US" sz="1100" dirty="0"/>
          </a:p>
        </p:txBody>
      </p:sp>
      <p:sp>
        <p:nvSpPr>
          <p:cNvPr id="11" name="Text 8"/>
          <p:cNvSpPr/>
          <p:nvPr/>
        </p:nvSpPr>
        <p:spPr>
          <a:xfrm>
            <a:off x="548640" y="1325880"/>
            <a:ext cx="4206240" cy="548640"/>
          </a:xfrm>
          <a:prstGeom prst="rect">
            <a:avLst>
              <a:gd name="adj" fmla="val 13333"/>
            </a:avLst>
          </a:prstGeom>
          <a:solidFill>
            <a:srgbClr val="7C5CFC"/>
          </a:solidFill>
          <a:ln w="15875">
            <a:solidFill>
              <a:srgbClr val="7C5CFC"/>
            </a:solidFill>
          </a:ln>
        </p:spPr>
        <p:txBody>
          <a:bodyPr wrap="square" lIns="152400" tIns="152400" rIns="152400" bIns="152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7   Application</a:t>
            </a:r>
            <a:endParaRPr lang="en-US" sz="1400" dirty="0"/>
          </a:p>
        </p:txBody>
      </p:sp>
      <p:sp>
        <p:nvSpPr>
          <p:cNvPr id="12" name="Text 9"/>
          <p:cNvSpPr/>
          <p:nvPr/>
        </p:nvSpPr>
        <p:spPr>
          <a:xfrm>
            <a:off x="548640" y="1920240"/>
            <a:ext cx="4206240" cy="548640"/>
          </a:xfrm>
          <a:prstGeom prst="rect">
            <a:avLst>
              <a:gd name="adj" fmla="val 13333"/>
            </a:avLst>
          </a:prstGeom>
          <a:solidFill>
            <a:srgbClr val="9B87FB"/>
          </a:solidFill>
          <a:ln w="15875">
            <a:solidFill>
              <a:srgbClr val="9B87FB"/>
            </a:solidFill>
          </a:ln>
        </p:spPr>
        <p:txBody>
          <a:bodyPr wrap="square" lIns="152400" tIns="152400" rIns="152400" bIns="152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6   Presentation</a:t>
            </a:r>
            <a:endParaRPr lang="en-US" sz="1400" dirty="0"/>
          </a:p>
        </p:txBody>
      </p:sp>
      <p:sp>
        <p:nvSpPr>
          <p:cNvPr id="13" name="Text 10"/>
          <p:cNvSpPr/>
          <p:nvPr/>
        </p:nvSpPr>
        <p:spPr>
          <a:xfrm>
            <a:off x="548640" y="2514600"/>
            <a:ext cx="4206240" cy="548640"/>
          </a:xfrm>
          <a:prstGeom prst="rect">
            <a:avLst>
              <a:gd name="adj" fmla="val 13333"/>
            </a:avLst>
          </a:prstGeom>
          <a:solidFill>
            <a:srgbClr val="B9ABFC"/>
          </a:solidFill>
          <a:ln w="15875">
            <a:solidFill>
              <a:srgbClr val="B9ABFC"/>
            </a:solidFill>
          </a:ln>
        </p:spPr>
        <p:txBody>
          <a:bodyPr wrap="square" lIns="152400" tIns="152400" rIns="152400" bIns="152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5   Session</a:t>
            </a:r>
            <a:endParaRPr lang="en-US" sz="1400" dirty="0"/>
          </a:p>
        </p:txBody>
      </p:sp>
      <p:sp>
        <p:nvSpPr>
          <p:cNvPr id="14" name="Text 11"/>
          <p:cNvSpPr/>
          <p:nvPr/>
        </p:nvSpPr>
        <p:spPr>
          <a:xfrm>
            <a:off x="548640" y="3108960"/>
            <a:ext cx="4206240" cy="548640"/>
          </a:xfrm>
          <a:prstGeom prst="rect">
            <a:avLst>
              <a:gd name="adj" fmla="val 13333"/>
            </a:avLst>
          </a:prstGeom>
          <a:solidFill>
            <a:srgbClr val="0F9D8F"/>
          </a:solidFill>
          <a:ln w="15875">
            <a:solidFill>
              <a:srgbClr val="0F9D8F"/>
            </a:solidFill>
          </a:ln>
        </p:spPr>
        <p:txBody>
          <a:bodyPr wrap="square" lIns="152400" tIns="152400" rIns="152400" bIns="152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4   Transport</a:t>
            </a:r>
            <a:endParaRPr lang="en-US" sz="1400" dirty="0"/>
          </a:p>
        </p:txBody>
      </p:sp>
      <p:sp>
        <p:nvSpPr>
          <p:cNvPr id="15" name="Text 12"/>
          <p:cNvSpPr/>
          <p:nvPr/>
        </p:nvSpPr>
        <p:spPr>
          <a:xfrm>
            <a:off x="548640" y="3703320"/>
            <a:ext cx="4206240" cy="548640"/>
          </a:xfrm>
          <a:prstGeom prst="rect">
            <a:avLst>
              <a:gd name="adj" fmla="val 13333"/>
            </a:avLst>
          </a:prstGeom>
          <a:solidFill>
            <a:srgbClr val="3B82F6"/>
          </a:solidFill>
          <a:ln w="15875">
            <a:solidFill>
              <a:srgbClr val="3B82F6"/>
            </a:solidFill>
          </a:ln>
        </p:spPr>
        <p:txBody>
          <a:bodyPr wrap="square" lIns="152400" tIns="152400" rIns="152400" bIns="152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3   Network</a:t>
            </a:r>
            <a:endParaRPr lang="en-US" sz="1400" dirty="0"/>
          </a:p>
        </p:txBody>
      </p:sp>
      <p:sp>
        <p:nvSpPr>
          <p:cNvPr id="16" name="Text 13"/>
          <p:cNvSpPr/>
          <p:nvPr/>
        </p:nvSpPr>
        <p:spPr>
          <a:xfrm>
            <a:off x="548640" y="4297680"/>
            <a:ext cx="4206240" cy="548640"/>
          </a:xfrm>
          <a:prstGeom prst="rect">
            <a:avLst>
              <a:gd name="adj" fmla="val 13333"/>
            </a:avLst>
          </a:prstGeom>
          <a:solidFill>
            <a:srgbClr val="0B1F3A"/>
          </a:solidFill>
          <a:ln w="15875">
            <a:solidFill>
              <a:srgbClr val="0B1F3A"/>
            </a:solidFill>
          </a:ln>
        </p:spPr>
        <p:txBody>
          <a:bodyPr wrap="square" lIns="152400" tIns="152400" rIns="152400" bIns="152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2   Data Link</a:t>
            </a:r>
            <a:endParaRPr lang="en-US" sz="1400" dirty="0"/>
          </a:p>
        </p:txBody>
      </p:sp>
      <p:sp>
        <p:nvSpPr>
          <p:cNvPr id="17" name="Text 14"/>
          <p:cNvSpPr/>
          <p:nvPr/>
        </p:nvSpPr>
        <p:spPr>
          <a:xfrm>
            <a:off x="548640" y="4892040"/>
            <a:ext cx="4206240" cy="548640"/>
          </a:xfrm>
          <a:prstGeom prst="rect">
            <a:avLst>
              <a:gd name="adj" fmla="val 13333"/>
            </a:avLst>
          </a:prstGeom>
          <a:solidFill>
            <a:srgbClr val="475569"/>
          </a:solidFill>
          <a:ln w="15875">
            <a:solidFill>
              <a:srgbClr val="475569"/>
            </a:solidFill>
          </a:ln>
        </p:spPr>
        <p:txBody>
          <a:bodyPr wrap="square" lIns="152400" tIns="152400" rIns="152400" bIns="152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1   Physical</a:t>
            </a:r>
            <a:endParaRPr lang="en-US" sz="1400" dirty="0"/>
          </a:p>
        </p:txBody>
      </p:sp>
      <p:sp>
        <p:nvSpPr>
          <p:cNvPr id="18" name="Text 15"/>
          <p:cNvSpPr/>
          <p:nvPr/>
        </p:nvSpPr>
        <p:spPr>
          <a:xfrm>
            <a:off x="5029200" y="1325880"/>
            <a:ext cx="2926080" cy="1737360"/>
          </a:xfrm>
          <a:prstGeom prst="rect">
            <a:avLst>
              <a:gd name="adj" fmla="val 4211"/>
            </a:avLst>
          </a:prstGeom>
          <a:solidFill>
            <a:srgbClr val="7C5CFC"/>
          </a:solidFill>
          <a:ln w="15875">
            <a:solidFill>
              <a:srgbClr val="7C5CFC"/>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Application</a:t>
            </a:r>
            <a:endParaRPr lang="en-US" sz="1600" dirty="0"/>
          </a:p>
        </p:txBody>
      </p:sp>
      <p:sp>
        <p:nvSpPr>
          <p:cNvPr id="19" name="Text 16"/>
          <p:cNvSpPr/>
          <p:nvPr/>
        </p:nvSpPr>
        <p:spPr>
          <a:xfrm>
            <a:off x="8138160" y="1325880"/>
            <a:ext cx="3474720" cy="1737360"/>
          </a:xfrm>
          <a:prstGeom prst="rect">
            <a:avLst>
              <a:gd name="adj" fmla="val 4211"/>
            </a:avLst>
          </a:prstGeom>
          <a:solidFill>
            <a:srgbClr val="FFFFFF"/>
          </a:solidFill>
          <a:ln w="15875">
            <a:solidFill>
              <a:srgbClr val="7C5CFC"/>
            </a:solidFill>
          </a:ln>
        </p:spPr>
        <p:txBody>
          <a:bodyPr wrap="square" lIns="127000" tIns="127000" rIns="127000" bIns="1270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HTTP, FTP, DNS, SMTP, TLS, JSON. User-facing software, data formatting, encryption, sessions.</a:t>
            </a:r>
            <a:endParaRPr lang="en-US" sz="1200" dirty="0"/>
          </a:p>
        </p:txBody>
      </p:sp>
      <p:sp>
        <p:nvSpPr>
          <p:cNvPr id="20" name="Text 17"/>
          <p:cNvSpPr/>
          <p:nvPr/>
        </p:nvSpPr>
        <p:spPr>
          <a:xfrm>
            <a:off x="5029200" y="3108960"/>
            <a:ext cx="292608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Transport</a:t>
            </a:r>
            <a:endParaRPr lang="en-US" sz="1600" dirty="0"/>
          </a:p>
        </p:txBody>
      </p:sp>
      <p:sp>
        <p:nvSpPr>
          <p:cNvPr id="21" name="Text 18"/>
          <p:cNvSpPr/>
          <p:nvPr/>
        </p:nvSpPr>
        <p:spPr>
          <a:xfrm>
            <a:off x="8138160" y="3108960"/>
            <a:ext cx="3474720" cy="548640"/>
          </a:xfrm>
          <a:prstGeom prst="rect">
            <a:avLst>
              <a:gd name="adj" fmla="val 13333"/>
            </a:avLst>
          </a:prstGeom>
          <a:solidFill>
            <a:srgbClr val="FFFFFF"/>
          </a:solidFill>
          <a:ln w="15875">
            <a:solidFill>
              <a:srgbClr val="0F9D8F"/>
            </a:solidFill>
          </a:ln>
        </p:spPr>
        <p:txBody>
          <a:bodyPr wrap="square" lIns="127000" tIns="127000" rIns="127000" bIns="1270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TCP (reliable), UDP (fast). End-to-end delivery and flow control.</a:t>
            </a:r>
            <a:endParaRPr lang="en-US" sz="1200" dirty="0"/>
          </a:p>
        </p:txBody>
      </p:sp>
      <p:sp>
        <p:nvSpPr>
          <p:cNvPr id="22" name="Text 19"/>
          <p:cNvSpPr/>
          <p:nvPr/>
        </p:nvSpPr>
        <p:spPr>
          <a:xfrm>
            <a:off x="5029200" y="3703320"/>
            <a:ext cx="2926080" cy="548640"/>
          </a:xfrm>
          <a:prstGeom prst="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Internet</a:t>
            </a:r>
            <a:endParaRPr lang="en-US" sz="1600" dirty="0"/>
          </a:p>
        </p:txBody>
      </p:sp>
      <p:sp>
        <p:nvSpPr>
          <p:cNvPr id="23" name="Text 20"/>
          <p:cNvSpPr/>
          <p:nvPr/>
        </p:nvSpPr>
        <p:spPr>
          <a:xfrm>
            <a:off x="8138160" y="3703320"/>
            <a:ext cx="3474720" cy="548640"/>
          </a:xfrm>
          <a:prstGeom prst="rect">
            <a:avLst>
              <a:gd name="adj" fmla="val 13333"/>
            </a:avLst>
          </a:prstGeom>
          <a:solidFill>
            <a:srgbClr val="FFFFFF"/>
          </a:solidFill>
          <a:ln w="15875">
            <a:solidFill>
              <a:srgbClr val="3B82F6"/>
            </a:solidFill>
          </a:ln>
        </p:spPr>
        <p:txBody>
          <a:bodyPr wrap="square" lIns="127000" tIns="127000" rIns="127000" bIns="1270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IP, ICMP. Addressing and routing across networks.</a:t>
            </a:r>
            <a:endParaRPr lang="en-US" sz="1200" dirty="0"/>
          </a:p>
        </p:txBody>
      </p:sp>
      <p:sp>
        <p:nvSpPr>
          <p:cNvPr id="24" name="Text 21"/>
          <p:cNvSpPr/>
          <p:nvPr/>
        </p:nvSpPr>
        <p:spPr>
          <a:xfrm>
            <a:off x="5029200" y="4297680"/>
            <a:ext cx="2926080" cy="1143000"/>
          </a:xfrm>
          <a:prstGeom prst="rect">
            <a:avLst>
              <a:gd name="adj" fmla="val 6400"/>
            </a:avLst>
          </a:prstGeom>
          <a:solidFill>
            <a:srgbClr val="0B1F3A"/>
          </a:solidFill>
          <a:ln w="15875">
            <a:solidFill>
              <a:srgbClr val="0B1F3A"/>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Network Access</a:t>
            </a:r>
            <a:endParaRPr lang="en-US" sz="1600" dirty="0"/>
          </a:p>
        </p:txBody>
      </p:sp>
      <p:sp>
        <p:nvSpPr>
          <p:cNvPr id="25" name="Text 22"/>
          <p:cNvSpPr/>
          <p:nvPr/>
        </p:nvSpPr>
        <p:spPr>
          <a:xfrm>
            <a:off x="8138160" y="4297680"/>
            <a:ext cx="3474720" cy="1143000"/>
          </a:xfrm>
          <a:prstGeom prst="rect">
            <a:avLst>
              <a:gd name="adj" fmla="val 6400"/>
            </a:avLst>
          </a:prstGeom>
          <a:solidFill>
            <a:srgbClr val="FFFFFF"/>
          </a:solidFill>
          <a:ln w="15875">
            <a:solidFill>
              <a:srgbClr val="0B1F3A"/>
            </a:solidFill>
          </a:ln>
        </p:spPr>
        <p:txBody>
          <a:bodyPr wrap="square" lIns="127000" tIns="127000" rIns="127000" bIns="1270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Ethernet, Wi-Fi. MAC addresses, framing, bits on the wire.</a:t>
            </a:r>
            <a:endParaRPr lang="en-US" sz="1200" dirty="0"/>
          </a:p>
        </p:txBody>
      </p:sp>
      <p:sp>
        <p:nvSpPr>
          <p:cNvPr id="26" name="Shape 23"/>
          <p:cNvSpPr/>
          <p:nvPr/>
        </p:nvSpPr>
        <p:spPr>
          <a:xfrm>
            <a:off x="457200" y="5577840"/>
            <a:ext cx="82296" cy="548640"/>
          </a:xfrm>
          <a:prstGeom prst="rect">
            <a:avLst/>
          </a:prstGeom>
          <a:solidFill>
            <a:srgbClr val="F59E0B"/>
          </a:solidFill>
          <a:ln/>
        </p:spPr>
      </p:sp>
      <p:sp>
        <p:nvSpPr>
          <p:cNvPr id="27" name="Text 24"/>
          <p:cNvSpPr/>
          <p:nvPr/>
        </p:nvSpPr>
        <p:spPr>
          <a:xfrm>
            <a:off x="594360" y="557784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OSI is the common language for troubleshooting ("a layer 7 issue"). TCP/IP is what the Internet actually runs. Your API tests live at layer 7.</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Encapsulation: each layer wraps the data in its own envelope</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
        <p:nvSpPr>
          <p:cNvPr id="8" name="Text 5"/>
          <p:cNvSpPr/>
          <p:nvPr/>
        </p:nvSpPr>
        <p:spPr>
          <a:xfrm>
            <a:off x="548640" y="1097280"/>
            <a:ext cx="1920240" cy="228600"/>
          </a:xfrm>
          <a:prstGeom prst="rect">
            <a:avLst/>
          </a:prstGeom>
          <a:noFill/>
          <a:ln/>
        </p:spPr>
        <p:txBody>
          <a:bodyPr wrap="square" lIns="508" tIns="508" rIns="508" bIns="508"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LAYER</a:t>
            </a:r>
            <a:endParaRPr lang="en-US" sz="1000" dirty="0"/>
          </a:p>
        </p:txBody>
      </p:sp>
      <p:sp>
        <p:nvSpPr>
          <p:cNvPr id="9" name="Text 6"/>
          <p:cNvSpPr/>
          <p:nvPr/>
        </p:nvSpPr>
        <p:spPr>
          <a:xfrm>
            <a:off x="2560320" y="1097280"/>
            <a:ext cx="1371600" cy="228600"/>
          </a:xfrm>
          <a:prstGeom prst="rect">
            <a:avLst/>
          </a:prstGeom>
          <a:noFill/>
          <a:ln/>
        </p:spPr>
        <p:txBody>
          <a:bodyPr wrap="square" lIns="508" tIns="508" rIns="508" bIns="508"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UNIT</a:t>
            </a:r>
            <a:endParaRPr lang="en-US" sz="1000" dirty="0"/>
          </a:p>
        </p:txBody>
      </p:sp>
      <p:sp>
        <p:nvSpPr>
          <p:cNvPr id="10" name="Text 7"/>
          <p:cNvSpPr/>
          <p:nvPr/>
        </p:nvSpPr>
        <p:spPr>
          <a:xfrm>
            <a:off x="4069080" y="1097280"/>
            <a:ext cx="4572000" cy="228600"/>
          </a:xfrm>
          <a:prstGeom prst="rect">
            <a:avLst/>
          </a:prstGeom>
          <a:noFill/>
          <a:ln/>
        </p:spPr>
        <p:txBody>
          <a:bodyPr wrap="square" lIns="508" tIns="508" rIns="508" bIns="508"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WHAT GETS WRAPPED AROUND THE DATA</a:t>
            </a:r>
            <a:endParaRPr lang="en-US" sz="1000" dirty="0"/>
          </a:p>
        </p:txBody>
      </p:sp>
      <p:sp>
        <p:nvSpPr>
          <p:cNvPr id="11" name="Text 8"/>
          <p:cNvSpPr/>
          <p:nvPr/>
        </p:nvSpPr>
        <p:spPr>
          <a:xfrm>
            <a:off x="9006840" y="1097280"/>
            <a:ext cx="2743200" cy="228600"/>
          </a:xfrm>
          <a:prstGeom prst="rect">
            <a:avLst/>
          </a:prstGeom>
          <a:noFill/>
          <a:ln/>
        </p:spPr>
        <p:txBody>
          <a:bodyPr wrap="square" lIns="508" tIns="508" rIns="508" bIns="508"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WHAT THIS LAYER ADDS</a:t>
            </a:r>
            <a:endParaRPr lang="en-US" sz="1000" dirty="0"/>
          </a:p>
        </p:txBody>
      </p:sp>
      <p:sp>
        <p:nvSpPr>
          <p:cNvPr id="12" name="Text 9"/>
          <p:cNvSpPr/>
          <p:nvPr/>
        </p:nvSpPr>
        <p:spPr>
          <a:xfrm>
            <a:off x="548640" y="1371600"/>
            <a:ext cx="1920240" cy="685800"/>
          </a:xfrm>
          <a:prstGeom prst="rect">
            <a:avLst>
              <a:gd name="adj" fmla="val 10667"/>
            </a:avLst>
          </a:prstGeom>
          <a:solidFill>
            <a:srgbClr val="7C5CFC"/>
          </a:solidFill>
          <a:ln w="15875">
            <a:solidFill>
              <a:srgbClr val="7C5CFC"/>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Application</a:t>
            </a:r>
            <a:endParaRPr lang="en-US" sz="1400" dirty="0"/>
          </a:p>
        </p:txBody>
      </p:sp>
      <p:sp>
        <p:nvSpPr>
          <p:cNvPr id="13" name="Text 10"/>
          <p:cNvSpPr/>
          <p:nvPr/>
        </p:nvSpPr>
        <p:spPr>
          <a:xfrm>
            <a:off x="2560320" y="1371600"/>
            <a:ext cx="1371600" cy="685800"/>
          </a:xfrm>
          <a:prstGeom prst="rect">
            <a:avLst>
              <a:gd name="adj" fmla="val 10667"/>
            </a:avLst>
          </a:prstGeom>
          <a:solidFill>
            <a:srgbClr val="FFFFFF"/>
          </a:solidFill>
          <a:ln w="15875">
            <a:solidFill>
              <a:srgbClr val="7C5CFC"/>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Data / message</a:t>
            </a:r>
            <a:endParaRPr lang="en-US" sz="1300" dirty="0"/>
          </a:p>
        </p:txBody>
      </p:sp>
      <p:sp>
        <p:nvSpPr>
          <p:cNvPr id="14" name="Text 11"/>
          <p:cNvSpPr/>
          <p:nvPr/>
        </p:nvSpPr>
        <p:spPr>
          <a:xfrm>
            <a:off x="4069080" y="1371600"/>
            <a:ext cx="1188720" cy="685800"/>
          </a:xfrm>
          <a:prstGeom prst="rect">
            <a:avLst>
              <a:gd name="adj" fmla="val 10667"/>
            </a:avLst>
          </a:prstGeom>
          <a:solidFill>
            <a:srgbClr val="7C5CFC"/>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HTTP data</a:t>
            </a:r>
            <a:endParaRPr lang="en-US" sz="1100" dirty="0"/>
          </a:p>
        </p:txBody>
      </p:sp>
      <p:sp>
        <p:nvSpPr>
          <p:cNvPr id="15" name="Text 12"/>
          <p:cNvSpPr/>
          <p:nvPr/>
        </p:nvSpPr>
        <p:spPr>
          <a:xfrm>
            <a:off x="9006840" y="1371600"/>
            <a:ext cx="2651760" cy="685800"/>
          </a:xfrm>
          <a:prstGeom prst="rect">
            <a:avLst/>
          </a:prstGeom>
          <a:noFill/>
          <a:ln/>
        </p:spPr>
        <p:txBody>
          <a:bodyPr wrap="square" lIns="508" tIns="508" rIns="508" bIns="508"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The HTTP request itself</a:t>
            </a:r>
            <a:endParaRPr lang="en-US" sz="1200" dirty="0"/>
          </a:p>
        </p:txBody>
      </p:sp>
      <p:sp>
        <p:nvSpPr>
          <p:cNvPr id="16" name="Shape 13"/>
          <p:cNvSpPr/>
          <p:nvPr/>
        </p:nvSpPr>
        <p:spPr>
          <a:xfrm>
            <a:off x="1508760" y="2057400"/>
            <a:ext cx="0" cy="118872"/>
          </a:xfrm>
          <a:prstGeom prst="line">
            <a:avLst/>
          </a:prstGeom>
          <a:noFill/>
          <a:ln w="25400">
            <a:solidFill>
              <a:srgbClr val="64748B"/>
            </a:solidFill>
            <a:prstDash val="solid"/>
            <a:tailEnd type="triangle"/>
          </a:ln>
        </p:spPr>
      </p:sp>
      <p:sp>
        <p:nvSpPr>
          <p:cNvPr id="17" name="Text 14"/>
          <p:cNvSpPr/>
          <p:nvPr/>
        </p:nvSpPr>
        <p:spPr>
          <a:xfrm>
            <a:off x="548640" y="2176272"/>
            <a:ext cx="1920240" cy="685800"/>
          </a:xfrm>
          <a:prstGeom prst="rect">
            <a:avLst>
              <a:gd name="adj" fmla="val 10667"/>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Transport (TCP)</a:t>
            </a:r>
            <a:endParaRPr lang="en-US" sz="1400" dirty="0"/>
          </a:p>
        </p:txBody>
      </p:sp>
      <p:sp>
        <p:nvSpPr>
          <p:cNvPr id="18" name="Text 15"/>
          <p:cNvSpPr/>
          <p:nvPr/>
        </p:nvSpPr>
        <p:spPr>
          <a:xfrm>
            <a:off x="2560320" y="2176272"/>
            <a:ext cx="1371600" cy="685800"/>
          </a:xfrm>
          <a:prstGeom prst="rect">
            <a:avLst>
              <a:gd name="adj" fmla="val 10667"/>
            </a:avLst>
          </a:prstGeom>
          <a:solidFill>
            <a:srgbClr val="FFFFFF"/>
          </a:solidFill>
          <a:ln w="15875">
            <a:solidFill>
              <a:srgbClr val="0F9D8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Segment</a:t>
            </a:r>
            <a:endParaRPr lang="en-US" sz="1300" dirty="0"/>
          </a:p>
        </p:txBody>
      </p:sp>
      <p:sp>
        <p:nvSpPr>
          <p:cNvPr id="19" name="Text 16"/>
          <p:cNvSpPr/>
          <p:nvPr/>
        </p:nvSpPr>
        <p:spPr>
          <a:xfrm>
            <a:off x="4069080" y="2176272"/>
            <a:ext cx="777240" cy="685800"/>
          </a:xfrm>
          <a:prstGeom prst="rect">
            <a:avLst>
              <a:gd name="adj" fmla="val 10667"/>
            </a:avLst>
          </a:prstGeom>
          <a:solidFill>
            <a:srgbClr val="0F9D8F"/>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TCP hdr</a:t>
            </a:r>
            <a:endParaRPr lang="en-US" sz="1100" dirty="0"/>
          </a:p>
        </p:txBody>
      </p:sp>
      <p:sp>
        <p:nvSpPr>
          <p:cNvPr id="20" name="Text 17"/>
          <p:cNvSpPr/>
          <p:nvPr/>
        </p:nvSpPr>
        <p:spPr>
          <a:xfrm>
            <a:off x="4882896" y="2176272"/>
            <a:ext cx="1188720" cy="685800"/>
          </a:xfrm>
          <a:prstGeom prst="rect">
            <a:avLst>
              <a:gd name="adj" fmla="val 10667"/>
            </a:avLst>
          </a:prstGeom>
          <a:solidFill>
            <a:srgbClr val="7C5CFC"/>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HTTP data</a:t>
            </a:r>
            <a:endParaRPr lang="en-US" sz="1100" dirty="0"/>
          </a:p>
        </p:txBody>
      </p:sp>
      <p:sp>
        <p:nvSpPr>
          <p:cNvPr id="21" name="Text 18"/>
          <p:cNvSpPr/>
          <p:nvPr/>
        </p:nvSpPr>
        <p:spPr>
          <a:xfrm>
            <a:off x="9006840" y="2176272"/>
            <a:ext cx="2651760" cy="685800"/>
          </a:xfrm>
          <a:prstGeom prst="rect">
            <a:avLst/>
          </a:prstGeom>
          <a:noFill/>
          <a:ln/>
        </p:spPr>
        <p:txBody>
          <a:bodyPr wrap="square" lIns="508" tIns="508" rIns="508" bIns="508"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Ports, sequence numbers, ACKs, flow control</a:t>
            </a:r>
            <a:endParaRPr lang="en-US" sz="1200" dirty="0"/>
          </a:p>
        </p:txBody>
      </p:sp>
      <p:sp>
        <p:nvSpPr>
          <p:cNvPr id="22" name="Shape 19"/>
          <p:cNvSpPr/>
          <p:nvPr/>
        </p:nvSpPr>
        <p:spPr>
          <a:xfrm>
            <a:off x="1508760" y="2862072"/>
            <a:ext cx="0" cy="118872"/>
          </a:xfrm>
          <a:prstGeom prst="line">
            <a:avLst/>
          </a:prstGeom>
          <a:noFill/>
          <a:ln w="25400">
            <a:solidFill>
              <a:srgbClr val="64748B"/>
            </a:solidFill>
            <a:prstDash val="solid"/>
            <a:tailEnd type="triangle"/>
          </a:ln>
        </p:spPr>
      </p:sp>
      <p:sp>
        <p:nvSpPr>
          <p:cNvPr id="23" name="Text 20"/>
          <p:cNvSpPr/>
          <p:nvPr/>
        </p:nvSpPr>
        <p:spPr>
          <a:xfrm>
            <a:off x="548640" y="2980944"/>
            <a:ext cx="1920240" cy="685800"/>
          </a:xfrm>
          <a:prstGeom prst="rect">
            <a:avLst>
              <a:gd name="adj" fmla="val 10667"/>
            </a:avLst>
          </a:prstGeom>
          <a:solidFill>
            <a:srgbClr val="3B82F6"/>
          </a:solidFill>
          <a:ln w="15875">
            <a:solidFill>
              <a:srgbClr val="3B82F6"/>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Internet (IP)</a:t>
            </a:r>
            <a:endParaRPr lang="en-US" sz="1400" dirty="0"/>
          </a:p>
        </p:txBody>
      </p:sp>
      <p:sp>
        <p:nvSpPr>
          <p:cNvPr id="24" name="Text 21"/>
          <p:cNvSpPr/>
          <p:nvPr/>
        </p:nvSpPr>
        <p:spPr>
          <a:xfrm>
            <a:off x="2560320" y="2980944"/>
            <a:ext cx="1371600" cy="685800"/>
          </a:xfrm>
          <a:prstGeom prst="rect">
            <a:avLst>
              <a:gd name="adj" fmla="val 10667"/>
            </a:avLst>
          </a:prstGeom>
          <a:solidFill>
            <a:srgbClr val="FFFFFF"/>
          </a:solidFill>
          <a:ln w="15875">
            <a:solidFill>
              <a:srgbClr val="3B82F6"/>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Packet</a:t>
            </a:r>
            <a:endParaRPr lang="en-US" sz="1300" dirty="0"/>
          </a:p>
        </p:txBody>
      </p:sp>
      <p:sp>
        <p:nvSpPr>
          <p:cNvPr id="25" name="Text 22"/>
          <p:cNvSpPr/>
          <p:nvPr/>
        </p:nvSpPr>
        <p:spPr>
          <a:xfrm>
            <a:off x="4069080" y="2980944"/>
            <a:ext cx="731520" cy="685800"/>
          </a:xfrm>
          <a:prstGeom prst="rect">
            <a:avLst>
              <a:gd name="adj" fmla="val 10667"/>
            </a:avLst>
          </a:prstGeom>
          <a:solidFill>
            <a:srgbClr val="3B82F6"/>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IP hdr</a:t>
            </a:r>
            <a:endParaRPr lang="en-US" sz="1100" dirty="0"/>
          </a:p>
        </p:txBody>
      </p:sp>
      <p:sp>
        <p:nvSpPr>
          <p:cNvPr id="26" name="Text 23"/>
          <p:cNvSpPr/>
          <p:nvPr/>
        </p:nvSpPr>
        <p:spPr>
          <a:xfrm>
            <a:off x="4837176" y="2980944"/>
            <a:ext cx="777240" cy="685800"/>
          </a:xfrm>
          <a:prstGeom prst="rect">
            <a:avLst>
              <a:gd name="adj" fmla="val 10667"/>
            </a:avLst>
          </a:prstGeom>
          <a:solidFill>
            <a:srgbClr val="0F9D8F"/>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TCP hdr</a:t>
            </a:r>
            <a:endParaRPr lang="en-US" sz="1100" dirty="0"/>
          </a:p>
        </p:txBody>
      </p:sp>
      <p:sp>
        <p:nvSpPr>
          <p:cNvPr id="27" name="Text 24"/>
          <p:cNvSpPr/>
          <p:nvPr/>
        </p:nvSpPr>
        <p:spPr>
          <a:xfrm>
            <a:off x="5650992" y="2980944"/>
            <a:ext cx="1188720" cy="685800"/>
          </a:xfrm>
          <a:prstGeom prst="rect">
            <a:avLst>
              <a:gd name="adj" fmla="val 10667"/>
            </a:avLst>
          </a:prstGeom>
          <a:solidFill>
            <a:srgbClr val="7C5CFC"/>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HTTP data</a:t>
            </a:r>
            <a:endParaRPr lang="en-US" sz="1100" dirty="0"/>
          </a:p>
        </p:txBody>
      </p:sp>
      <p:sp>
        <p:nvSpPr>
          <p:cNvPr id="28" name="Text 25"/>
          <p:cNvSpPr/>
          <p:nvPr/>
        </p:nvSpPr>
        <p:spPr>
          <a:xfrm>
            <a:off x="9006840" y="2980944"/>
            <a:ext cx="2651760" cy="685800"/>
          </a:xfrm>
          <a:prstGeom prst="rect">
            <a:avLst/>
          </a:prstGeom>
          <a:noFill/>
          <a:ln/>
        </p:spPr>
        <p:txBody>
          <a:bodyPr wrap="square" lIns="508" tIns="508" rIns="508" bIns="508"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Source and destination IP address, TTL</a:t>
            </a:r>
            <a:endParaRPr lang="en-US" sz="1200" dirty="0"/>
          </a:p>
        </p:txBody>
      </p:sp>
      <p:sp>
        <p:nvSpPr>
          <p:cNvPr id="29" name="Shape 26"/>
          <p:cNvSpPr/>
          <p:nvPr/>
        </p:nvSpPr>
        <p:spPr>
          <a:xfrm>
            <a:off x="1508760" y="3666744"/>
            <a:ext cx="0" cy="118872"/>
          </a:xfrm>
          <a:prstGeom prst="line">
            <a:avLst/>
          </a:prstGeom>
          <a:noFill/>
          <a:ln w="25400">
            <a:solidFill>
              <a:srgbClr val="64748B"/>
            </a:solidFill>
            <a:prstDash val="solid"/>
            <a:tailEnd type="triangle"/>
          </a:ln>
        </p:spPr>
      </p:sp>
      <p:sp>
        <p:nvSpPr>
          <p:cNvPr id="30" name="Text 27"/>
          <p:cNvSpPr/>
          <p:nvPr/>
        </p:nvSpPr>
        <p:spPr>
          <a:xfrm>
            <a:off x="548640" y="3785616"/>
            <a:ext cx="192024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Link</a:t>
            </a:r>
            <a:endParaRPr lang="en-US" sz="1400" dirty="0"/>
          </a:p>
        </p:txBody>
      </p:sp>
      <p:sp>
        <p:nvSpPr>
          <p:cNvPr id="31" name="Text 28"/>
          <p:cNvSpPr/>
          <p:nvPr/>
        </p:nvSpPr>
        <p:spPr>
          <a:xfrm>
            <a:off x="2560320" y="3785616"/>
            <a:ext cx="1371600" cy="685800"/>
          </a:xfrm>
          <a:prstGeom prst="rect">
            <a:avLst>
              <a:gd name="adj" fmla="val 10667"/>
            </a:avLst>
          </a:prstGeom>
          <a:solidFill>
            <a:srgbClr val="FFFFFF"/>
          </a:solidFill>
          <a:ln w="15875">
            <a:solidFill>
              <a:srgbClr val="0B1F3A"/>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Frame</a:t>
            </a:r>
            <a:endParaRPr lang="en-US" sz="1300" dirty="0"/>
          </a:p>
        </p:txBody>
      </p:sp>
      <p:sp>
        <p:nvSpPr>
          <p:cNvPr id="32" name="Text 29"/>
          <p:cNvSpPr/>
          <p:nvPr/>
        </p:nvSpPr>
        <p:spPr>
          <a:xfrm>
            <a:off x="4069080" y="3785616"/>
            <a:ext cx="868680" cy="685800"/>
          </a:xfrm>
          <a:prstGeom prst="rect">
            <a:avLst>
              <a:gd name="adj" fmla="val 10667"/>
            </a:avLst>
          </a:prstGeom>
          <a:solidFill>
            <a:srgbClr val="0B1F3A"/>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MAC hdr</a:t>
            </a:r>
            <a:endParaRPr lang="en-US" sz="1100" dirty="0"/>
          </a:p>
        </p:txBody>
      </p:sp>
      <p:sp>
        <p:nvSpPr>
          <p:cNvPr id="33" name="Text 30"/>
          <p:cNvSpPr/>
          <p:nvPr/>
        </p:nvSpPr>
        <p:spPr>
          <a:xfrm>
            <a:off x="4974336" y="3785616"/>
            <a:ext cx="731520" cy="685800"/>
          </a:xfrm>
          <a:prstGeom prst="rect">
            <a:avLst>
              <a:gd name="adj" fmla="val 10667"/>
            </a:avLst>
          </a:prstGeom>
          <a:solidFill>
            <a:srgbClr val="3B82F6"/>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IP hdr</a:t>
            </a:r>
            <a:endParaRPr lang="en-US" sz="1100" dirty="0"/>
          </a:p>
        </p:txBody>
      </p:sp>
      <p:sp>
        <p:nvSpPr>
          <p:cNvPr id="34" name="Text 31"/>
          <p:cNvSpPr/>
          <p:nvPr/>
        </p:nvSpPr>
        <p:spPr>
          <a:xfrm>
            <a:off x="5742432" y="3785616"/>
            <a:ext cx="777240" cy="685800"/>
          </a:xfrm>
          <a:prstGeom prst="rect">
            <a:avLst>
              <a:gd name="adj" fmla="val 10667"/>
            </a:avLst>
          </a:prstGeom>
          <a:solidFill>
            <a:srgbClr val="0F9D8F"/>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TCP hdr</a:t>
            </a:r>
            <a:endParaRPr lang="en-US" sz="1100" dirty="0"/>
          </a:p>
        </p:txBody>
      </p:sp>
      <p:sp>
        <p:nvSpPr>
          <p:cNvPr id="35" name="Text 32"/>
          <p:cNvSpPr/>
          <p:nvPr/>
        </p:nvSpPr>
        <p:spPr>
          <a:xfrm>
            <a:off x="6556248" y="3785616"/>
            <a:ext cx="1188720" cy="685800"/>
          </a:xfrm>
          <a:prstGeom prst="rect">
            <a:avLst>
              <a:gd name="adj" fmla="val 10667"/>
            </a:avLst>
          </a:prstGeom>
          <a:solidFill>
            <a:srgbClr val="7C5CFC"/>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HTTP data</a:t>
            </a:r>
            <a:endParaRPr lang="en-US" sz="1100" dirty="0"/>
          </a:p>
        </p:txBody>
      </p:sp>
      <p:sp>
        <p:nvSpPr>
          <p:cNvPr id="36" name="Text 33"/>
          <p:cNvSpPr/>
          <p:nvPr/>
        </p:nvSpPr>
        <p:spPr>
          <a:xfrm>
            <a:off x="7781544" y="3785616"/>
            <a:ext cx="548640" cy="685800"/>
          </a:xfrm>
          <a:prstGeom prst="rect">
            <a:avLst>
              <a:gd name="adj" fmla="val 13333"/>
            </a:avLst>
          </a:prstGeom>
          <a:solidFill>
            <a:srgbClr val="64748B"/>
          </a:solidFill>
          <a:ln w="15875">
            <a:solidFill>
              <a:srgbClr val="FFFFFF"/>
            </a:solidFill>
          </a:ln>
        </p:spPr>
        <p:txBody>
          <a:bodyPr wrap="square" lIns="1016" tIns="1016" rIns="1016" bIns="1016"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FCS</a:t>
            </a:r>
            <a:endParaRPr lang="en-US" sz="1100" dirty="0"/>
          </a:p>
        </p:txBody>
      </p:sp>
      <p:sp>
        <p:nvSpPr>
          <p:cNvPr id="37" name="Text 34"/>
          <p:cNvSpPr/>
          <p:nvPr/>
        </p:nvSpPr>
        <p:spPr>
          <a:xfrm>
            <a:off x="9006840" y="3785616"/>
            <a:ext cx="2651760" cy="685800"/>
          </a:xfrm>
          <a:prstGeom prst="rect">
            <a:avLst/>
          </a:prstGeom>
          <a:noFill/>
          <a:ln/>
        </p:spPr>
        <p:txBody>
          <a:bodyPr wrap="square" lIns="508" tIns="508" rIns="508" bIns="508"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Source and destination MAC address, FCS checksum</a:t>
            </a:r>
            <a:endParaRPr lang="en-US" sz="1200" dirty="0"/>
          </a:p>
        </p:txBody>
      </p:sp>
      <p:sp>
        <p:nvSpPr>
          <p:cNvPr id="38" name="Text 35"/>
          <p:cNvSpPr/>
          <p:nvPr/>
        </p:nvSpPr>
        <p:spPr>
          <a:xfrm>
            <a:off x="548640" y="4617720"/>
            <a:ext cx="11064240" cy="502920"/>
          </a:xfrm>
          <a:prstGeom prst="rect">
            <a:avLst>
              <a:gd name="adj" fmla="val 14545"/>
            </a:avLst>
          </a:prstGeom>
          <a:solidFill>
            <a:srgbClr val="111827"/>
          </a:solidFill>
          <a:ln w="15875">
            <a:solidFill>
              <a:srgbClr val="111827"/>
            </a:solidFill>
          </a:ln>
        </p:spPr>
        <p:txBody>
          <a:bodyPr wrap="square" lIns="1016" tIns="1016" rIns="1016" bIns="1016" rtlCol="0" anchor="ctr"/>
          <a:lstStyle/>
          <a:p>
            <a:pPr algn="ctr" indent="0" marL="0">
              <a:buNone/>
            </a:pPr>
            <a:r>
              <a:rPr lang="en-US" sz="1300" dirty="0">
                <a:solidFill>
                  <a:srgbClr val="86EFAC"/>
                </a:solidFill>
                <a:latin typeface="Consolas" pitchFamily="34" charset="0"/>
                <a:ea typeface="Consolas" pitchFamily="34" charset="-122"/>
                <a:cs typeface="Consolas" pitchFamily="34" charset="-120"/>
              </a:rPr>
              <a:t>Physical: bits on the wire   0101 1100 1010 ...   (electrical pulses, light, radio waves)</a:t>
            </a:r>
            <a:endParaRPr lang="en-US" sz="1300" dirty="0"/>
          </a:p>
        </p:txBody>
      </p:sp>
      <p:sp>
        <p:nvSpPr>
          <p:cNvPr id="39" name="Shape 36"/>
          <p:cNvSpPr/>
          <p:nvPr/>
        </p:nvSpPr>
        <p:spPr>
          <a:xfrm>
            <a:off x="457200" y="5303520"/>
            <a:ext cx="82296" cy="548640"/>
          </a:xfrm>
          <a:prstGeom prst="rect">
            <a:avLst/>
          </a:prstGeom>
          <a:solidFill>
            <a:srgbClr val="0F9D8F"/>
          </a:solidFill>
          <a:ln/>
        </p:spPr>
      </p:sp>
      <p:sp>
        <p:nvSpPr>
          <p:cNvPr id="40" name="Text 37"/>
          <p:cNvSpPr/>
          <p:nvPr/>
        </p:nvSpPr>
        <p:spPr>
          <a:xfrm>
            <a:off x="594360" y="530352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The receiver reverses it (decapsulation): link checks FCS and strips its header, IP checks the address, TCP reorders by sequence number, the app reads the HTTP message.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Follow one request down the stack</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8" name="Text 5"/>
          <p:cNvSpPr/>
          <p:nvPr/>
        </p:nvSpPr>
        <p:spPr>
          <a:xfrm>
            <a:off x="548640" y="1143000"/>
            <a:ext cx="2697480" cy="457200"/>
          </a:xfrm>
          <a:prstGeom prst="rect">
            <a:avLst>
              <a:gd name="adj" fmla="val 16000"/>
            </a:avLst>
          </a:prstGeom>
          <a:solidFill>
            <a:srgbClr val="7C5CFC"/>
          </a:solidFill>
          <a:ln w="15875">
            <a:solidFill>
              <a:srgbClr val="7C5CFC"/>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 Application</a:t>
            </a:r>
            <a:endParaRPr lang="en-US" sz="1600" dirty="0"/>
          </a:p>
        </p:txBody>
      </p:sp>
      <p:sp>
        <p:nvSpPr>
          <p:cNvPr id="9" name="Text 6"/>
          <p:cNvSpPr/>
          <p:nvPr/>
        </p:nvSpPr>
        <p:spPr>
          <a:xfrm>
            <a:off x="548640" y="1600200"/>
            <a:ext cx="269748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HTTP request</a:t>
            </a:r>
            <a:endParaRPr lang="en-US" sz="1300" dirty="0"/>
          </a:p>
        </p:txBody>
      </p:sp>
      <p:sp>
        <p:nvSpPr>
          <p:cNvPr id="10" name="Text 7"/>
          <p:cNvSpPr/>
          <p:nvPr/>
        </p:nvSpPr>
        <p:spPr>
          <a:xfrm>
            <a:off x="548640" y="2057400"/>
            <a:ext cx="2697480" cy="1417320"/>
          </a:xfrm>
          <a:prstGeom prst="roundRect">
            <a:avLst>
              <a:gd name="adj" fmla="val 3871"/>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GET /index.html HTTP/1.1</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Host: shop.example.com</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User-Agent: Chrome</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Cookie: sid=abc123</a:t>
            </a:r>
            <a:endParaRPr lang="en-US" sz="1000" dirty="0"/>
          </a:p>
        </p:txBody>
      </p:sp>
      <p:sp>
        <p:nvSpPr>
          <p:cNvPr id="11" name="Text 8"/>
          <p:cNvSpPr/>
          <p:nvPr/>
        </p:nvSpPr>
        <p:spPr>
          <a:xfrm>
            <a:off x="548640" y="3520440"/>
            <a:ext cx="2697480" cy="502920"/>
          </a:xfrm>
          <a:prstGeom prst="rect">
            <a:avLst>
              <a:gd name="adj" fmla="val 14545"/>
            </a:avLst>
          </a:prstGeom>
          <a:solidFill>
            <a:srgbClr val="F7F9FC"/>
          </a:solidFill>
          <a:ln w="15875">
            <a:solidFill>
              <a:srgbClr val="CBD5E1"/>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Still pure HTTP. No network headers yet.</a:t>
            </a:r>
            <a:endParaRPr lang="en-US" sz="1200" dirty="0"/>
          </a:p>
        </p:txBody>
      </p:sp>
      <p:sp>
        <p:nvSpPr>
          <p:cNvPr id="12" name="Shape 9"/>
          <p:cNvSpPr/>
          <p:nvPr/>
        </p:nvSpPr>
        <p:spPr>
          <a:xfrm>
            <a:off x="3246120" y="1371600"/>
            <a:ext cx="91440" cy="0"/>
          </a:xfrm>
          <a:prstGeom prst="line">
            <a:avLst/>
          </a:prstGeom>
          <a:noFill/>
          <a:ln w="25400">
            <a:solidFill>
              <a:srgbClr val="64748B"/>
            </a:solidFill>
            <a:prstDash val="solid"/>
            <a:tailEnd type="triangle"/>
          </a:ln>
        </p:spPr>
      </p:sp>
      <p:sp>
        <p:nvSpPr>
          <p:cNvPr id="13" name="Text 10"/>
          <p:cNvSpPr/>
          <p:nvPr/>
        </p:nvSpPr>
        <p:spPr>
          <a:xfrm>
            <a:off x="3337560" y="1143000"/>
            <a:ext cx="2697480" cy="457200"/>
          </a:xfrm>
          <a:prstGeom prst="rect">
            <a:avLst>
              <a:gd name="adj" fmla="val 16000"/>
            </a:avLst>
          </a:prstGeom>
          <a:solidFill>
            <a:srgbClr val="0F9D8F"/>
          </a:solidFill>
          <a:ln w="15875">
            <a:solidFill>
              <a:srgbClr val="0F9D8F"/>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 Transport</a:t>
            </a:r>
            <a:endParaRPr lang="en-US" sz="1600" dirty="0"/>
          </a:p>
        </p:txBody>
      </p:sp>
      <p:sp>
        <p:nvSpPr>
          <p:cNvPr id="14" name="Text 11"/>
          <p:cNvSpPr/>
          <p:nvPr/>
        </p:nvSpPr>
        <p:spPr>
          <a:xfrm>
            <a:off x="3337560" y="1600200"/>
            <a:ext cx="269748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TCP segment</a:t>
            </a:r>
            <a:endParaRPr lang="en-US" sz="1300" dirty="0"/>
          </a:p>
        </p:txBody>
      </p:sp>
      <p:sp>
        <p:nvSpPr>
          <p:cNvPr id="15" name="Text 12"/>
          <p:cNvSpPr/>
          <p:nvPr/>
        </p:nvSpPr>
        <p:spPr>
          <a:xfrm>
            <a:off x="3337560" y="2057400"/>
            <a:ext cx="2697480" cy="1417320"/>
          </a:xfrm>
          <a:prstGeom prst="roundRect">
            <a:avLst>
              <a:gd name="adj" fmla="val 3871"/>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Src port: 51514</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(random, chosen by your OS)</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Dst port: 443  (HTTPS)</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Seq no. + ACK flags</a:t>
            </a:r>
            <a:endParaRPr lang="en-US" sz="1000" dirty="0"/>
          </a:p>
        </p:txBody>
      </p:sp>
      <p:sp>
        <p:nvSpPr>
          <p:cNvPr id="16" name="Text 13"/>
          <p:cNvSpPr/>
          <p:nvPr/>
        </p:nvSpPr>
        <p:spPr>
          <a:xfrm>
            <a:off x="3337560" y="3520440"/>
            <a:ext cx="2697480" cy="502920"/>
          </a:xfrm>
          <a:prstGeom prst="rect">
            <a:avLst>
              <a:gd name="adj" fmla="val 14545"/>
            </a:avLst>
          </a:prstGeom>
          <a:solidFill>
            <a:srgbClr val="F7F9FC"/>
          </a:solidFill>
          <a:ln w="15875">
            <a:solidFill>
              <a:srgbClr val="CBD5E1"/>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Data is split into numbered chunks.</a:t>
            </a:r>
            <a:endParaRPr lang="en-US" sz="1200" dirty="0"/>
          </a:p>
        </p:txBody>
      </p:sp>
      <p:sp>
        <p:nvSpPr>
          <p:cNvPr id="17" name="Shape 14"/>
          <p:cNvSpPr/>
          <p:nvPr/>
        </p:nvSpPr>
        <p:spPr>
          <a:xfrm>
            <a:off x="6035040" y="1371600"/>
            <a:ext cx="91440" cy="0"/>
          </a:xfrm>
          <a:prstGeom prst="line">
            <a:avLst/>
          </a:prstGeom>
          <a:noFill/>
          <a:ln w="25400">
            <a:solidFill>
              <a:srgbClr val="64748B"/>
            </a:solidFill>
            <a:prstDash val="solid"/>
            <a:tailEnd type="triangle"/>
          </a:ln>
        </p:spPr>
      </p:sp>
      <p:sp>
        <p:nvSpPr>
          <p:cNvPr id="18" name="Text 15"/>
          <p:cNvSpPr/>
          <p:nvPr/>
        </p:nvSpPr>
        <p:spPr>
          <a:xfrm>
            <a:off x="6126480" y="1143000"/>
            <a:ext cx="2697480" cy="457200"/>
          </a:xfrm>
          <a:prstGeom prst="rect">
            <a:avLst>
              <a:gd name="adj" fmla="val 16000"/>
            </a:avLst>
          </a:prstGeom>
          <a:solidFill>
            <a:srgbClr val="3B82F6"/>
          </a:solidFill>
          <a:ln w="15875">
            <a:solidFill>
              <a:srgbClr val="3B82F6"/>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 Internet</a:t>
            </a:r>
            <a:endParaRPr lang="en-US" sz="1600" dirty="0"/>
          </a:p>
        </p:txBody>
      </p:sp>
      <p:sp>
        <p:nvSpPr>
          <p:cNvPr id="19" name="Text 16"/>
          <p:cNvSpPr/>
          <p:nvPr/>
        </p:nvSpPr>
        <p:spPr>
          <a:xfrm>
            <a:off x="6126480" y="1600200"/>
            <a:ext cx="269748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IP packet</a:t>
            </a:r>
            <a:endParaRPr lang="en-US" sz="1300" dirty="0"/>
          </a:p>
        </p:txBody>
      </p:sp>
      <p:sp>
        <p:nvSpPr>
          <p:cNvPr id="20" name="Text 17"/>
          <p:cNvSpPr/>
          <p:nvPr/>
        </p:nvSpPr>
        <p:spPr>
          <a:xfrm>
            <a:off x="6126480" y="2057400"/>
            <a:ext cx="2697480" cy="1417320"/>
          </a:xfrm>
          <a:prstGeom prst="roundRect">
            <a:avLst>
              <a:gd name="adj" fmla="val 3871"/>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Src IP: 192.168.1.10  (you)</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Dst IP: 93.184.216.34</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(found via DNS)</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TTL: 64</a:t>
            </a:r>
            <a:endParaRPr lang="en-US" sz="1000" dirty="0"/>
          </a:p>
        </p:txBody>
      </p:sp>
      <p:sp>
        <p:nvSpPr>
          <p:cNvPr id="21" name="Text 18"/>
          <p:cNvSpPr/>
          <p:nvPr/>
        </p:nvSpPr>
        <p:spPr>
          <a:xfrm>
            <a:off x="6126480" y="3520440"/>
            <a:ext cx="2697480" cy="502920"/>
          </a:xfrm>
          <a:prstGeom prst="rect">
            <a:avLst>
              <a:gd name="adj" fmla="val 14545"/>
            </a:avLst>
          </a:prstGeom>
          <a:solidFill>
            <a:srgbClr val="F7F9FC"/>
          </a:solidFill>
          <a:ln w="15875">
            <a:solidFill>
              <a:srgbClr val="CBD5E1"/>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End-to-end addresses: you to the server.</a:t>
            </a:r>
            <a:endParaRPr lang="en-US" sz="1200" dirty="0"/>
          </a:p>
        </p:txBody>
      </p:sp>
      <p:sp>
        <p:nvSpPr>
          <p:cNvPr id="22" name="Shape 19"/>
          <p:cNvSpPr/>
          <p:nvPr/>
        </p:nvSpPr>
        <p:spPr>
          <a:xfrm>
            <a:off x="8823960" y="1371600"/>
            <a:ext cx="91440" cy="0"/>
          </a:xfrm>
          <a:prstGeom prst="line">
            <a:avLst/>
          </a:prstGeom>
          <a:noFill/>
          <a:ln w="25400">
            <a:solidFill>
              <a:srgbClr val="64748B"/>
            </a:solidFill>
            <a:prstDash val="solid"/>
            <a:tailEnd type="triangle"/>
          </a:ln>
        </p:spPr>
      </p:sp>
      <p:sp>
        <p:nvSpPr>
          <p:cNvPr id="23" name="Text 20"/>
          <p:cNvSpPr/>
          <p:nvPr/>
        </p:nvSpPr>
        <p:spPr>
          <a:xfrm>
            <a:off x="8915400" y="1143000"/>
            <a:ext cx="2697480" cy="457200"/>
          </a:xfrm>
          <a:prstGeom prst="rect">
            <a:avLst>
              <a:gd name="adj" fmla="val 16000"/>
            </a:avLst>
          </a:prstGeom>
          <a:solidFill>
            <a:srgbClr val="0B1F3A"/>
          </a:solidFill>
          <a:ln w="15875">
            <a:solidFill>
              <a:srgbClr val="0B1F3A"/>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 Link</a:t>
            </a:r>
            <a:endParaRPr lang="en-US" sz="1600" dirty="0"/>
          </a:p>
        </p:txBody>
      </p:sp>
      <p:sp>
        <p:nvSpPr>
          <p:cNvPr id="24" name="Text 21"/>
          <p:cNvSpPr/>
          <p:nvPr/>
        </p:nvSpPr>
        <p:spPr>
          <a:xfrm>
            <a:off x="8915400" y="1600200"/>
            <a:ext cx="269748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Frame</a:t>
            </a:r>
            <a:endParaRPr lang="en-US" sz="1300" dirty="0"/>
          </a:p>
        </p:txBody>
      </p:sp>
      <p:sp>
        <p:nvSpPr>
          <p:cNvPr id="25" name="Text 22"/>
          <p:cNvSpPr/>
          <p:nvPr/>
        </p:nvSpPr>
        <p:spPr>
          <a:xfrm>
            <a:off x="8915400" y="2057400"/>
            <a:ext cx="2697480" cy="1417320"/>
          </a:xfrm>
          <a:prstGeom prst="roundRect">
            <a:avLst>
              <a:gd name="adj" fmla="val 3871"/>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Src MAC: your network card</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Dst MAC: your ROUTER</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(next hop, not the server)</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FCS: error-check trailer</a:t>
            </a:r>
            <a:endParaRPr lang="en-US" sz="1000" dirty="0"/>
          </a:p>
        </p:txBody>
      </p:sp>
      <p:sp>
        <p:nvSpPr>
          <p:cNvPr id="26" name="Text 23"/>
          <p:cNvSpPr/>
          <p:nvPr/>
        </p:nvSpPr>
        <p:spPr>
          <a:xfrm>
            <a:off x="8915400" y="3520440"/>
            <a:ext cx="2697480" cy="502920"/>
          </a:xfrm>
          <a:prstGeom prst="rect">
            <a:avLst>
              <a:gd name="adj" fmla="val 14545"/>
            </a:avLst>
          </a:prstGeom>
          <a:solidFill>
            <a:srgbClr val="F7F9FC"/>
          </a:solidFill>
          <a:ln w="15875">
            <a:solidFill>
              <a:srgbClr val="CBD5E1"/>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MAC is for the local hop only.</a:t>
            </a:r>
            <a:endParaRPr lang="en-US" sz="1200" dirty="0"/>
          </a:p>
        </p:txBody>
      </p:sp>
      <p:sp>
        <p:nvSpPr>
          <p:cNvPr id="27" name="Text 24"/>
          <p:cNvSpPr/>
          <p:nvPr/>
        </p:nvSpPr>
        <p:spPr>
          <a:xfrm>
            <a:off x="548640" y="4206240"/>
            <a:ext cx="5486400" cy="237744"/>
          </a:xfrm>
          <a:prstGeom prst="rect">
            <a:avLst/>
          </a:prstGeom>
          <a:noFill/>
          <a:ln/>
        </p:spPr>
        <p:txBody>
          <a:bodyPr wrap="square" lIns="508" tIns="508" rIns="508" bIns="508" rtlCol="0" anchor="ctr"/>
          <a:lstStyle/>
          <a:p>
            <a:pPr indent="0" marL="0">
              <a:buNone/>
            </a:pPr>
            <a:r>
              <a:rPr lang="en-US" sz="1100" b="1" spc="300" kern="0" dirty="0">
                <a:solidFill>
                  <a:srgbClr val="0F9D8F"/>
                </a:solidFill>
                <a:latin typeface="Calibri" pitchFamily="34" charset="0"/>
                <a:ea typeface="Calibri" pitchFamily="34" charset="-122"/>
                <a:cs typeface="Calibri" pitchFamily="34" charset="-120"/>
              </a:rPr>
              <a:t>THE JOURNEY IN ONE LINE</a:t>
            </a:r>
            <a:endParaRPr lang="en-US" sz="1100" dirty="0"/>
          </a:p>
        </p:txBody>
      </p:sp>
      <p:sp>
        <p:nvSpPr>
          <p:cNvPr id="28" name="Text 25"/>
          <p:cNvSpPr/>
          <p:nvPr/>
        </p:nvSpPr>
        <p:spPr>
          <a:xfrm>
            <a:off x="548640" y="4480560"/>
            <a:ext cx="2011680" cy="731520"/>
          </a:xfrm>
          <a:prstGeom prst="rect">
            <a:avLst>
              <a:gd name="adj" fmla="val 10000"/>
            </a:avLst>
          </a:prstGeom>
          <a:solidFill>
            <a:srgbClr val="7C5CFC"/>
          </a:solidFill>
          <a:ln w="15875">
            <a:solidFill>
              <a:srgbClr val="7C5CFC"/>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HTTP request</a:t>
            </a:r>
            <a:endParaRPr lang="en-US" sz="1200" dirty="0"/>
          </a:p>
        </p:txBody>
      </p:sp>
      <p:sp>
        <p:nvSpPr>
          <p:cNvPr id="29" name="Shape 26"/>
          <p:cNvSpPr/>
          <p:nvPr/>
        </p:nvSpPr>
        <p:spPr>
          <a:xfrm>
            <a:off x="2560320" y="4846320"/>
            <a:ext cx="228600" cy="0"/>
          </a:xfrm>
          <a:prstGeom prst="line">
            <a:avLst/>
          </a:prstGeom>
          <a:noFill/>
          <a:ln w="25400">
            <a:solidFill>
              <a:srgbClr val="64748B"/>
            </a:solidFill>
            <a:prstDash val="solid"/>
            <a:tailEnd type="triangle"/>
          </a:ln>
        </p:spPr>
      </p:sp>
      <p:sp>
        <p:nvSpPr>
          <p:cNvPr id="30" name="Text 27"/>
          <p:cNvSpPr/>
          <p:nvPr/>
        </p:nvSpPr>
        <p:spPr>
          <a:xfrm>
            <a:off x="2788920" y="4480560"/>
            <a:ext cx="2011680" cy="731520"/>
          </a:xfrm>
          <a:prstGeom prst="rect">
            <a:avLst>
              <a:gd name="adj" fmla="val 10000"/>
            </a:avLst>
          </a:prstGeom>
          <a:solidFill>
            <a:srgbClr val="0F9D8F"/>
          </a:solidFill>
          <a:ln w="15875">
            <a:solidFill>
              <a:srgbClr val="0F9D8F"/>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TCP header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Segment</a:t>
            </a:r>
            <a:endParaRPr lang="en-US" sz="1200" dirty="0"/>
          </a:p>
        </p:txBody>
      </p:sp>
      <p:sp>
        <p:nvSpPr>
          <p:cNvPr id="31" name="Shape 28"/>
          <p:cNvSpPr/>
          <p:nvPr/>
        </p:nvSpPr>
        <p:spPr>
          <a:xfrm>
            <a:off x="4800600" y="4846320"/>
            <a:ext cx="228600" cy="0"/>
          </a:xfrm>
          <a:prstGeom prst="line">
            <a:avLst/>
          </a:prstGeom>
          <a:noFill/>
          <a:ln w="25400">
            <a:solidFill>
              <a:srgbClr val="64748B"/>
            </a:solidFill>
            <a:prstDash val="solid"/>
            <a:tailEnd type="triangle"/>
          </a:ln>
        </p:spPr>
      </p:sp>
      <p:sp>
        <p:nvSpPr>
          <p:cNvPr id="32" name="Text 29"/>
          <p:cNvSpPr/>
          <p:nvPr/>
        </p:nvSpPr>
        <p:spPr>
          <a:xfrm>
            <a:off x="5029200" y="4480560"/>
            <a:ext cx="2011680" cy="731520"/>
          </a:xfrm>
          <a:prstGeom prst="rect">
            <a:avLst>
              <a:gd name="adj" fmla="val 10000"/>
            </a:avLst>
          </a:prstGeom>
          <a:solidFill>
            <a:srgbClr val="3B82F6"/>
          </a:solidFill>
          <a:ln w="15875">
            <a:solidFill>
              <a:srgbClr val="3B82F6"/>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IP header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Packet</a:t>
            </a:r>
            <a:endParaRPr lang="en-US" sz="1200" dirty="0"/>
          </a:p>
        </p:txBody>
      </p:sp>
      <p:sp>
        <p:nvSpPr>
          <p:cNvPr id="33" name="Shape 30"/>
          <p:cNvSpPr/>
          <p:nvPr/>
        </p:nvSpPr>
        <p:spPr>
          <a:xfrm>
            <a:off x="7040880" y="4846320"/>
            <a:ext cx="228600" cy="0"/>
          </a:xfrm>
          <a:prstGeom prst="line">
            <a:avLst/>
          </a:prstGeom>
          <a:noFill/>
          <a:ln w="25400">
            <a:solidFill>
              <a:srgbClr val="64748B"/>
            </a:solidFill>
            <a:prstDash val="solid"/>
            <a:tailEnd type="triangle"/>
          </a:ln>
        </p:spPr>
      </p:sp>
      <p:sp>
        <p:nvSpPr>
          <p:cNvPr id="34" name="Text 31"/>
          <p:cNvSpPr/>
          <p:nvPr/>
        </p:nvSpPr>
        <p:spPr>
          <a:xfrm>
            <a:off x="7269480" y="4480560"/>
            <a:ext cx="2011680" cy="731520"/>
          </a:xfrm>
          <a:prstGeom prst="rect">
            <a:avLst>
              <a:gd name="adj" fmla="val 10000"/>
            </a:avLst>
          </a:prstGeom>
          <a:solidFill>
            <a:srgbClr val="0B1F3A"/>
          </a:solidFill>
          <a:ln w="15875">
            <a:solidFill>
              <a:srgbClr val="0B1F3A"/>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MAC header/trailer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Frame</a:t>
            </a:r>
            <a:endParaRPr lang="en-US" sz="1200" dirty="0"/>
          </a:p>
        </p:txBody>
      </p:sp>
      <p:sp>
        <p:nvSpPr>
          <p:cNvPr id="35" name="Shape 32"/>
          <p:cNvSpPr/>
          <p:nvPr/>
        </p:nvSpPr>
        <p:spPr>
          <a:xfrm>
            <a:off x="9281160" y="4846320"/>
            <a:ext cx="228600" cy="0"/>
          </a:xfrm>
          <a:prstGeom prst="line">
            <a:avLst/>
          </a:prstGeom>
          <a:noFill/>
          <a:ln w="25400">
            <a:solidFill>
              <a:srgbClr val="64748B"/>
            </a:solidFill>
            <a:prstDash val="solid"/>
            <a:tailEnd type="triangle"/>
          </a:ln>
        </p:spPr>
      </p:sp>
      <p:sp>
        <p:nvSpPr>
          <p:cNvPr id="36" name="Text 33"/>
          <p:cNvSpPr/>
          <p:nvPr/>
        </p:nvSpPr>
        <p:spPr>
          <a:xfrm>
            <a:off x="9509760" y="4480560"/>
            <a:ext cx="2011680" cy="731520"/>
          </a:xfrm>
          <a:prstGeom prst="rect">
            <a:avLst>
              <a:gd name="adj" fmla="val 10000"/>
            </a:avLst>
          </a:prstGeom>
          <a:solidFill>
            <a:srgbClr val="F59E0B"/>
          </a:solidFill>
          <a:ln w="15875">
            <a:solidFill>
              <a:srgbClr val="F59E0B"/>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Bits on the wire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or in the air</a:t>
            </a:r>
            <a:endParaRPr lang="en-US" sz="1200" dirty="0"/>
          </a:p>
        </p:txBody>
      </p:sp>
      <p:sp>
        <p:nvSpPr>
          <p:cNvPr id="37" name="Shape 34"/>
          <p:cNvSpPr/>
          <p:nvPr/>
        </p:nvSpPr>
        <p:spPr>
          <a:xfrm>
            <a:off x="457200" y="5440680"/>
            <a:ext cx="82296" cy="548640"/>
          </a:xfrm>
          <a:prstGeom prst="rect">
            <a:avLst/>
          </a:prstGeom>
          <a:solidFill>
            <a:srgbClr val="F59E0B"/>
          </a:solidFill>
          <a:ln/>
        </p:spPr>
      </p:sp>
      <p:sp>
        <p:nvSpPr>
          <p:cNvPr id="38" name="Text 35"/>
          <p:cNvSpPr/>
          <p:nvPr/>
        </p:nvSpPr>
        <p:spPr>
          <a:xfrm>
            <a:off x="594360" y="544068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IP addresses stay the same all the way to the server. MAC addresses change at every hop. The receiver reverses all this (decapsulation).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IP: every device gets an address; routers forward packets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
        <p:nvSpPr>
          <p:cNvPr id="8" name="Text 5"/>
          <p:cNvSpPr/>
          <p:nvPr/>
        </p:nvSpPr>
        <p:spPr>
          <a:xfrm>
            <a:off x="548640" y="2377440"/>
            <a:ext cx="201168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192.168.1.10</a:t>
            </a:r>
            <a:endParaRPr lang="en-US" sz="1400" dirty="0"/>
          </a:p>
        </p:txBody>
      </p:sp>
      <p:sp>
        <p:nvSpPr>
          <p:cNvPr id="9" name="Text 6"/>
          <p:cNvSpPr/>
          <p:nvPr/>
        </p:nvSpPr>
        <p:spPr>
          <a:xfrm>
            <a:off x="3291840" y="1645920"/>
            <a:ext cx="1280160" cy="548640"/>
          </a:xfrm>
          <a:prstGeom prst="roundRect">
            <a:avLst>
              <a:gd name="adj" fmla="val 13333"/>
            </a:avLst>
          </a:prstGeom>
          <a:solidFill>
            <a:srgbClr val="DDF4F0"/>
          </a:solidFill>
          <a:ln w="15875">
            <a:solidFill>
              <a:srgbClr val="0F9D8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router</a:t>
            </a:r>
            <a:endParaRPr lang="en-US" sz="1400" dirty="0"/>
          </a:p>
        </p:txBody>
      </p:sp>
      <p:sp>
        <p:nvSpPr>
          <p:cNvPr id="10" name="Text 7"/>
          <p:cNvSpPr/>
          <p:nvPr/>
        </p:nvSpPr>
        <p:spPr>
          <a:xfrm>
            <a:off x="5303520" y="3108960"/>
            <a:ext cx="1280160" cy="548640"/>
          </a:xfrm>
          <a:prstGeom prst="roundRect">
            <a:avLst>
              <a:gd name="adj" fmla="val 13333"/>
            </a:avLst>
          </a:prstGeom>
          <a:solidFill>
            <a:srgbClr val="DDF4F0"/>
          </a:solidFill>
          <a:ln w="15875">
            <a:solidFill>
              <a:srgbClr val="0F9D8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router</a:t>
            </a:r>
            <a:endParaRPr lang="en-US" sz="1400" dirty="0"/>
          </a:p>
        </p:txBody>
      </p:sp>
      <p:sp>
        <p:nvSpPr>
          <p:cNvPr id="11" name="Text 8"/>
          <p:cNvSpPr/>
          <p:nvPr/>
        </p:nvSpPr>
        <p:spPr>
          <a:xfrm>
            <a:off x="7315200" y="1645920"/>
            <a:ext cx="1280160" cy="548640"/>
          </a:xfrm>
          <a:prstGeom prst="roundRect">
            <a:avLst>
              <a:gd name="adj" fmla="val 13333"/>
            </a:avLst>
          </a:prstGeom>
          <a:solidFill>
            <a:srgbClr val="DDF4F0"/>
          </a:solidFill>
          <a:ln w="15875">
            <a:solidFill>
              <a:srgbClr val="0F9D8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router</a:t>
            </a:r>
            <a:endParaRPr lang="en-US" sz="1400" dirty="0"/>
          </a:p>
        </p:txBody>
      </p:sp>
      <p:sp>
        <p:nvSpPr>
          <p:cNvPr id="12" name="Text 9"/>
          <p:cNvSpPr/>
          <p:nvPr/>
        </p:nvSpPr>
        <p:spPr>
          <a:xfrm>
            <a:off x="9418320" y="2377440"/>
            <a:ext cx="2194560" cy="1097280"/>
          </a:xfrm>
          <a:prstGeom prst="roundRect">
            <a:avLst>
              <a:gd name="adj" fmla="val 6667"/>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 Server</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93.184.216.34</a:t>
            </a:r>
            <a:endParaRPr lang="en-US" sz="1400" dirty="0"/>
          </a:p>
        </p:txBody>
      </p:sp>
      <p:sp>
        <p:nvSpPr>
          <p:cNvPr id="13" name="Shape 10"/>
          <p:cNvSpPr/>
          <p:nvPr/>
        </p:nvSpPr>
        <p:spPr>
          <a:xfrm flipV="1">
            <a:off x="2560320" y="2011680"/>
            <a:ext cx="731520" cy="731520"/>
          </a:xfrm>
          <a:prstGeom prst="line">
            <a:avLst/>
          </a:prstGeom>
          <a:noFill/>
          <a:ln w="25400">
            <a:solidFill>
              <a:srgbClr val="0F9D8F"/>
            </a:solidFill>
            <a:prstDash val="solid"/>
            <a:tailEnd type="triangle"/>
          </a:ln>
        </p:spPr>
      </p:sp>
      <p:sp>
        <p:nvSpPr>
          <p:cNvPr id="14" name="Shape 11"/>
          <p:cNvSpPr/>
          <p:nvPr/>
        </p:nvSpPr>
        <p:spPr>
          <a:xfrm>
            <a:off x="4572000" y="2011680"/>
            <a:ext cx="731520" cy="1371600"/>
          </a:xfrm>
          <a:prstGeom prst="line">
            <a:avLst/>
          </a:prstGeom>
          <a:noFill/>
          <a:ln w="25400">
            <a:solidFill>
              <a:srgbClr val="0F9D8F"/>
            </a:solidFill>
            <a:prstDash val="solid"/>
            <a:tailEnd type="triangle"/>
          </a:ln>
        </p:spPr>
      </p:sp>
      <p:sp>
        <p:nvSpPr>
          <p:cNvPr id="15" name="Shape 12"/>
          <p:cNvSpPr/>
          <p:nvPr/>
        </p:nvSpPr>
        <p:spPr>
          <a:xfrm flipV="1">
            <a:off x="6583680" y="2194560"/>
            <a:ext cx="731520" cy="1188720"/>
          </a:xfrm>
          <a:prstGeom prst="line">
            <a:avLst/>
          </a:prstGeom>
          <a:noFill/>
          <a:ln w="25400">
            <a:solidFill>
              <a:srgbClr val="0F9D8F"/>
            </a:solidFill>
            <a:prstDash val="solid"/>
            <a:tailEnd type="triangle"/>
          </a:ln>
        </p:spPr>
      </p:sp>
      <p:sp>
        <p:nvSpPr>
          <p:cNvPr id="16" name="Shape 13"/>
          <p:cNvSpPr/>
          <p:nvPr/>
        </p:nvSpPr>
        <p:spPr>
          <a:xfrm>
            <a:off x="8595360" y="2011680"/>
            <a:ext cx="822960" cy="731520"/>
          </a:xfrm>
          <a:prstGeom prst="line">
            <a:avLst/>
          </a:prstGeom>
          <a:noFill/>
          <a:ln w="25400">
            <a:solidFill>
              <a:srgbClr val="0F9D8F"/>
            </a:solidFill>
            <a:prstDash val="solid"/>
            <a:tailEnd type="triangle"/>
          </a:ln>
        </p:spPr>
      </p:sp>
      <p:sp>
        <p:nvSpPr>
          <p:cNvPr id="17" name="Text 14"/>
          <p:cNvSpPr/>
          <p:nvPr/>
        </p:nvSpPr>
        <p:spPr>
          <a:xfrm>
            <a:off x="2743200" y="3840480"/>
            <a:ext cx="6400800" cy="365760"/>
          </a:xfrm>
          <a:prstGeom prst="rect">
            <a:avLst/>
          </a:prstGeom>
          <a:noFill/>
          <a:ln/>
        </p:spPr>
        <p:txBody>
          <a:bodyPr wrap="square" lIns="508" tIns="508" rIns="508" bIns="508"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Each hop forwards the packet closer to the destination address</a:t>
            </a:r>
            <a:endParaRPr lang="en-US" sz="1600" dirty="0"/>
          </a:p>
        </p:txBody>
      </p:sp>
      <p:sp>
        <p:nvSpPr>
          <p:cNvPr id="18" name="Text 15"/>
          <p:cNvSpPr/>
          <p:nvPr/>
        </p:nvSpPr>
        <p:spPr>
          <a:xfrm>
            <a:off x="731520" y="4572000"/>
            <a:ext cx="5852160" cy="457200"/>
          </a:xfrm>
          <a:prstGeom prst="rect">
            <a:avLst>
              <a:gd name="adj" fmla="val 16000"/>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Server building 93.184.216.34</a:t>
            </a:r>
            <a:endParaRPr lang="en-US" sz="1400" dirty="0"/>
          </a:p>
        </p:txBody>
      </p:sp>
      <p:sp>
        <p:nvSpPr>
          <p:cNvPr id="19" name="Text 16"/>
          <p:cNvSpPr/>
          <p:nvPr/>
        </p:nvSpPr>
        <p:spPr>
          <a:xfrm>
            <a:off x="731520" y="5029200"/>
            <a:ext cx="1371600" cy="822960"/>
          </a:xfrm>
          <a:prstGeom prst="rect">
            <a:avLst>
              <a:gd name="adj" fmla="val 8889"/>
            </a:avLst>
          </a:prstGeom>
          <a:solidFill>
            <a:srgbClr val="FEF3C7"/>
          </a:solidFill>
          <a:ln w="15875">
            <a:solidFill>
              <a:srgbClr val="F59E0B"/>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Port 80</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HTTP</a:t>
            </a:r>
            <a:endParaRPr lang="en-US" sz="1300" dirty="0"/>
          </a:p>
        </p:txBody>
      </p:sp>
      <p:sp>
        <p:nvSpPr>
          <p:cNvPr id="20" name="Text 17"/>
          <p:cNvSpPr/>
          <p:nvPr/>
        </p:nvSpPr>
        <p:spPr>
          <a:xfrm>
            <a:off x="2194560" y="5029200"/>
            <a:ext cx="1371600" cy="822960"/>
          </a:xfrm>
          <a:prstGeom prst="rect">
            <a:avLst>
              <a:gd name="adj" fmla="val 8889"/>
            </a:avLst>
          </a:prstGeom>
          <a:solidFill>
            <a:srgbClr val="FEF3C7"/>
          </a:solidFill>
          <a:ln w="15875">
            <a:solidFill>
              <a:srgbClr val="F59E0B"/>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Port 443</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HTTPS</a:t>
            </a:r>
            <a:endParaRPr lang="en-US" sz="1300" dirty="0"/>
          </a:p>
        </p:txBody>
      </p:sp>
      <p:sp>
        <p:nvSpPr>
          <p:cNvPr id="21" name="Text 18"/>
          <p:cNvSpPr/>
          <p:nvPr/>
        </p:nvSpPr>
        <p:spPr>
          <a:xfrm>
            <a:off x="3657600" y="5029200"/>
            <a:ext cx="1371600" cy="822960"/>
          </a:xfrm>
          <a:prstGeom prst="rect">
            <a:avLst>
              <a:gd name="adj" fmla="val 8889"/>
            </a:avLst>
          </a:prstGeom>
          <a:solidFill>
            <a:srgbClr val="FEF3C7"/>
          </a:solidFill>
          <a:ln w="15875">
            <a:solidFill>
              <a:srgbClr val="F59E0B"/>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Port 22</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SSH</a:t>
            </a:r>
            <a:endParaRPr lang="en-US" sz="1300" dirty="0"/>
          </a:p>
        </p:txBody>
      </p:sp>
      <p:sp>
        <p:nvSpPr>
          <p:cNvPr id="22" name="Text 19"/>
          <p:cNvSpPr/>
          <p:nvPr/>
        </p:nvSpPr>
        <p:spPr>
          <a:xfrm>
            <a:off x="5120640" y="5029200"/>
            <a:ext cx="1371600" cy="822960"/>
          </a:xfrm>
          <a:prstGeom prst="rect">
            <a:avLst>
              <a:gd name="adj" fmla="val 8889"/>
            </a:avLst>
          </a:prstGeom>
          <a:solidFill>
            <a:srgbClr val="FEF3C7"/>
          </a:solidFill>
          <a:ln w="15875">
            <a:solidFill>
              <a:srgbClr val="F59E0B"/>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Port 25</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SMTP</a:t>
            </a:r>
            <a:endParaRPr lang="en-US" sz="1300" dirty="0"/>
          </a:p>
        </p:txBody>
      </p:sp>
      <p:sp>
        <p:nvSpPr>
          <p:cNvPr id="23" name="Text 20"/>
          <p:cNvSpPr/>
          <p:nvPr/>
        </p:nvSpPr>
        <p:spPr>
          <a:xfrm>
            <a:off x="6949440" y="4572000"/>
            <a:ext cx="4754880" cy="1188720"/>
          </a:xfrm>
          <a:prstGeom prst="rect">
            <a:avLst/>
          </a:prstGeom>
          <a:noFill/>
          <a:ln/>
        </p:spPr>
        <p:txBody>
          <a:bodyPr wrap="square" lIns="508" tIns="508" rIns="508" bIns="508"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IP address = which building.</a:t>
            </a:r>
            <a:endParaRPr lang="en-US" sz="1800" dirty="0"/>
          </a:p>
          <a:p>
            <a:pPr indent="0" marL="0">
              <a:buNone/>
            </a:pPr>
            <a:r>
              <a:rPr lang="en-US" sz="1800" b="1" dirty="0">
                <a:solidFill>
                  <a:srgbClr val="0B1F3A"/>
                </a:solidFill>
                <a:latin typeface="Calibri" pitchFamily="34" charset="0"/>
                <a:ea typeface="Calibri" pitchFamily="34" charset="-122"/>
                <a:cs typeface="Calibri" pitchFamily="34" charset="-120"/>
              </a:rPr>
              <a:t>Port = which door (application).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TCP: reliable delivery on top of unreliable IP</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
        <p:nvSpPr>
          <p:cNvPr id="8" name="Text 5"/>
          <p:cNvSpPr/>
          <p:nvPr/>
        </p:nvSpPr>
        <p:spPr>
          <a:xfrm>
            <a:off x="1005840" y="1188720"/>
            <a:ext cx="1645920" cy="502920"/>
          </a:xfrm>
          <a:prstGeom prst="roundRect">
            <a:avLst>
              <a:gd name="adj" fmla="val 14545"/>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Client</a:t>
            </a:r>
            <a:endParaRPr lang="en-US" sz="1400" dirty="0"/>
          </a:p>
        </p:txBody>
      </p:sp>
      <p:sp>
        <p:nvSpPr>
          <p:cNvPr id="9" name="Shape 6"/>
          <p:cNvSpPr/>
          <p:nvPr/>
        </p:nvSpPr>
        <p:spPr>
          <a:xfrm>
            <a:off x="1828800" y="1691640"/>
            <a:ext cx="0" cy="4069080"/>
          </a:xfrm>
          <a:prstGeom prst="line">
            <a:avLst/>
          </a:prstGeom>
          <a:noFill/>
          <a:ln w="19050">
            <a:solidFill>
              <a:srgbClr val="CBD5E1"/>
            </a:solidFill>
            <a:prstDash val="dash"/>
          </a:ln>
        </p:spPr>
      </p:sp>
      <p:sp>
        <p:nvSpPr>
          <p:cNvPr id="10" name="Text 7"/>
          <p:cNvSpPr/>
          <p:nvPr/>
        </p:nvSpPr>
        <p:spPr>
          <a:xfrm>
            <a:off x="4663440" y="1188720"/>
            <a:ext cx="1645920" cy="502920"/>
          </a:xfrm>
          <a:prstGeom prst="roundRect">
            <a:avLst>
              <a:gd name="adj" fmla="val 14545"/>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Server</a:t>
            </a:r>
            <a:endParaRPr lang="en-US" sz="1400" dirty="0"/>
          </a:p>
        </p:txBody>
      </p:sp>
      <p:sp>
        <p:nvSpPr>
          <p:cNvPr id="11" name="Shape 8"/>
          <p:cNvSpPr/>
          <p:nvPr/>
        </p:nvSpPr>
        <p:spPr>
          <a:xfrm>
            <a:off x="5486400" y="1691640"/>
            <a:ext cx="0" cy="4069080"/>
          </a:xfrm>
          <a:prstGeom prst="line">
            <a:avLst/>
          </a:prstGeom>
          <a:noFill/>
          <a:ln w="19050">
            <a:solidFill>
              <a:srgbClr val="CBD5E1"/>
            </a:solidFill>
            <a:prstDash val="dash"/>
          </a:ln>
        </p:spPr>
      </p:sp>
      <p:sp>
        <p:nvSpPr>
          <p:cNvPr id="12" name="Shape 9"/>
          <p:cNvSpPr/>
          <p:nvPr/>
        </p:nvSpPr>
        <p:spPr>
          <a:xfrm>
            <a:off x="1828800" y="2468880"/>
            <a:ext cx="3657600" cy="0"/>
          </a:xfrm>
          <a:prstGeom prst="line">
            <a:avLst/>
          </a:prstGeom>
          <a:noFill/>
          <a:ln w="25400">
            <a:solidFill>
              <a:srgbClr val="0F9D8F"/>
            </a:solidFill>
            <a:prstDash val="solid"/>
            <a:tailEnd type="triangle"/>
          </a:ln>
        </p:spPr>
      </p:sp>
      <p:sp>
        <p:nvSpPr>
          <p:cNvPr id="13" name="Text 10"/>
          <p:cNvSpPr/>
          <p:nvPr/>
        </p:nvSpPr>
        <p:spPr>
          <a:xfrm>
            <a:off x="1920240" y="2139696"/>
            <a:ext cx="3474720" cy="292608"/>
          </a:xfrm>
          <a:prstGeom prst="rect">
            <a:avLst/>
          </a:prstGeom>
          <a:noFill/>
          <a:ln/>
        </p:spPr>
        <p:txBody>
          <a:bodyPr wrap="square" lIns="508" tIns="508" rIns="508" bIns="508" rtlCol="0" anchor="ctr"/>
          <a:lstStyle/>
          <a:p>
            <a:pPr algn="ctr" indent="0" marL="0">
              <a:buNone/>
            </a:pPr>
            <a:r>
              <a:rPr lang="en-US" sz="1300" b="1" dirty="0">
                <a:solidFill>
                  <a:srgbClr val="0F9D8F"/>
                </a:solidFill>
                <a:latin typeface="Calibri" pitchFamily="34" charset="0"/>
                <a:ea typeface="Calibri" pitchFamily="34" charset="-122"/>
                <a:cs typeface="Calibri" pitchFamily="34" charset="-120"/>
              </a:rPr>
              <a:t>SYN "can we talk?"</a:t>
            </a:r>
            <a:endParaRPr lang="en-US" sz="1300" dirty="0"/>
          </a:p>
        </p:txBody>
      </p:sp>
      <p:sp>
        <p:nvSpPr>
          <p:cNvPr id="14" name="Shape 11"/>
          <p:cNvSpPr/>
          <p:nvPr/>
        </p:nvSpPr>
        <p:spPr>
          <a:xfrm flipH="1">
            <a:off x="1828800" y="3200400"/>
            <a:ext cx="3657600" cy="0"/>
          </a:xfrm>
          <a:prstGeom prst="line">
            <a:avLst/>
          </a:prstGeom>
          <a:noFill/>
          <a:ln w="25400">
            <a:solidFill>
              <a:srgbClr val="3B82F6"/>
            </a:solidFill>
            <a:prstDash val="solid"/>
            <a:tailEnd type="triangle"/>
          </a:ln>
        </p:spPr>
      </p:sp>
      <p:sp>
        <p:nvSpPr>
          <p:cNvPr id="15" name="Text 12"/>
          <p:cNvSpPr/>
          <p:nvPr/>
        </p:nvSpPr>
        <p:spPr>
          <a:xfrm>
            <a:off x="1920240" y="2871216"/>
            <a:ext cx="3474720" cy="292608"/>
          </a:xfrm>
          <a:prstGeom prst="rect">
            <a:avLst/>
          </a:prstGeom>
          <a:noFill/>
          <a:ln/>
        </p:spPr>
        <p:txBody>
          <a:bodyPr wrap="square" lIns="508" tIns="508" rIns="508" bIns="508"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SYN-ACK "yes, ready"</a:t>
            </a:r>
            <a:endParaRPr lang="en-US" sz="1300" dirty="0"/>
          </a:p>
        </p:txBody>
      </p:sp>
      <p:sp>
        <p:nvSpPr>
          <p:cNvPr id="16" name="Shape 13"/>
          <p:cNvSpPr/>
          <p:nvPr/>
        </p:nvSpPr>
        <p:spPr>
          <a:xfrm>
            <a:off x="1828800" y="3931920"/>
            <a:ext cx="3657600" cy="0"/>
          </a:xfrm>
          <a:prstGeom prst="line">
            <a:avLst/>
          </a:prstGeom>
          <a:noFill/>
          <a:ln w="25400">
            <a:solidFill>
              <a:srgbClr val="0F9D8F"/>
            </a:solidFill>
            <a:prstDash val="solid"/>
            <a:tailEnd type="triangle"/>
          </a:ln>
        </p:spPr>
      </p:sp>
      <p:sp>
        <p:nvSpPr>
          <p:cNvPr id="17" name="Text 14"/>
          <p:cNvSpPr/>
          <p:nvPr/>
        </p:nvSpPr>
        <p:spPr>
          <a:xfrm>
            <a:off x="1920240" y="3602736"/>
            <a:ext cx="3474720" cy="292608"/>
          </a:xfrm>
          <a:prstGeom prst="rect">
            <a:avLst/>
          </a:prstGeom>
          <a:noFill/>
          <a:ln/>
        </p:spPr>
        <p:txBody>
          <a:bodyPr wrap="square" lIns="508" tIns="508" rIns="508" bIns="508" rtlCol="0" anchor="ctr"/>
          <a:lstStyle/>
          <a:p>
            <a:pPr algn="ctr" indent="0" marL="0">
              <a:buNone/>
            </a:pPr>
            <a:r>
              <a:rPr lang="en-US" sz="1300" b="1" dirty="0">
                <a:solidFill>
                  <a:srgbClr val="0F9D8F"/>
                </a:solidFill>
                <a:latin typeface="Calibri" pitchFamily="34" charset="0"/>
                <a:ea typeface="Calibri" pitchFamily="34" charset="-122"/>
                <a:cs typeface="Calibri" pitchFamily="34" charset="-120"/>
              </a:rPr>
              <a:t>ACK "great, sending"</a:t>
            </a:r>
            <a:endParaRPr lang="en-US" sz="1300" dirty="0"/>
          </a:p>
        </p:txBody>
      </p:sp>
      <p:sp>
        <p:nvSpPr>
          <p:cNvPr id="18" name="Shape 15"/>
          <p:cNvSpPr/>
          <p:nvPr/>
        </p:nvSpPr>
        <p:spPr>
          <a:xfrm>
            <a:off x="1828800" y="4663440"/>
            <a:ext cx="3657600" cy="0"/>
          </a:xfrm>
          <a:prstGeom prst="line">
            <a:avLst/>
          </a:prstGeom>
          <a:noFill/>
          <a:ln w="25400">
            <a:solidFill>
              <a:srgbClr val="7C5CFC"/>
            </a:solidFill>
            <a:prstDash val="solid"/>
            <a:tailEnd type="triangle"/>
          </a:ln>
        </p:spPr>
      </p:sp>
      <p:sp>
        <p:nvSpPr>
          <p:cNvPr id="19" name="Text 16"/>
          <p:cNvSpPr/>
          <p:nvPr/>
        </p:nvSpPr>
        <p:spPr>
          <a:xfrm>
            <a:off x="1920240" y="4334256"/>
            <a:ext cx="3474720" cy="292608"/>
          </a:xfrm>
          <a:prstGeom prst="rect">
            <a:avLst/>
          </a:prstGeom>
          <a:noFill/>
          <a:ln/>
        </p:spPr>
        <p:txBody>
          <a:bodyPr wrap="square" lIns="508" tIns="508" rIns="508" bIns="508" rtlCol="0" anchor="ctr"/>
          <a:lstStyle/>
          <a:p>
            <a:pPr algn="ctr" indent="0" marL="0">
              <a:buNone/>
            </a:pPr>
            <a:r>
              <a:rPr lang="en-US" sz="1300" b="1" dirty="0">
                <a:solidFill>
                  <a:srgbClr val="7C5CFC"/>
                </a:solidFill>
                <a:latin typeface="Calibri" pitchFamily="34" charset="0"/>
                <a:ea typeface="Calibri" pitchFamily="34" charset="-122"/>
                <a:cs typeface="Calibri" pitchFamily="34" charset="-120"/>
              </a:rPr>
              <a:t>DATA (numbered)</a:t>
            </a:r>
            <a:endParaRPr lang="en-US" sz="1300" dirty="0"/>
          </a:p>
        </p:txBody>
      </p:sp>
      <p:sp>
        <p:nvSpPr>
          <p:cNvPr id="20" name="Shape 17"/>
          <p:cNvSpPr/>
          <p:nvPr/>
        </p:nvSpPr>
        <p:spPr>
          <a:xfrm flipH="1">
            <a:off x="1828800" y="5303520"/>
            <a:ext cx="3657600" cy="0"/>
          </a:xfrm>
          <a:prstGeom prst="line">
            <a:avLst/>
          </a:prstGeom>
          <a:noFill/>
          <a:ln w="25400">
            <a:solidFill>
              <a:srgbClr val="E5484D"/>
            </a:solidFill>
            <a:prstDash val="solid"/>
            <a:tailEnd type="triangle"/>
          </a:ln>
        </p:spPr>
      </p:sp>
      <p:sp>
        <p:nvSpPr>
          <p:cNvPr id="21" name="Text 18"/>
          <p:cNvSpPr/>
          <p:nvPr/>
        </p:nvSpPr>
        <p:spPr>
          <a:xfrm>
            <a:off x="1920240" y="4974336"/>
            <a:ext cx="3474720" cy="292608"/>
          </a:xfrm>
          <a:prstGeom prst="rect">
            <a:avLst/>
          </a:prstGeom>
          <a:noFill/>
          <a:ln/>
        </p:spPr>
        <p:txBody>
          <a:bodyPr wrap="square" lIns="508" tIns="508" rIns="508" bIns="508" rtlCol="0" anchor="ctr"/>
          <a:lstStyle/>
          <a:p>
            <a:pPr algn="ctr" indent="0" marL="0">
              <a:buNone/>
            </a:pPr>
            <a:r>
              <a:rPr lang="en-US" sz="1300" b="1" dirty="0">
                <a:solidFill>
                  <a:srgbClr val="E5484D"/>
                </a:solidFill>
                <a:latin typeface="Calibri" pitchFamily="34" charset="0"/>
                <a:ea typeface="Calibri" pitchFamily="34" charset="-122"/>
                <a:cs typeface="Calibri" pitchFamily="34" charset="-120"/>
              </a:rPr>
              <a:t>ACK or resend request</a:t>
            </a:r>
            <a:endParaRPr lang="en-US" sz="1300" dirty="0"/>
          </a:p>
        </p:txBody>
      </p:sp>
      <p:sp>
        <p:nvSpPr>
          <p:cNvPr id="22" name="Text 19"/>
          <p:cNvSpPr/>
          <p:nvPr/>
        </p:nvSpPr>
        <p:spPr>
          <a:xfrm>
            <a:off x="7589520" y="1280160"/>
            <a:ext cx="2011680" cy="457200"/>
          </a:xfrm>
          <a:prstGeom prst="rect">
            <a:avLst/>
          </a:prstGeom>
          <a:noFill/>
          <a:ln/>
        </p:spPr>
        <p:txBody>
          <a:bodyPr wrap="square" lIns="508" tIns="508" rIns="508" bIns="508" rtlCol="0" anchor="ctr"/>
          <a:lstStyle/>
          <a:p>
            <a:pPr indent="0" marL="0">
              <a:buNone/>
            </a:pPr>
            <a:r>
              <a:rPr lang="en-US" sz="2200" b="1" dirty="0">
                <a:solidFill>
                  <a:srgbClr val="0F9D8F"/>
                </a:solidFill>
                <a:latin typeface="Calibri" pitchFamily="34" charset="0"/>
                <a:ea typeface="Calibri" pitchFamily="34" charset="-122"/>
                <a:cs typeface="Calibri" pitchFamily="34" charset="-120"/>
              </a:rPr>
              <a:t>TCP</a:t>
            </a:r>
            <a:endParaRPr lang="en-US" sz="2200" dirty="0"/>
          </a:p>
        </p:txBody>
      </p:sp>
      <p:sp>
        <p:nvSpPr>
          <p:cNvPr id="23" name="Text 20"/>
          <p:cNvSpPr/>
          <p:nvPr/>
        </p:nvSpPr>
        <p:spPr>
          <a:xfrm>
            <a:off x="7589520" y="1737360"/>
            <a:ext cx="2103120" cy="2194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Handshake first</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Numbered, ordered</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Lost? Resent</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Slower, safe</a:t>
            </a:r>
            <a:endParaRPr lang="en-US" sz="1500" dirty="0"/>
          </a:p>
        </p:txBody>
      </p:sp>
      <p:sp>
        <p:nvSpPr>
          <p:cNvPr id="24" name="Text 21"/>
          <p:cNvSpPr/>
          <p:nvPr/>
        </p:nvSpPr>
        <p:spPr>
          <a:xfrm>
            <a:off x="9784080" y="1280160"/>
            <a:ext cx="2011680" cy="457200"/>
          </a:xfrm>
          <a:prstGeom prst="rect">
            <a:avLst/>
          </a:prstGeom>
          <a:noFill/>
          <a:ln/>
        </p:spPr>
        <p:txBody>
          <a:bodyPr wrap="square" lIns="508" tIns="508" rIns="508" bIns="508" rtlCol="0" anchor="ctr"/>
          <a:lstStyle/>
          <a:p>
            <a:pPr indent="0" marL="0">
              <a:buNone/>
            </a:pPr>
            <a:r>
              <a:rPr lang="en-US" sz="2200" b="1" dirty="0">
                <a:solidFill>
                  <a:srgbClr val="E5484D"/>
                </a:solidFill>
                <a:latin typeface="Calibri" pitchFamily="34" charset="0"/>
                <a:ea typeface="Calibri" pitchFamily="34" charset="-122"/>
                <a:cs typeface="Calibri" pitchFamily="34" charset="-120"/>
              </a:rPr>
              <a:t>UDP</a:t>
            </a:r>
            <a:endParaRPr lang="en-US" sz="2200" dirty="0"/>
          </a:p>
        </p:txBody>
      </p:sp>
      <p:sp>
        <p:nvSpPr>
          <p:cNvPr id="25" name="Text 22"/>
          <p:cNvSpPr/>
          <p:nvPr/>
        </p:nvSpPr>
        <p:spPr>
          <a:xfrm>
            <a:off x="9784080" y="1737360"/>
            <a:ext cx="2011680" cy="2194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No handshake</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No guarantee</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Fast</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Video, games, DNS</a:t>
            </a:r>
            <a:endParaRPr lang="en-US" sz="1500" dirty="0"/>
          </a:p>
        </p:txBody>
      </p:sp>
      <p:sp>
        <p:nvSpPr>
          <p:cNvPr id="26" name="Shape 23"/>
          <p:cNvSpPr/>
          <p:nvPr/>
        </p:nvSpPr>
        <p:spPr>
          <a:xfrm>
            <a:off x="457200" y="5852160"/>
            <a:ext cx="82296" cy="548640"/>
          </a:xfrm>
          <a:prstGeom prst="rect">
            <a:avLst/>
          </a:prstGeom>
          <a:solidFill>
            <a:srgbClr val="E5484D"/>
          </a:solidFill>
          <a:ln/>
        </p:spPr>
      </p:sp>
      <p:sp>
        <p:nvSpPr>
          <p:cNvPr id="27" name="Text 24"/>
          <p:cNvSpPr/>
          <p:nvPr/>
        </p:nvSpPr>
        <p:spPr>
          <a:xfrm>
            <a:off x="594360" y="5852160"/>
            <a:ext cx="11064240" cy="548640"/>
          </a:xfrm>
          <a:prstGeom prst="rect">
            <a:avLst/>
          </a:prstGeom>
          <a:solidFill>
            <a:srgbClr val="FDE4E4"/>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Tester takeaway: "Network timeout" or "connection reset" errors come from this layer, not from the API's business logic.</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DNS: the Internet's phone book (1983-84)</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
        <p:nvSpPr>
          <p:cNvPr id="8" name="Text 5"/>
          <p:cNvSpPr/>
          <p:nvPr/>
        </p:nvSpPr>
        <p:spPr>
          <a:xfrm>
            <a:off x="640080" y="1188720"/>
            <a:ext cx="1645920" cy="502920"/>
          </a:xfrm>
          <a:prstGeom prst="roundRect">
            <a:avLst>
              <a:gd name="adj" fmla="val 14545"/>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Browser</a:t>
            </a:r>
            <a:endParaRPr lang="en-US" sz="1400" dirty="0"/>
          </a:p>
        </p:txBody>
      </p:sp>
      <p:sp>
        <p:nvSpPr>
          <p:cNvPr id="9" name="Shape 6"/>
          <p:cNvSpPr/>
          <p:nvPr/>
        </p:nvSpPr>
        <p:spPr>
          <a:xfrm>
            <a:off x="1463040" y="1691640"/>
            <a:ext cx="0" cy="3703320"/>
          </a:xfrm>
          <a:prstGeom prst="line">
            <a:avLst/>
          </a:prstGeom>
          <a:noFill/>
          <a:ln w="19050">
            <a:solidFill>
              <a:srgbClr val="CBD5E1"/>
            </a:solidFill>
            <a:prstDash val="dash"/>
          </a:ln>
        </p:spPr>
      </p:sp>
      <p:sp>
        <p:nvSpPr>
          <p:cNvPr id="10" name="Text 7"/>
          <p:cNvSpPr/>
          <p:nvPr/>
        </p:nvSpPr>
        <p:spPr>
          <a:xfrm>
            <a:off x="3931920" y="1188720"/>
            <a:ext cx="1645920" cy="502920"/>
          </a:xfrm>
          <a:prstGeom prst="roundRect">
            <a:avLst>
              <a:gd name="adj" fmla="val 14545"/>
            </a:avLst>
          </a:prstGeom>
          <a:solidFill>
            <a:srgbClr val="7C5CFC"/>
          </a:solidFill>
          <a:ln w="15875">
            <a:solidFill>
              <a:srgbClr val="7C5CFC"/>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DNS resolver</a:t>
            </a:r>
            <a:endParaRPr lang="en-US" sz="1400" dirty="0"/>
          </a:p>
        </p:txBody>
      </p:sp>
      <p:sp>
        <p:nvSpPr>
          <p:cNvPr id="11" name="Shape 8"/>
          <p:cNvSpPr/>
          <p:nvPr/>
        </p:nvSpPr>
        <p:spPr>
          <a:xfrm>
            <a:off x="4754880" y="1691640"/>
            <a:ext cx="0" cy="3703320"/>
          </a:xfrm>
          <a:prstGeom prst="line">
            <a:avLst/>
          </a:prstGeom>
          <a:noFill/>
          <a:ln w="19050">
            <a:solidFill>
              <a:srgbClr val="CBD5E1"/>
            </a:solidFill>
            <a:prstDash val="dash"/>
          </a:ln>
        </p:spPr>
      </p:sp>
      <p:sp>
        <p:nvSpPr>
          <p:cNvPr id="12" name="Text 9"/>
          <p:cNvSpPr/>
          <p:nvPr/>
        </p:nvSpPr>
        <p:spPr>
          <a:xfrm>
            <a:off x="9418320" y="1188720"/>
            <a:ext cx="1645920" cy="502920"/>
          </a:xfrm>
          <a:prstGeom prst="roundRect">
            <a:avLst>
              <a:gd name="adj" fmla="val 14545"/>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Web server</a:t>
            </a:r>
            <a:endParaRPr lang="en-US" sz="1400" dirty="0"/>
          </a:p>
        </p:txBody>
      </p:sp>
      <p:sp>
        <p:nvSpPr>
          <p:cNvPr id="13" name="Shape 10"/>
          <p:cNvSpPr/>
          <p:nvPr/>
        </p:nvSpPr>
        <p:spPr>
          <a:xfrm>
            <a:off x="10241280" y="1691640"/>
            <a:ext cx="0" cy="3703320"/>
          </a:xfrm>
          <a:prstGeom prst="line">
            <a:avLst/>
          </a:prstGeom>
          <a:noFill/>
          <a:ln w="19050">
            <a:solidFill>
              <a:srgbClr val="CBD5E1"/>
            </a:solidFill>
            <a:prstDash val="dash"/>
          </a:ln>
        </p:spPr>
      </p:sp>
      <p:sp>
        <p:nvSpPr>
          <p:cNvPr id="14" name="Shape 11"/>
          <p:cNvSpPr/>
          <p:nvPr/>
        </p:nvSpPr>
        <p:spPr>
          <a:xfrm>
            <a:off x="1463040" y="2377440"/>
            <a:ext cx="3291840" cy="0"/>
          </a:xfrm>
          <a:prstGeom prst="line">
            <a:avLst/>
          </a:prstGeom>
          <a:noFill/>
          <a:ln w="25400">
            <a:solidFill>
              <a:srgbClr val="0F9D8F"/>
            </a:solidFill>
            <a:prstDash val="solid"/>
            <a:tailEnd type="triangle"/>
          </a:ln>
        </p:spPr>
      </p:sp>
      <p:sp>
        <p:nvSpPr>
          <p:cNvPr id="15" name="Text 12"/>
          <p:cNvSpPr/>
          <p:nvPr/>
        </p:nvSpPr>
        <p:spPr>
          <a:xfrm>
            <a:off x="1554480" y="2048256"/>
            <a:ext cx="3108960" cy="292608"/>
          </a:xfrm>
          <a:prstGeom prst="rect">
            <a:avLst/>
          </a:prstGeom>
          <a:noFill/>
          <a:ln/>
        </p:spPr>
        <p:txBody>
          <a:bodyPr wrap="square" lIns="508" tIns="508" rIns="508" bIns="508" rtlCol="0" anchor="ctr"/>
          <a:lstStyle/>
          <a:p>
            <a:pPr algn="ctr" indent="0" marL="0">
              <a:buNone/>
            </a:pPr>
            <a:r>
              <a:rPr lang="en-US" sz="1300" b="1" dirty="0">
                <a:solidFill>
                  <a:srgbClr val="0F9D8F"/>
                </a:solidFill>
                <a:latin typeface="Calibri" pitchFamily="34" charset="0"/>
                <a:ea typeface="Calibri" pitchFamily="34" charset="-122"/>
                <a:cs typeface="Calibri" pitchFamily="34" charset="-120"/>
              </a:rPr>
              <a:t>Where is shop.example.com?</a:t>
            </a:r>
            <a:endParaRPr lang="en-US" sz="1300" dirty="0"/>
          </a:p>
        </p:txBody>
      </p:sp>
      <p:sp>
        <p:nvSpPr>
          <p:cNvPr id="16" name="Shape 13"/>
          <p:cNvSpPr/>
          <p:nvPr/>
        </p:nvSpPr>
        <p:spPr>
          <a:xfrm flipH="1">
            <a:off x="1463040" y="3108960"/>
            <a:ext cx="3291840" cy="0"/>
          </a:xfrm>
          <a:prstGeom prst="line">
            <a:avLst/>
          </a:prstGeom>
          <a:noFill/>
          <a:ln w="25400">
            <a:solidFill>
              <a:srgbClr val="3B82F6"/>
            </a:solidFill>
            <a:prstDash val="solid"/>
            <a:tailEnd type="triangle"/>
          </a:ln>
        </p:spPr>
      </p:sp>
      <p:sp>
        <p:nvSpPr>
          <p:cNvPr id="17" name="Text 14"/>
          <p:cNvSpPr/>
          <p:nvPr/>
        </p:nvSpPr>
        <p:spPr>
          <a:xfrm>
            <a:off x="1554480" y="2779776"/>
            <a:ext cx="3108960" cy="292608"/>
          </a:xfrm>
          <a:prstGeom prst="rect">
            <a:avLst/>
          </a:prstGeom>
          <a:noFill/>
          <a:ln/>
        </p:spPr>
        <p:txBody>
          <a:bodyPr wrap="square" lIns="508" tIns="508" rIns="508" bIns="508"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93.184.216.34</a:t>
            </a:r>
            <a:endParaRPr lang="en-US" sz="1300" dirty="0"/>
          </a:p>
        </p:txBody>
      </p:sp>
      <p:sp>
        <p:nvSpPr>
          <p:cNvPr id="18" name="Shape 15"/>
          <p:cNvSpPr/>
          <p:nvPr/>
        </p:nvSpPr>
        <p:spPr>
          <a:xfrm>
            <a:off x="1463040" y="4023360"/>
            <a:ext cx="8778240" cy="0"/>
          </a:xfrm>
          <a:prstGeom prst="line">
            <a:avLst/>
          </a:prstGeom>
          <a:noFill/>
          <a:ln w="25400">
            <a:solidFill>
              <a:srgbClr val="0B1F3A"/>
            </a:solidFill>
            <a:prstDash val="solid"/>
            <a:tailEnd type="triangle"/>
          </a:ln>
        </p:spPr>
      </p:sp>
      <p:sp>
        <p:nvSpPr>
          <p:cNvPr id="19" name="Text 16"/>
          <p:cNvSpPr/>
          <p:nvPr/>
        </p:nvSpPr>
        <p:spPr>
          <a:xfrm>
            <a:off x="1554480" y="3694176"/>
            <a:ext cx="8595360" cy="292608"/>
          </a:xfrm>
          <a:prstGeom prst="rect">
            <a:avLst/>
          </a:prstGeom>
          <a:noFill/>
          <a:ln/>
        </p:spPr>
        <p:txBody>
          <a:bodyPr wrap="square" lIns="508" tIns="508" rIns="508" bIns="508"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Now connect to 93.184.216.34 and ask for the page (HTTP)</a:t>
            </a:r>
            <a:endParaRPr lang="en-US" sz="1300" dirty="0"/>
          </a:p>
        </p:txBody>
      </p:sp>
      <p:sp>
        <p:nvSpPr>
          <p:cNvPr id="20" name="Shape 17"/>
          <p:cNvSpPr/>
          <p:nvPr/>
        </p:nvSpPr>
        <p:spPr>
          <a:xfrm flipH="1">
            <a:off x="1463040" y="4754880"/>
            <a:ext cx="8778240" cy="0"/>
          </a:xfrm>
          <a:prstGeom prst="line">
            <a:avLst/>
          </a:prstGeom>
          <a:noFill/>
          <a:ln w="25400">
            <a:solidFill>
              <a:srgbClr val="E5484D"/>
            </a:solidFill>
            <a:prstDash val="solid"/>
            <a:tailEnd type="triangle"/>
          </a:ln>
        </p:spPr>
      </p:sp>
      <p:sp>
        <p:nvSpPr>
          <p:cNvPr id="21" name="Text 18"/>
          <p:cNvSpPr/>
          <p:nvPr/>
        </p:nvSpPr>
        <p:spPr>
          <a:xfrm>
            <a:off x="1554480" y="4425696"/>
            <a:ext cx="8595360" cy="292608"/>
          </a:xfrm>
          <a:prstGeom prst="rect">
            <a:avLst/>
          </a:prstGeom>
          <a:noFill/>
          <a:ln/>
        </p:spPr>
        <p:txBody>
          <a:bodyPr wrap="square" lIns="508" tIns="508" rIns="508" bIns="508" rtlCol="0" anchor="ctr"/>
          <a:lstStyle/>
          <a:p>
            <a:pPr algn="ctr" indent="0" marL="0">
              <a:buNone/>
            </a:pPr>
            <a:r>
              <a:rPr lang="en-US" sz="1300" b="1" dirty="0">
                <a:solidFill>
                  <a:srgbClr val="E5484D"/>
                </a:solidFill>
                <a:latin typeface="Calibri" pitchFamily="34" charset="0"/>
                <a:ea typeface="Calibri" pitchFamily="34" charset="-122"/>
                <a:cs typeface="Calibri" pitchFamily="34" charset="-120"/>
              </a:rPr>
              <a:t>Here is the page</a:t>
            </a:r>
            <a:endParaRPr lang="en-US" sz="1300" dirty="0"/>
          </a:p>
        </p:txBody>
      </p:sp>
      <p:sp>
        <p:nvSpPr>
          <p:cNvPr id="22" name="Shape 19"/>
          <p:cNvSpPr/>
          <p:nvPr/>
        </p:nvSpPr>
        <p:spPr>
          <a:xfrm>
            <a:off x="457200" y="5669280"/>
            <a:ext cx="82296" cy="548640"/>
          </a:xfrm>
          <a:prstGeom prst="rect">
            <a:avLst/>
          </a:prstGeom>
          <a:solidFill>
            <a:srgbClr val="0F9D8F"/>
          </a:solidFill>
          <a:ln/>
        </p:spPr>
      </p:sp>
      <p:sp>
        <p:nvSpPr>
          <p:cNvPr id="23" name="Text 20"/>
          <p:cNvSpPr/>
          <p:nvPr/>
        </p:nvSpPr>
        <p:spPr>
          <a:xfrm>
            <a:off x="594360" y="566928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1 January 1983, the "flag day": ARPANET switched to TCP/IP. Many historians call this the birthday of the Internet.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Knowledge check 2: TCP/IP</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TCP/IP: the rules of the road</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
        <p:nvSpPr>
          <p:cNvPr id="8" name="Text 5"/>
          <p:cNvSpPr/>
          <p:nvPr/>
        </p:nvSpPr>
        <p:spPr>
          <a:xfrm>
            <a:off x="548640" y="13258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9" name="Text 6"/>
          <p:cNvSpPr/>
          <p:nvPr/>
        </p:nvSpPr>
        <p:spPr>
          <a:xfrm>
            <a:off x="685800" y="14173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Q1</a:t>
            </a:r>
            <a:endParaRPr lang="en-US" sz="2600" dirty="0"/>
          </a:p>
        </p:txBody>
      </p:sp>
      <p:sp>
        <p:nvSpPr>
          <p:cNvPr id="10" name="Text 7"/>
          <p:cNvSpPr/>
          <p:nvPr/>
        </p:nvSpPr>
        <p:spPr>
          <a:xfrm>
            <a:off x="1371600" y="13716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Which layer decides where a packet goes: Link, Internet (IP), Transport or Application?</a:t>
            </a:r>
            <a:endParaRPr lang="en-US" sz="1900" dirty="0"/>
          </a:p>
        </p:txBody>
      </p:sp>
      <p:sp>
        <p:nvSpPr>
          <p:cNvPr id="11" name="Text 8"/>
          <p:cNvSpPr/>
          <p:nvPr/>
        </p:nvSpPr>
        <p:spPr>
          <a:xfrm>
            <a:off x="1371600" y="20116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Hint: it reads addresses, like a postal sorting office.</a:t>
            </a:r>
            <a:endParaRPr lang="en-US" sz="1500" dirty="0"/>
          </a:p>
        </p:txBody>
      </p:sp>
      <p:sp>
        <p:nvSpPr>
          <p:cNvPr id="12" name="Text 9"/>
          <p:cNvSpPr/>
          <p:nvPr/>
        </p:nvSpPr>
        <p:spPr>
          <a:xfrm>
            <a:off x="548640" y="29260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3" name="Text 10"/>
          <p:cNvSpPr/>
          <p:nvPr/>
        </p:nvSpPr>
        <p:spPr>
          <a:xfrm>
            <a:off x="685800" y="30175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Q2</a:t>
            </a:r>
            <a:endParaRPr lang="en-US" sz="2600" dirty="0"/>
          </a:p>
        </p:txBody>
      </p:sp>
      <p:sp>
        <p:nvSpPr>
          <p:cNvPr id="14" name="Text 11"/>
          <p:cNvSpPr/>
          <p:nvPr/>
        </p:nvSpPr>
        <p:spPr>
          <a:xfrm>
            <a:off x="1371600" y="29718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What does the TCP three-way handshake do?</a:t>
            </a:r>
            <a:endParaRPr lang="en-US" sz="1900" dirty="0"/>
          </a:p>
        </p:txBody>
      </p:sp>
      <p:sp>
        <p:nvSpPr>
          <p:cNvPr id="15" name="Text 12"/>
          <p:cNvSpPr/>
          <p:nvPr/>
        </p:nvSpPr>
        <p:spPr>
          <a:xfrm>
            <a:off x="1371600" y="36118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Encrypts data  B) Sets up a reliable connection (SYN, SYN-ACK, ACK)  C) Looks up names</a:t>
            </a:r>
            <a:endParaRPr lang="en-US" sz="1500" dirty="0"/>
          </a:p>
        </p:txBody>
      </p:sp>
      <p:sp>
        <p:nvSpPr>
          <p:cNvPr id="16" name="Text 13"/>
          <p:cNvSpPr/>
          <p:nvPr/>
        </p:nvSpPr>
        <p:spPr>
          <a:xfrm>
            <a:off x="548640" y="45262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7" name="Text 14"/>
          <p:cNvSpPr/>
          <p:nvPr/>
        </p:nvSpPr>
        <p:spPr>
          <a:xfrm>
            <a:off x="685800" y="46177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Q3</a:t>
            </a:r>
            <a:endParaRPr lang="en-US" sz="2600" dirty="0"/>
          </a:p>
        </p:txBody>
      </p:sp>
      <p:sp>
        <p:nvSpPr>
          <p:cNvPr id="18" name="Text 15"/>
          <p:cNvSpPr/>
          <p:nvPr/>
        </p:nvSpPr>
        <p:spPr>
          <a:xfrm>
            <a:off x="1371600" y="45720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Your API call fails with "could not resolve host". Which service is the likely culprit?</a:t>
            </a:r>
            <a:endParaRPr lang="en-US" sz="1900" dirty="0"/>
          </a:p>
        </p:txBody>
      </p:sp>
      <p:sp>
        <p:nvSpPr>
          <p:cNvPr id="19" name="Text 16"/>
          <p:cNvSpPr/>
          <p:nvPr/>
        </p:nvSpPr>
        <p:spPr>
          <a:xfrm>
            <a:off x="1371600" y="52120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HTTP  B) DNS  C) JSON parser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2011680"/>
            <a:ext cx="109728" cy="2011680"/>
          </a:xfrm>
          <a:prstGeom prst="rect">
            <a:avLst/>
          </a:prstGeom>
          <a:solidFill>
            <a:srgbClr val="0F9D8F"/>
          </a:solidFill>
          <a:ln/>
        </p:spPr>
      </p:sp>
      <p:sp>
        <p:nvSpPr>
          <p:cNvPr id="3" name="Text 1"/>
          <p:cNvSpPr/>
          <p:nvPr/>
        </p:nvSpPr>
        <p:spPr>
          <a:xfrm>
            <a:off x="1005840" y="1920240"/>
            <a:ext cx="5486400" cy="457200"/>
          </a:xfrm>
          <a:prstGeom prst="rect">
            <a:avLst/>
          </a:prstGeom>
          <a:noFill/>
          <a:ln/>
        </p:spPr>
        <p:txBody>
          <a:bodyPr wrap="square" lIns="508" tIns="508" rIns="508" bIns="508" rtlCol="0" anchor="ctr"/>
          <a:lstStyle/>
          <a:p>
            <a:pPr indent="0" marL="0">
              <a:buNone/>
            </a:pPr>
            <a:r>
              <a:rPr lang="en-US" sz="1600" b="1" spc="400" kern="0" dirty="0">
                <a:solidFill>
                  <a:srgbClr val="F59E0B"/>
                </a:solidFill>
                <a:latin typeface="Calibri" pitchFamily="34" charset="0"/>
                <a:ea typeface="Calibri" pitchFamily="34" charset="-122"/>
                <a:cs typeface="Calibri" pitchFamily="34" charset="-120"/>
              </a:rPr>
              <a:t>PART 3</a:t>
            </a:r>
            <a:endParaRPr lang="en-US" sz="1600" dirty="0"/>
          </a:p>
        </p:txBody>
      </p:sp>
      <p:sp>
        <p:nvSpPr>
          <p:cNvPr id="4" name="Text 2"/>
          <p:cNvSpPr/>
          <p:nvPr/>
        </p:nvSpPr>
        <p:spPr>
          <a:xfrm>
            <a:off x="1005840" y="2377440"/>
            <a:ext cx="10058400" cy="1005840"/>
          </a:xfrm>
          <a:prstGeom prst="rect">
            <a:avLst/>
          </a:prstGeom>
          <a:noFill/>
          <a:ln/>
        </p:spPr>
        <p:txBody>
          <a:bodyPr wrap="square" lIns="508" tIns="508" rIns="508" bIns="508"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The Web and HTTP</a:t>
            </a:r>
            <a:endParaRPr lang="en-US" sz="4400" dirty="0"/>
          </a:p>
        </p:txBody>
      </p:sp>
      <p:sp>
        <p:nvSpPr>
          <p:cNvPr id="5" name="Text 3"/>
          <p:cNvSpPr/>
          <p:nvPr/>
        </p:nvSpPr>
        <p:spPr>
          <a:xfrm>
            <a:off x="1005840" y="3383280"/>
            <a:ext cx="9601200" cy="731520"/>
          </a:xfrm>
          <a:prstGeom prst="rect">
            <a:avLst/>
          </a:prstGeom>
          <a:noFill/>
          <a:ln/>
        </p:spPr>
        <p:txBody>
          <a:bodyPr wrap="square" lIns="508" tIns="508" rIns="508" bIns="508" rtlCol="0" anchor="ctr"/>
          <a:lstStyle/>
          <a:p>
            <a:pPr indent="0" marL="0">
              <a:buNone/>
            </a:pPr>
            <a:r>
              <a:rPr lang="en-US" sz="2000" dirty="0">
                <a:solidFill>
                  <a:srgbClr val="9FB3C8"/>
                </a:solidFill>
                <a:latin typeface="Calibri" pitchFamily="34" charset="0"/>
                <a:ea typeface="Calibri" pitchFamily="34" charset="-122"/>
                <a:cs typeface="Calibri" pitchFamily="34" charset="-120"/>
              </a:rPr>
              <a:t>1989-today: a simple idea that changed the world</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1989-91: Tim Berners-Lee invents the Web</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
        <p:nvSpPr>
          <p:cNvPr id="8" name="Text 5"/>
          <p:cNvSpPr/>
          <p:nvPr/>
        </p:nvSpPr>
        <p:spPr>
          <a:xfrm>
            <a:off x="640080" y="1371600"/>
            <a:ext cx="3474720" cy="1005840"/>
          </a:xfrm>
          <a:prstGeom prst="rect">
            <a:avLst>
              <a:gd name="adj" fmla="val 7273"/>
            </a:avLst>
          </a:prstGeom>
          <a:solidFill>
            <a:srgbClr val="3B82F6"/>
          </a:solidFill>
          <a:ln w="15875">
            <a:solidFill>
              <a:srgbClr val="3B82F6"/>
            </a:solidFill>
          </a:ln>
        </p:spPr>
        <p:txBody>
          <a:bodyPr wrap="square" lIns="1016" tIns="1016" rIns="1016" bIns="1016"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9" name="Text 6"/>
          <p:cNvSpPr/>
          <p:nvPr/>
        </p:nvSpPr>
        <p:spPr>
          <a:xfrm>
            <a:off x="640080" y="2377440"/>
            <a:ext cx="347472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URL</a:t>
            </a:r>
            <a:endParaRPr lang="en-US" sz="2200" dirty="0"/>
          </a:p>
        </p:txBody>
      </p:sp>
      <p:sp>
        <p:nvSpPr>
          <p:cNvPr id="10" name="Text 7"/>
          <p:cNvSpPr/>
          <p:nvPr/>
        </p:nvSpPr>
        <p:spPr>
          <a:xfrm>
            <a:off x="640080" y="2926080"/>
            <a:ext cx="3474720" cy="640080"/>
          </a:xfrm>
          <a:prstGeom prst="rect">
            <a:avLst>
              <a:gd name="adj" fmla="val 11429"/>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Where is it?</a:t>
            </a:r>
            <a:endParaRPr lang="en-US" sz="1400" dirty="0"/>
          </a:p>
        </p:txBody>
      </p:sp>
      <p:sp>
        <p:nvSpPr>
          <p:cNvPr id="11" name="Text 8"/>
          <p:cNvSpPr/>
          <p:nvPr/>
        </p:nvSpPr>
        <p:spPr>
          <a:xfrm>
            <a:off x="640080" y="3566160"/>
            <a:ext cx="3474720" cy="731520"/>
          </a:xfrm>
          <a:prstGeom prst="roundRect">
            <a:avLst>
              <a:gd name="adj" fmla="val 7500"/>
            </a:avLst>
          </a:prstGeom>
          <a:solidFill>
            <a:srgbClr val="111827"/>
          </a:solidFill>
          <a:ln/>
        </p:spPr>
        <p:txBody>
          <a:bodyPr wrap="square" lIns="1905" tIns="1905" rIns="1905" bIns="1905"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https://info.cern.ch/hypertext/</a:t>
            </a:r>
            <a:endParaRPr lang="en-US" sz="1200" dirty="0"/>
          </a:p>
        </p:txBody>
      </p:sp>
      <p:sp>
        <p:nvSpPr>
          <p:cNvPr id="12" name="Text 9"/>
          <p:cNvSpPr/>
          <p:nvPr/>
        </p:nvSpPr>
        <p:spPr>
          <a:xfrm>
            <a:off x="4434840" y="1371600"/>
            <a:ext cx="3474720" cy="1005840"/>
          </a:xfrm>
          <a:prstGeom prst="rect">
            <a:avLst>
              <a:gd name="adj" fmla="val 7273"/>
            </a:avLst>
          </a:prstGeom>
          <a:solidFill>
            <a:srgbClr val="0F9D8F"/>
          </a:solidFill>
          <a:ln w="15875">
            <a:solidFill>
              <a:srgbClr val="0F9D8F"/>
            </a:solidFill>
          </a:ln>
        </p:spPr>
        <p:txBody>
          <a:bodyPr wrap="square" lIns="1016" tIns="1016" rIns="1016" bIns="1016"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13" name="Text 10"/>
          <p:cNvSpPr/>
          <p:nvPr/>
        </p:nvSpPr>
        <p:spPr>
          <a:xfrm>
            <a:off x="4434840" y="2377440"/>
            <a:ext cx="347472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HTTP</a:t>
            </a:r>
            <a:endParaRPr lang="en-US" sz="2200" dirty="0"/>
          </a:p>
        </p:txBody>
      </p:sp>
      <p:sp>
        <p:nvSpPr>
          <p:cNvPr id="14" name="Text 11"/>
          <p:cNvSpPr/>
          <p:nvPr/>
        </p:nvSpPr>
        <p:spPr>
          <a:xfrm>
            <a:off x="4434840" y="2926080"/>
            <a:ext cx="3474720" cy="640080"/>
          </a:xfrm>
          <a:prstGeom prst="rect">
            <a:avLst>
              <a:gd name="adj" fmla="val 11429"/>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How do I fetch it?</a:t>
            </a:r>
            <a:endParaRPr lang="en-US" sz="1400" dirty="0"/>
          </a:p>
        </p:txBody>
      </p:sp>
      <p:sp>
        <p:nvSpPr>
          <p:cNvPr id="15" name="Text 12"/>
          <p:cNvSpPr/>
          <p:nvPr/>
        </p:nvSpPr>
        <p:spPr>
          <a:xfrm>
            <a:off x="4434840" y="3566160"/>
            <a:ext cx="3474720" cy="731520"/>
          </a:xfrm>
          <a:prstGeom prst="roundRect">
            <a:avLst>
              <a:gd name="adj" fmla="val 7500"/>
            </a:avLst>
          </a:prstGeom>
          <a:solidFill>
            <a:srgbClr val="111827"/>
          </a:solidFill>
          <a:ln/>
        </p:spPr>
        <p:txBody>
          <a:bodyPr wrap="square" lIns="1905" tIns="1905" rIns="1905" bIns="1905"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GET /hypertext/ HTTP/1.1</a:t>
            </a:r>
            <a:endParaRPr lang="en-US" sz="1200" dirty="0"/>
          </a:p>
        </p:txBody>
      </p:sp>
      <p:sp>
        <p:nvSpPr>
          <p:cNvPr id="16" name="Text 13"/>
          <p:cNvSpPr/>
          <p:nvPr/>
        </p:nvSpPr>
        <p:spPr>
          <a:xfrm>
            <a:off x="8229600" y="1371600"/>
            <a:ext cx="3474720" cy="1005840"/>
          </a:xfrm>
          <a:prstGeom prst="rect">
            <a:avLst>
              <a:gd name="adj" fmla="val 7273"/>
            </a:avLst>
          </a:prstGeom>
          <a:solidFill>
            <a:srgbClr val="7C5CFC"/>
          </a:solidFill>
          <a:ln w="15875">
            <a:solidFill>
              <a:srgbClr val="7C5CFC"/>
            </a:solidFill>
          </a:ln>
        </p:spPr>
        <p:txBody>
          <a:bodyPr wrap="square" lIns="1016" tIns="1016" rIns="1016" bIns="1016"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17" name="Text 14"/>
          <p:cNvSpPr/>
          <p:nvPr/>
        </p:nvSpPr>
        <p:spPr>
          <a:xfrm>
            <a:off x="8229600" y="2377440"/>
            <a:ext cx="347472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HTML</a:t>
            </a:r>
            <a:endParaRPr lang="en-US" sz="2200" dirty="0"/>
          </a:p>
        </p:txBody>
      </p:sp>
      <p:sp>
        <p:nvSpPr>
          <p:cNvPr id="18" name="Text 15"/>
          <p:cNvSpPr/>
          <p:nvPr/>
        </p:nvSpPr>
        <p:spPr>
          <a:xfrm>
            <a:off x="8229600" y="2926080"/>
            <a:ext cx="3474720" cy="640080"/>
          </a:xfrm>
          <a:prstGeom prst="rect">
            <a:avLst>
              <a:gd name="adj" fmla="val 11429"/>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What does it look like?</a:t>
            </a:r>
            <a:endParaRPr lang="en-US" sz="1400" dirty="0"/>
          </a:p>
        </p:txBody>
      </p:sp>
      <p:sp>
        <p:nvSpPr>
          <p:cNvPr id="19" name="Text 16"/>
          <p:cNvSpPr/>
          <p:nvPr/>
        </p:nvSpPr>
        <p:spPr>
          <a:xfrm>
            <a:off x="8229600" y="3566160"/>
            <a:ext cx="3474720" cy="731520"/>
          </a:xfrm>
          <a:prstGeom prst="roundRect">
            <a:avLst>
              <a:gd name="adj" fmla="val 7500"/>
            </a:avLst>
          </a:prstGeom>
          <a:solidFill>
            <a:srgbClr val="111827"/>
          </a:solidFill>
          <a:ln/>
        </p:spPr>
        <p:txBody>
          <a:bodyPr wrap="square" lIns="1905" tIns="1905" rIns="1905" bIns="1905"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&lt;a href="next.html"&gt;link&lt;/a&gt;</a:t>
            </a:r>
            <a:endParaRPr lang="en-US" sz="1200" dirty="0"/>
          </a:p>
        </p:txBody>
      </p:sp>
      <p:sp>
        <p:nvSpPr>
          <p:cNvPr id="20" name="Text 17"/>
          <p:cNvSpPr/>
          <p:nvPr/>
        </p:nvSpPr>
        <p:spPr>
          <a:xfrm>
            <a:off x="640080" y="4663440"/>
            <a:ext cx="10972800" cy="12801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Before: Internet used by experts via command lines (Telnet, FTP)</a:t>
            </a:r>
            <a:endParaRPr lang="en-US" sz="1800" dirty="0"/>
          </a:p>
          <a:p>
            <a:pPr marL="228600" indent="-2286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After: anyone can click a link. Internet is the road; the Web is one service that drives on it</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Anatomy of a URL</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
        <p:nvSpPr>
          <p:cNvPr id="8" name="Text 5"/>
          <p:cNvSpPr/>
          <p:nvPr/>
        </p:nvSpPr>
        <p:spPr>
          <a:xfrm>
            <a:off x="548640" y="1828800"/>
            <a:ext cx="1188720" cy="822960"/>
          </a:xfrm>
          <a:prstGeom prst="roundRect">
            <a:avLst>
              <a:gd name="adj" fmla="val 8889"/>
            </a:avLst>
          </a:prstGeom>
          <a:solidFill>
            <a:srgbClr val="7C5CFC"/>
          </a:solidFill>
          <a:ln>
            <a:solidFill>
              <a:srgbClr val="F7F9FC"/>
            </a:solidFill>
          </a:ln>
        </p:spPr>
        <p:txBody>
          <a:bodyPr wrap="square" lIns="1016" tIns="1016" rIns="1016" bIns="1016"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https</a:t>
            </a:r>
            <a:endParaRPr lang="en-US" sz="1700" dirty="0"/>
          </a:p>
        </p:txBody>
      </p:sp>
      <p:sp>
        <p:nvSpPr>
          <p:cNvPr id="9" name="Text 6"/>
          <p:cNvSpPr/>
          <p:nvPr/>
        </p:nvSpPr>
        <p:spPr>
          <a:xfrm>
            <a:off x="548640" y="2743200"/>
            <a:ext cx="1188720" cy="731520"/>
          </a:xfrm>
          <a:prstGeom prst="rect">
            <a:avLst/>
          </a:prstGeom>
          <a:noFill/>
          <a:ln/>
        </p:spPr>
        <p:txBody>
          <a:bodyPr wrap="square" lIns="508" tIns="508" rIns="508" bIns="508" rtlCol="0" anchor="ctr"/>
          <a:lstStyle/>
          <a:p>
            <a:pPr algn="ctr" indent="0" marL="0">
              <a:buNone/>
            </a:pPr>
            <a:r>
              <a:rPr lang="en-US" sz="1400" b="1" dirty="0">
                <a:solidFill>
                  <a:srgbClr val="7C5CFC"/>
                </a:solidFill>
                <a:latin typeface="Calibri" pitchFamily="34" charset="0"/>
                <a:ea typeface="Calibri" pitchFamily="34" charset="-122"/>
                <a:cs typeface="Calibri" pitchFamily="34" charset="-120"/>
              </a:rPr>
              <a:t>scheme</a:t>
            </a:r>
            <a:endParaRPr lang="en-US" sz="1400" dirty="0"/>
          </a:p>
          <a:p>
            <a:pPr algn="ctr" indent="0" marL="0">
              <a:buNone/>
            </a:pPr>
            <a:r>
              <a:rPr lang="en-US" sz="1400" b="1" dirty="0">
                <a:solidFill>
                  <a:srgbClr val="7C5CFC"/>
                </a:solidFill>
                <a:latin typeface="Calibri" pitchFamily="34" charset="0"/>
                <a:ea typeface="Calibri" pitchFamily="34" charset="-122"/>
                <a:cs typeface="Calibri" pitchFamily="34" charset="-120"/>
              </a:rPr>
              <a:t>protocol</a:t>
            </a:r>
            <a:endParaRPr lang="en-US" sz="1400" dirty="0"/>
          </a:p>
        </p:txBody>
      </p:sp>
      <p:sp>
        <p:nvSpPr>
          <p:cNvPr id="10" name="Text 7"/>
          <p:cNvSpPr/>
          <p:nvPr/>
        </p:nvSpPr>
        <p:spPr>
          <a:xfrm>
            <a:off x="1783080" y="1828800"/>
            <a:ext cx="731520" cy="822960"/>
          </a:xfrm>
          <a:prstGeom prst="roundRect">
            <a:avLst>
              <a:gd name="adj" fmla="val 10000"/>
            </a:avLst>
          </a:prstGeom>
          <a:solidFill>
            <a:srgbClr val="F7F9FC"/>
          </a:solidFill>
          <a:ln>
            <a:solidFill>
              <a:srgbClr val="F7F9FC"/>
            </a:solidFill>
          </a:ln>
        </p:spPr>
        <p:txBody>
          <a:bodyPr wrap="square" lIns="1016" tIns="1016" rIns="1016" bIns="1016" rtlCol="0" anchor="ctr"/>
          <a:lstStyle/>
          <a:p>
            <a:pPr algn="ctr" indent="0" marL="0">
              <a:buNone/>
            </a:pPr>
            <a:r>
              <a:rPr lang="en-US" sz="1700" b="1" dirty="0">
                <a:solidFill>
                  <a:srgbClr val="1F2937"/>
                </a:solidFill>
                <a:latin typeface="Consolas" pitchFamily="34" charset="0"/>
                <a:ea typeface="Consolas" pitchFamily="34" charset="-122"/>
                <a:cs typeface="Consolas" pitchFamily="34" charset="-120"/>
              </a:rPr>
              <a:t>://</a:t>
            </a:r>
            <a:endParaRPr lang="en-US" sz="1700" dirty="0"/>
          </a:p>
        </p:txBody>
      </p:sp>
      <p:sp>
        <p:nvSpPr>
          <p:cNvPr id="11" name="Text 8"/>
          <p:cNvSpPr/>
          <p:nvPr/>
        </p:nvSpPr>
        <p:spPr>
          <a:xfrm>
            <a:off x="2560320" y="1828800"/>
            <a:ext cx="2560320" cy="822960"/>
          </a:xfrm>
          <a:prstGeom prst="roundRect">
            <a:avLst>
              <a:gd name="adj" fmla="val 8889"/>
            </a:avLst>
          </a:prstGeom>
          <a:solidFill>
            <a:srgbClr val="3B82F6"/>
          </a:solidFill>
          <a:ln>
            <a:solidFill>
              <a:srgbClr val="F7F9FC"/>
            </a:solidFill>
          </a:ln>
        </p:spPr>
        <p:txBody>
          <a:bodyPr wrap="square" lIns="1016" tIns="1016" rIns="1016" bIns="1016"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api.shop.com</a:t>
            </a:r>
            <a:endParaRPr lang="en-US" sz="1700" dirty="0"/>
          </a:p>
        </p:txBody>
      </p:sp>
      <p:sp>
        <p:nvSpPr>
          <p:cNvPr id="12" name="Text 9"/>
          <p:cNvSpPr/>
          <p:nvPr/>
        </p:nvSpPr>
        <p:spPr>
          <a:xfrm>
            <a:off x="2560320" y="2743200"/>
            <a:ext cx="2560320" cy="731520"/>
          </a:xfrm>
          <a:prstGeom prst="rect">
            <a:avLst/>
          </a:prstGeom>
          <a:noFill/>
          <a:ln/>
        </p:spPr>
        <p:txBody>
          <a:bodyPr wrap="square" lIns="508" tIns="508" rIns="508" bIns="508" rtlCol="0" anchor="ctr"/>
          <a:lstStyle/>
          <a:p>
            <a:pPr algn="ctr" indent="0" marL="0">
              <a:buNone/>
            </a:pPr>
            <a:r>
              <a:rPr lang="en-US" sz="1400" b="1" dirty="0">
                <a:solidFill>
                  <a:srgbClr val="3B82F6"/>
                </a:solidFill>
                <a:latin typeface="Calibri" pitchFamily="34" charset="0"/>
                <a:ea typeface="Calibri" pitchFamily="34" charset="-122"/>
                <a:cs typeface="Calibri" pitchFamily="34" charset="-120"/>
              </a:rPr>
              <a:t>host</a:t>
            </a:r>
            <a:endParaRPr lang="en-US" sz="1400" dirty="0"/>
          </a:p>
          <a:p>
            <a:pPr algn="ctr" indent="0" marL="0">
              <a:buNone/>
            </a:pPr>
            <a:r>
              <a:rPr lang="en-US" sz="1400" b="1" dirty="0">
                <a:solidFill>
                  <a:srgbClr val="3B82F6"/>
                </a:solidFill>
                <a:latin typeface="Calibri" pitchFamily="34" charset="0"/>
                <a:ea typeface="Calibri" pitchFamily="34" charset="-122"/>
                <a:cs typeface="Calibri" pitchFamily="34" charset="-120"/>
              </a:rPr>
              <a:t>(DNS)</a:t>
            </a:r>
            <a:endParaRPr lang="en-US" sz="1400" dirty="0"/>
          </a:p>
        </p:txBody>
      </p:sp>
      <p:sp>
        <p:nvSpPr>
          <p:cNvPr id="13" name="Text 10"/>
          <p:cNvSpPr/>
          <p:nvPr/>
        </p:nvSpPr>
        <p:spPr>
          <a:xfrm>
            <a:off x="5166360" y="1828800"/>
            <a:ext cx="1280160" cy="822960"/>
          </a:xfrm>
          <a:prstGeom prst="roundRect">
            <a:avLst>
              <a:gd name="adj" fmla="val 8889"/>
            </a:avLst>
          </a:prstGeom>
          <a:solidFill>
            <a:srgbClr val="0F9D8F"/>
          </a:solidFill>
          <a:ln>
            <a:solidFill>
              <a:srgbClr val="F7F9FC"/>
            </a:solidFill>
          </a:ln>
        </p:spPr>
        <p:txBody>
          <a:bodyPr wrap="square" lIns="1016" tIns="1016" rIns="1016" bIns="1016"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:443</a:t>
            </a:r>
            <a:endParaRPr lang="en-US" sz="1700" dirty="0"/>
          </a:p>
        </p:txBody>
      </p:sp>
      <p:sp>
        <p:nvSpPr>
          <p:cNvPr id="14" name="Text 11"/>
          <p:cNvSpPr/>
          <p:nvPr/>
        </p:nvSpPr>
        <p:spPr>
          <a:xfrm>
            <a:off x="5166360" y="2743200"/>
            <a:ext cx="1280160" cy="731520"/>
          </a:xfrm>
          <a:prstGeom prst="rect">
            <a:avLst/>
          </a:prstGeom>
          <a:noFill/>
          <a:ln/>
        </p:spPr>
        <p:txBody>
          <a:bodyPr wrap="square" lIns="508" tIns="508" rIns="508" bIns="508" rtlCol="0" anchor="ctr"/>
          <a:lstStyle/>
          <a:p>
            <a:pPr algn="ctr" indent="0" marL="0">
              <a:buNone/>
            </a:pPr>
            <a:r>
              <a:rPr lang="en-US" sz="1400" b="1" dirty="0">
                <a:solidFill>
                  <a:srgbClr val="0F9D8F"/>
                </a:solidFill>
                <a:latin typeface="Calibri" pitchFamily="34" charset="0"/>
                <a:ea typeface="Calibri" pitchFamily="34" charset="-122"/>
                <a:cs typeface="Calibri" pitchFamily="34" charset="-120"/>
              </a:rPr>
              <a:t>port</a:t>
            </a:r>
            <a:endParaRPr lang="en-US" sz="1400" dirty="0"/>
          </a:p>
          <a:p>
            <a:pPr algn="ctr" indent="0" marL="0">
              <a:buNone/>
            </a:pPr>
            <a:r>
              <a:rPr lang="en-US" sz="1400" b="1" dirty="0">
                <a:solidFill>
                  <a:srgbClr val="0F9D8F"/>
                </a:solidFill>
                <a:latin typeface="Calibri" pitchFamily="34" charset="0"/>
                <a:ea typeface="Calibri" pitchFamily="34" charset="-122"/>
                <a:cs typeface="Calibri" pitchFamily="34" charset="-120"/>
              </a:rPr>
              <a:t>(optional)</a:t>
            </a:r>
            <a:endParaRPr lang="en-US" sz="1400" dirty="0"/>
          </a:p>
        </p:txBody>
      </p:sp>
      <p:sp>
        <p:nvSpPr>
          <p:cNvPr id="15" name="Text 12"/>
          <p:cNvSpPr/>
          <p:nvPr/>
        </p:nvSpPr>
        <p:spPr>
          <a:xfrm>
            <a:off x="6492240" y="1828800"/>
            <a:ext cx="2743200" cy="822960"/>
          </a:xfrm>
          <a:prstGeom prst="roundRect">
            <a:avLst>
              <a:gd name="adj" fmla="val 8889"/>
            </a:avLst>
          </a:prstGeom>
          <a:solidFill>
            <a:srgbClr val="F59E0B"/>
          </a:solidFill>
          <a:ln>
            <a:solidFill>
              <a:srgbClr val="F7F9FC"/>
            </a:solidFill>
          </a:ln>
        </p:spPr>
        <p:txBody>
          <a:bodyPr wrap="square" lIns="1016" tIns="1016" rIns="1016" bIns="1016"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/users/42/orders</a:t>
            </a:r>
            <a:endParaRPr lang="en-US" sz="1700" dirty="0"/>
          </a:p>
        </p:txBody>
      </p:sp>
      <p:sp>
        <p:nvSpPr>
          <p:cNvPr id="16" name="Text 13"/>
          <p:cNvSpPr/>
          <p:nvPr/>
        </p:nvSpPr>
        <p:spPr>
          <a:xfrm>
            <a:off x="6492240" y="2743200"/>
            <a:ext cx="2743200" cy="731520"/>
          </a:xfrm>
          <a:prstGeom prst="rect">
            <a:avLst/>
          </a:prstGeom>
          <a:noFill/>
          <a:ln/>
        </p:spPr>
        <p:txBody>
          <a:bodyPr wrap="square" lIns="508" tIns="508" rIns="508" bIns="508" rtlCol="0" anchor="ctr"/>
          <a:lstStyle/>
          <a:p>
            <a:pPr algn="ctr" indent="0" marL="0">
              <a:buNone/>
            </a:pPr>
            <a:r>
              <a:rPr lang="en-US" sz="1400" b="1" dirty="0">
                <a:solidFill>
                  <a:srgbClr val="F59E0B"/>
                </a:solidFill>
                <a:latin typeface="Calibri" pitchFamily="34" charset="0"/>
                <a:ea typeface="Calibri" pitchFamily="34" charset="-122"/>
                <a:cs typeface="Calibri" pitchFamily="34" charset="-120"/>
              </a:rPr>
              <a:t>path</a:t>
            </a:r>
            <a:endParaRPr lang="en-US" sz="1400" dirty="0"/>
          </a:p>
          <a:p>
            <a:pPr algn="ctr" indent="0" marL="0">
              <a:buNone/>
            </a:pPr>
            <a:r>
              <a:rPr lang="en-US" sz="1400" b="1" dirty="0">
                <a:solidFill>
                  <a:srgbClr val="F59E0B"/>
                </a:solidFill>
                <a:latin typeface="Calibri" pitchFamily="34" charset="0"/>
                <a:ea typeface="Calibri" pitchFamily="34" charset="-122"/>
                <a:cs typeface="Calibri" pitchFamily="34" charset="-120"/>
              </a:rPr>
              <a:t>(which resource)</a:t>
            </a:r>
            <a:endParaRPr lang="en-US" sz="1400" dirty="0"/>
          </a:p>
        </p:txBody>
      </p:sp>
      <p:sp>
        <p:nvSpPr>
          <p:cNvPr id="17" name="Text 14"/>
          <p:cNvSpPr/>
          <p:nvPr/>
        </p:nvSpPr>
        <p:spPr>
          <a:xfrm>
            <a:off x="9281160" y="1828800"/>
            <a:ext cx="3017520" cy="822960"/>
          </a:xfrm>
          <a:prstGeom prst="roundRect">
            <a:avLst>
              <a:gd name="adj" fmla="val 8889"/>
            </a:avLst>
          </a:prstGeom>
          <a:solidFill>
            <a:srgbClr val="E5484D"/>
          </a:solidFill>
          <a:ln>
            <a:solidFill>
              <a:srgbClr val="F7F9FC"/>
            </a:solidFill>
          </a:ln>
        </p:spPr>
        <p:txBody>
          <a:bodyPr wrap="square" lIns="1016" tIns="1016" rIns="1016" bIns="1016"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?status=open&amp;page=2</a:t>
            </a:r>
            <a:endParaRPr lang="en-US" sz="1700" dirty="0"/>
          </a:p>
        </p:txBody>
      </p:sp>
      <p:sp>
        <p:nvSpPr>
          <p:cNvPr id="18" name="Text 15"/>
          <p:cNvSpPr/>
          <p:nvPr/>
        </p:nvSpPr>
        <p:spPr>
          <a:xfrm>
            <a:off x="9281160" y="2743200"/>
            <a:ext cx="3017520" cy="731520"/>
          </a:xfrm>
          <a:prstGeom prst="rect">
            <a:avLst/>
          </a:prstGeom>
          <a:noFill/>
          <a:ln/>
        </p:spPr>
        <p:txBody>
          <a:bodyPr wrap="square" lIns="508" tIns="508" rIns="508" bIns="508" rtlCol="0" anchor="ctr"/>
          <a:lstStyle/>
          <a:p>
            <a:pPr algn="ctr" indent="0" marL="0">
              <a:buNone/>
            </a:pPr>
            <a:r>
              <a:rPr lang="en-US" sz="1400" b="1" dirty="0">
                <a:solidFill>
                  <a:srgbClr val="E5484D"/>
                </a:solidFill>
                <a:latin typeface="Calibri" pitchFamily="34" charset="0"/>
                <a:ea typeface="Calibri" pitchFamily="34" charset="-122"/>
                <a:cs typeface="Calibri" pitchFamily="34" charset="-120"/>
              </a:rPr>
              <a:t>query</a:t>
            </a:r>
            <a:endParaRPr lang="en-US" sz="1400" dirty="0"/>
          </a:p>
          <a:p>
            <a:pPr algn="ctr" indent="0" marL="0">
              <a:buNone/>
            </a:pPr>
            <a:r>
              <a:rPr lang="en-US" sz="1400" b="1" dirty="0">
                <a:solidFill>
                  <a:srgbClr val="E5484D"/>
                </a:solidFill>
                <a:latin typeface="Calibri" pitchFamily="34" charset="0"/>
                <a:ea typeface="Calibri" pitchFamily="34" charset="-122"/>
                <a:cs typeface="Calibri" pitchFamily="34" charset="-120"/>
              </a:rPr>
              <a:t>(filters)</a:t>
            </a:r>
            <a:endParaRPr lang="en-US" sz="1400" dirty="0"/>
          </a:p>
        </p:txBody>
      </p:sp>
      <p:sp>
        <p:nvSpPr>
          <p:cNvPr id="19" name="Text 16"/>
          <p:cNvSpPr/>
          <p:nvPr/>
        </p:nvSpPr>
        <p:spPr>
          <a:xfrm>
            <a:off x="731520" y="3931920"/>
            <a:ext cx="10515600" cy="16459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Path identifies a thing: /users/42</a:t>
            </a:r>
            <a:endParaRPr lang="en-US" sz="1800" dirty="0"/>
          </a:p>
          <a:p>
            <a:pPr marL="228600" indent="-2286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Query refines or filters: ?status=open</a:t>
            </a:r>
            <a:endParaRPr lang="en-US" sz="1800" dirty="0"/>
          </a:p>
          <a:p>
            <a:pPr marL="228600" indent="-2286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Same URL + different HTTP method = different action (coming up)</a:t>
            </a:r>
            <a:endParaRPr lang="en-US" sz="1800" dirty="0"/>
          </a:p>
        </p:txBody>
      </p:sp>
      <p:sp>
        <p:nvSpPr>
          <p:cNvPr id="20" name="Shape 17"/>
          <p:cNvSpPr/>
          <p:nvPr/>
        </p:nvSpPr>
        <p:spPr>
          <a:xfrm>
            <a:off x="457200" y="5669280"/>
            <a:ext cx="82296" cy="548640"/>
          </a:xfrm>
          <a:prstGeom prst="rect">
            <a:avLst/>
          </a:prstGeom>
          <a:solidFill>
            <a:srgbClr val="0F9D8F"/>
          </a:solidFill>
          <a:ln/>
        </p:spPr>
      </p:sp>
      <p:sp>
        <p:nvSpPr>
          <p:cNvPr id="21" name="Text 18"/>
          <p:cNvSpPr/>
          <p:nvPr/>
        </p:nvSpPr>
        <p:spPr>
          <a:xfrm>
            <a:off x="594360" y="566928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BA tip: URLs are the "nouns" of an API. Good API design starts with naming the nouns (users, orders, invoices).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HTTP in one picture: request and response</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sp>
        <p:nvSpPr>
          <p:cNvPr id="8" name="Text 5"/>
          <p:cNvSpPr/>
          <p:nvPr/>
        </p:nvSpPr>
        <p:spPr>
          <a:xfrm>
            <a:off x="640080" y="2011680"/>
            <a:ext cx="2926080" cy="2011680"/>
          </a:xfrm>
          <a:prstGeom prst="roundRect">
            <a:avLst>
              <a:gd name="adj" fmla="val 3636"/>
            </a:avLst>
          </a:prstGeom>
          <a:solidFill>
            <a:srgbClr val="E0ECFF"/>
          </a:solidFill>
          <a:ln w="15875">
            <a:solidFill>
              <a:srgbClr val="3B82F6"/>
            </a:solidFill>
          </a:ln>
        </p:spPr>
        <p:txBody>
          <a:bodyPr wrap="square" lIns="1016" tIns="1016" rIns="1016" bIns="1016"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a:t>
            </a:r>
            <a:endParaRPr lang="en-US" sz="1500" dirty="0"/>
          </a:p>
          <a:p>
            <a:pPr algn="ctr" indent="0" marL="0">
              <a:buNone/>
            </a:pPr>
            <a:r>
              <a:rPr lang="en-US" sz="1500" b="1" dirty="0">
                <a:solidFill>
                  <a:srgbClr val="1F2937"/>
                </a:solidFill>
                <a:latin typeface="Calibri" pitchFamily="34" charset="0"/>
                <a:ea typeface="Calibri" pitchFamily="34" charset="-122"/>
                <a:cs typeface="Calibri" pitchFamily="34" charset="-120"/>
              </a:rPr>
              <a:t>Client</a:t>
            </a:r>
            <a:endParaRPr lang="en-US" sz="1500" dirty="0"/>
          </a:p>
          <a:p>
            <a:pPr algn="ctr" indent="0" marL="0">
              <a:buNone/>
            </a:pPr>
            <a:r>
              <a:rPr lang="en-US" sz="1500" b="1" dirty="0">
                <a:solidFill>
                  <a:srgbClr val="1F2937"/>
                </a:solidFill>
                <a:latin typeface="Calibri" pitchFamily="34" charset="0"/>
                <a:ea typeface="Calibri" pitchFamily="34" charset="-122"/>
                <a:cs typeface="Calibri" pitchFamily="34" charset="-120"/>
              </a:rPr>
              <a:t>(browser, mobile app, Flashpost, Karate)</a:t>
            </a:r>
            <a:endParaRPr lang="en-US" sz="1500" dirty="0"/>
          </a:p>
        </p:txBody>
      </p:sp>
      <p:sp>
        <p:nvSpPr>
          <p:cNvPr id="9" name="Text 6"/>
          <p:cNvSpPr/>
          <p:nvPr/>
        </p:nvSpPr>
        <p:spPr>
          <a:xfrm>
            <a:off x="8595360" y="2011680"/>
            <a:ext cx="2926080" cy="2011680"/>
          </a:xfrm>
          <a:prstGeom prst="roundRect">
            <a:avLst>
              <a:gd name="adj" fmla="val 3636"/>
            </a:avLst>
          </a:prstGeom>
          <a:solidFill>
            <a:srgbClr val="DDF4F0"/>
          </a:solidFill>
          <a:ln w="15875">
            <a:solidFill>
              <a:srgbClr val="0F9D8F"/>
            </a:solidFill>
          </a:ln>
        </p:spPr>
        <p:txBody>
          <a:bodyPr wrap="square" lIns="1016" tIns="1016" rIns="1016" bIns="1016"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a:t>
            </a:r>
            <a:endParaRPr lang="en-US" sz="1500" dirty="0"/>
          </a:p>
          <a:p>
            <a:pPr algn="ctr" indent="0" marL="0">
              <a:buNone/>
            </a:pPr>
            <a:r>
              <a:rPr lang="en-US" sz="1500" b="1" dirty="0">
                <a:solidFill>
                  <a:srgbClr val="1F2937"/>
                </a:solidFill>
                <a:latin typeface="Calibri" pitchFamily="34" charset="0"/>
                <a:ea typeface="Calibri" pitchFamily="34" charset="-122"/>
                <a:cs typeface="Calibri" pitchFamily="34" charset="-120"/>
              </a:rPr>
              <a:t>Server</a:t>
            </a:r>
            <a:endParaRPr lang="en-US" sz="1500" dirty="0"/>
          </a:p>
          <a:p>
            <a:pPr algn="ctr" indent="0" marL="0">
              <a:buNone/>
            </a:pPr>
            <a:r>
              <a:rPr lang="en-US" sz="1500" b="1" dirty="0">
                <a:solidFill>
                  <a:srgbClr val="1F2937"/>
                </a:solidFill>
                <a:latin typeface="Calibri" pitchFamily="34" charset="0"/>
                <a:ea typeface="Calibri" pitchFamily="34" charset="-122"/>
                <a:cs typeface="Calibri" pitchFamily="34" charset="-120"/>
              </a:rPr>
              <a:t>(web / API)</a:t>
            </a:r>
            <a:endParaRPr lang="en-US" sz="1500" dirty="0"/>
          </a:p>
        </p:txBody>
      </p:sp>
      <p:sp>
        <p:nvSpPr>
          <p:cNvPr id="10" name="Shape 7"/>
          <p:cNvSpPr/>
          <p:nvPr/>
        </p:nvSpPr>
        <p:spPr>
          <a:xfrm>
            <a:off x="3566160" y="2560320"/>
            <a:ext cx="5029200" cy="0"/>
          </a:xfrm>
          <a:prstGeom prst="line">
            <a:avLst/>
          </a:prstGeom>
          <a:noFill/>
          <a:ln w="25400">
            <a:solidFill>
              <a:srgbClr val="3B82F6"/>
            </a:solidFill>
            <a:prstDash val="solid"/>
            <a:tailEnd type="triangle"/>
          </a:ln>
        </p:spPr>
      </p:sp>
      <p:sp>
        <p:nvSpPr>
          <p:cNvPr id="11" name="Shape 8"/>
          <p:cNvSpPr/>
          <p:nvPr/>
        </p:nvSpPr>
        <p:spPr>
          <a:xfrm flipH="1">
            <a:off x="3566160" y="3566160"/>
            <a:ext cx="5029200" cy="0"/>
          </a:xfrm>
          <a:prstGeom prst="line">
            <a:avLst/>
          </a:prstGeom>
          <a:noFill/>
          <a:ln w="25400">
            <a:solidFill>
              <a:srgbClr val="E5484D"/>
            </a:solidFill>
            <a:prstDash val="solid"/>
            <a:tailEnd type="triangle"/>
          </a:ln>
        </p:spPr>
      </p:sp>
      <p:sp>
        <p:nvSpPr>
          <p:cNvPr id="12" name="Text 9"/>
          <p:cNvSpPr/>
          <p:nvPr/>
        </p:nvSpPr>
        <p:spPr>
          <a:xfrm>
            <a:off x="4297680" y="1828800"/>
            <a:ext cx="3474720" cy="640080"/>
          </a:xfrm>
          <a:prstGeom prst="roundRect">
            <a:avLst>
              <a:gd name="adj" fmla="val 11429"/>
            </a:avLst>
          </a:prstGeom>
          <a:solidFill>
            <a:srgbClr val="3B82F6"/>
          </a:solidFill>
          <a:ln w="15875">
            <a:solidFill>
              <a:srgbClr val="3B82F6"/>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GET /users/42</a:t>
            </a:r>
            <a:endParaRPr lang="en-US" sz="1400" dirty="0"/>
          </a:p>
        </p:txBody>
      </p:sp>
      <p:sp>
        <p:nvSpPr>
          <p:cNvPr id="13" name="Text 10"/>
          <p:cNvSpPr/>
          <p:nvPr/>
        </p:nvSpPr>
        <p:spPr>
          <a:xfrm>
            <a:off x="4297680" y="3657600"/>
            <a:ext cx="3474720" cy="640080"/>
          </a:xfrm>
          <a:prstGeom prst="roundRect">
            <a:avLst>
              <a:gd name="adj" fmla="val 11429"/>
            </a:avLst>
          </a:prstGeom>
          <a:solidFill>
            <a:srgbClr val="E5484D"/>
          </a:solidFill>
          <a:ln w="15875">
            <a:solidFill>
              <a:srgbClr val="E5484D"/>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RESPONSE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200 OK + {"name":"Asha"}</a:t>
            </a:r>
            <a:endParaRPr lang="en-US" sz="1400" dirty="0"/>
          </a:p>
        </p:txBody>
      </p:sp>
      <p:sp>
        <p:nvSpPr>
          <p:cNvPr id="14" name="Text 11"/>
          <p:cNvSpPr/>
          <p:nvPr/>
        </p:nvSpPr>
        <p:spPr>
          <a:xfrm>
            <a:off x="640080" y="4754880"/>
            <a:ext cx="3474720" cy="502920"/>
          </a:xfrm>
          <a:prstGeom prst="rect">
            <a:avLst>
              <a:gd name="adj" fmla="val 14545"/>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Stateless</a:t>
            </a:r>
            <a:endParaRPr lang="en-US" sz="1400" dirty="0"/>
          </a:p>
        </p:txBody>
      </p:sp>
      <p:sp>
        <p:nvSpPr>
          <p:cNvPr id="15" name="Text 12"/>
          <p:cNvSpPr/>
          <p:nvPr/>
        </p:nvSpPr>
        <p:spPr>
          <a:xfrm>
            <a:off x="640080" y="5257800"/>
            <a:ext cx="3474720" cy="548640"/>
          </a:xfrm>
          <a:prstGeom prst="rect">
            <a:avLst>
              <a:gd name="adj" fmla="val 13333"/>
            </a:avLst>
          </a:prstGeom>
          <a:solidFill>
            <a:srgbClr val="FFFFFF"/>
          </a:solidFill>
          <a:ln w="15875">
            <a:solidFill>
              <a:srgbClr val="FFFFF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Each request stands alone</a:t>
            </a:r>
            <a:endParaRPr lang="en-US" sz="1400" dirty="0"/>
          </a:p>
        </p:txBody>
      </p:sp>
      <p:sp>
        <p:nvSpPr>
          <p:cNvPr id="16" name="Text 13"/>
          <p:cNvSpPr/>
          <p:nvPr/>
        </p:nvSpPr>
        <p:spPr>
          <a:xfrm>
            <a:off x="4434840" y="4754880"/>
            <a:ext cx="3474720" cy="502920"/>
          </a:xfrm>
          <a:prstGeom prst="rect">
            <a:avLst>
              <a:gd name="adj" fmla="val 14545"/>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Client starts</a:t>
            </a:r>
            <a:endParaRPr lang="en-US" sz="1400" dirty="0"/>
          </a:p>
        </p:txBody>
      </p:sp>
      <p:sp>
        <p:nvSpPr>
          <p:cNvPr id="17" name="Text 14"/>
          <p:cNvSpPr/>
          <p:nvPr/>
        </p:nvSpPr>
        <p:spPr>
          <a:xfrm>
            <a:off x="4434840" y="5257800"/>
            <a:ext cx="3474720" cy="548640"/>
          </a:xfrm>
          <a:prstGeom prst="rect">
            <a:avLst>
              <a:gd name="adj" fmla="val 13333"/>
            </a:avLst>
          </a:prstGeom>
          <a:solidFill>
            <a:srgbClr val="FFFFFF"/>
          </a:solidFill>
          <a:ln w="15875">
            <a:solidFill>
              <a:srgbClr val="FFFFF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Server only answers</a:t>
            </a:r>
            <a:endParaRPr lang="en-US" sz="1400" dirty="0"/>
          </a:p>
        </p:txBody>
      </p:sp>
      <p:sp>
        <p:nvSpPr>
          <p:cNvPr id="18" name="Text 15"/>
          <p:cNvSpPr/>
          <p:nvPr/>
        </p:nvSpPr>
        <p:spPr>
          <a:xfrm>
            <a:off x="8229600" y="4754880"/>
            <a:ext cx="3474720" cy="502920"/>
          </a:xfrm>
          <a:prstGeom prst="rect">
            <a:avLst>
              <a:gd name="adj" fmla="val 14545"/>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Text based</a:t>
            </a:r>
            <a:endParaRPr lang="en-US" sz="1400" dirty="0"/>
          </a:p>
        </p:txBody>
      </p:sp>
      <p:sp>
        <p:nvSpPr>
          <p:cNvPr id="19" name="Text 16"/>
          <p:cNvSpPr/>
          <p:nvPr/>
        </p:nvSpPr>
        <p:spPr>
          <a:xfrm>
            <a:off x="8229600" y="5257800"/>
            <a:ext cx="3474720" cy="548640"/>
          </a:xfrm>
          <a:prstGeom prst="rect">
            <a:avLst>
              <a:gd name="adj" fmla="val 13333"/>
            </a:avLst>
          </a:prstGeom>
          <a:solidFill>
            <a:srgbClr val="FFFFFF"/>
          </a:solidFill>
          <a:ln w="15875">
            <a:solidFill>
              <a:srgbClr val="FFFFFF"/>
            </a:solidFill>
          </a:ln>
        </p:spPr>
        <p:txBody>
          <a:bodyPr wrap="square" lIns="1016" tIns="1016" rIns="1016" bIns="1016"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Readable by humans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Inside a request and a response</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sp>
        <p:nvSpPr>
          <p:cNvPr id="8" name="Text 5"/>
          <p:cNvSpPr/>
          <p:nvPr/>
        </p:nvSpPr>
        <p:spPr>
          <a:xfrm>
            <a:off x="548640" y="1143000"/>
            <a:ext cx="4572000" cy="365760"/>
          </a:xfrm>
          <a:prstGeom prst="rect">
            <a:avLst/>
          </a:prstGeom>
          <a:noFill/>
          <a:ln/>
        </p:spPr>
        <p:txBody>
          <a:bodyPr wrap="square" lIns="508" tIns="508" rIns="508" bIns="508" rtlCol="0" anchor="ctr"/>
          <a:lstStyle/>
          <a:p>
            <a:pPr indent="0" marL="0">
              <a:buNone/>
            </a:pPr>
            <a:r>
              <a:rPr lang="en-US" sz="1800" b="1" dirty="0">
                <a:solidFill>
                  <a:srgbClr val="3B82F6"/>
                </a:solidFill>
                <a:latin typeface="Calibri" pitchFamily="34" charset="0"/>
                <a:ea typeface="Calibri" pitchFamily="34" charset="-122"/>
                <a:cs typeface="Calibri" pitchFamily="34" charset="-120"/>
              </a:rPr>
              <a:t>REQUEST</a:t>
            </a:r>
            <a:endParaRPr lang="en-US" sz="1800" dirty="0"/>
          </a:p>
        </p:txBody>
      </p:sp>
      <p:sp>
        <p:nvSpPr>
          <p:cNvPr id="9" name="Text 6"/>
          <p:cNvSpPr/>
          <p:nvPr/>
        </p:nvSpPr>
        <p:spPr>
          <a:xfrm>
            <a:off x="548640" y="1554480"/>
            <a:ext cx="5486400" cy="3291840"/>
          </a:xfrm>
          <a:prstGeom prst="roundRect">
            <a:avLst>
              <a:gd name="adj" fmla="val 1667"/>
            </a:avLst>
          </a:prstGeom>
          <a:solidFill>
            <a:srgbClr val="111827"/>
          </a:solidFill>
          <a:ln/>
        </p:spPr>
        <p:txBody>
          <a:bodyPr wrap="square" lIns="1905" tIns="1905" rIns="1905" bIns="1905"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POST /users HTTP/1.1</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Host: api.shop.com</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Content-Type: application/json</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Accept: application/json</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Authorization: Bearer eyJhbGci...</a:t>
            </a:r>
            <a:endParaRPr lang="en-US" sz="1400" dirty="0"/>
          </a:p>
          <a:p>
            <a:pPr indent="0" marL="0">
              <a:buNone/>
            </a:pP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"name": "Asha",</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"email": "asha@mail.com"</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0" name="Text 7"/>
          <p:cNvSpPr/>
          <p:nvPr/>
        </p:nvSpPr>
        <p:spPr>
          <a:xfrm>
            <a:off x="6309360" y="1143000"/>
            <a:ext cx="4572000" cy="365760"/>
          </a:xfrm>
          <a:prstGeom prst="rect">
            <a:avLst/>
          </a:prstGeom>
          <a:noFill/>
          <a:ln/>
        </p:spPr>
        <p:txBody>
          <a:bodyPr wrap="square" lIns="508" tIns="508" rIns="508" bIns="508" rtlCol="0" anchor="ctr"/>
          <a:lstStyle/>
          <a:p>
            <a:pPr indent="0" marL="0">
              <a:buNone/>
            </a:pPr>
            <a:r>
              <a:rPr lang="en-US" sz="1800" b="1" dirty="0">
                <a:solidFill>
                  <a:srgbClr val="E5484D"/>
                </a:solidFill>
                <a:latin typeface="Calibri" pitchFamily="34" charset="0"/>
                <a:ea typeface="Calibri" pitchFamily="34" charset="-122"/>
                <a:cs typeface="Calibri" pitchFamily="34" charset="-120"/>
              </a:rPr>
              <a:t>RESPONSE</a:t>
            </a:r>
            <a:endParaRPr lang="en-US" sz="1800" dirty="0"/>
          </a:p>
        </p:txBody>
      </p:sp>
      <p:sp>
        <p:nvSpPr>
          <p:cNvPr id="11" name="Text 8"/>
          <p:cNvSpPr/>
          <p:nvPr/>
        </p:nvSpPr>
        <p:spPr>
          <a:xfrm>
            <a:off x="6309360" y="1554480"/>
            <a:ext cx="5394960" cy="3291840"/>
          </a:xfrm>
          <a:prstGeom prst="roundRect">
            <a:avLst>
              <a:gd name="adj" fmla="val 1667"/>
            </a:avLst>
          </a:prstGeom>
          <a:solidFill>
            <a:srgbClr val="111827"/>
          </a:solidFill>
          <a:ln/>
        </p:spPr>
        <p:txBody>
          <a:bodyPr wrap="square" lIns="1905" tIns="1905" rIns="1905" bIns="1905"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HTTP/1.1 201 Created</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Content-Type: application/json</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Location: /users/43</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Cache-Control: no-store</a:t>
            </a:r>
            <a:endParaRPr lang="en-US" sz="1400" dirty="0"/>
          </a:p>
          <a:p>
            <a:pPr indent="0" marL="0">
              <a:buNone/>
            </a:pP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"id": 43,</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"name": "Asha",</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"email": "asha@mail.com"</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2" name="Text 9"/>
          <p:cNvSpPr/>
          <p:nvPr/>
        </p:nvSpPr>
        <p:spPr>
          <a:xfrm>
            <a:off x="548640" y="5029200"/>
            <a:ext cx="1371600" cy="822960"/>
          </a:xfrm>
          <a:prstGeom prst="rect">
            <a:avLst>
              <a:gd name="adj" fmla="val 8889"/>
            </a:avLst>
          </a:prstGeom>
          <a:solidFill>
            <a:srgbClr val="7C5CFC"/>
          </a:solidFill>
          <a:ln w="15875">
            <a:solidFill>
              <a:srgbClr val="7C5CFC"/>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Start line</a:t>
            </a:r>
            <a:endParaRPr lang="en-US" sz="1400" dirty="0"/>
          </a:p>
        </p:txBody>
      </p:sp>
      <p:sp>
        <p:nvSpPr>
          <p:cNvPr id="13" name="Text 10"/>
          <p:cNvSpPr/>
          <p:nvPr/>
        </p:nvSpPr>
        <p:spPr>
          <a:xfrm>
            <a:off x="1920240" y="5029200"/>
            <a:ext cx="228600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method + path</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or status code</a:t>
            </a:r>
            <a:endParaRPr lang="en-US" sz="1300" dirty="0"/>
          </a:p>
        </p:txBody>
      </p:sp>
      <p:sp>
        <p:nvSpPr>
          <p:cNvPr id="14" name="Text 11"/>
          <p:cNvSpPr/>
          <p:nvPr/>
        </p:nvSpPr>
        <p:spPr>
          <a:xfrm>
            <a:off x="4343400" y="5029200"/>
            <a:ext cx="1371600" cy="822960"/>
          </a:xfrm>
          <a:prstGeom prst="rect">
            <a:avLst>
              <a:gd name="adj" fmla="val 8889"/>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Headers</a:t>
            </a:r>
            <a:endParaRPr lang="en-US" sz="1400" dirty="0"/>
          </a:p>
        </p:txBody>
      </p:sp>
      <p:sp>
        <p:nvSpPr>
          <p:cNvPr id="15" name="Text 12"/>
          <p:cNvSpPr/>
          <p:nvPr/>
        </p:nvSpPr>
        <p:spPr>
          <a:xfrm>
            <a:off x="5715000" y="5029200"/>
            <a:ext cx="228600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metadata:</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type, auth, caching</a:t>
            </a:r>
            <a:endParaRPr lang="en-US" sz="1300" dirty="0"/>
          </a:p>
        </p:txBody>
      </p:sp>
      <p:sp>
        <p:nvSpPr>
          <p:cNvPr id="16" name="Text 13"/>
          <p:cNvSpPr/>
          <p:nvPr/>
        </p:nvSpPr>
        <p:spPr>
          <a:xfrm>
            <a:off x="8138160" y="5029200"/>
            <a:ext cx="1371600" cy="822960"/>
          </a:xfrm>
          <a:prstGeom prst="rect">
            <a:avLst>
              <a:gd name="adj" fmla="val 8889"/>
            </a:avLst>
          </a:prstGeom>
          <a:solidFill>
            <a:srgbClr val="F59E0B"/>
          </a:solidFill>
          <a:ln w="15875">
            <a:solidFill>
              <a:srgbClr val="F59E0B"/>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Body</a:t>
            </a:r>
            <a:endParaRPr lang="en-US" sz="1400" dirty="0"/>
          </a:p>
        </p:txBody>
      </p:sp>
      <p:sp>
        <p:nvSpPr>
          <p:cNvPr id="17" name="Text 14"/>
          <p:cNvSpPr/>
          <p:nvPr/>
        </p:nvSpPr>
        <p:spPr>
          <a:xfrm>
            <a:off x="9509760" y="5029200"/>
            <a:ext cx="228600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the actual data</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(JSON, XML...)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JSON and content negotiation: the language of REST</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25</a:t>
            </a:r>
            <a:endParaRPr lang="en-US" sz="1000" dirty="0"/>
          </a:p>
        </p:txBody>
      </p:sp>
      <p:sp>
        <p:nvSpPr>
          <p:cNvPr id="8" name="Text 5"/>
          <p:cNvSpPr/>
          <p:nvPr/>
        </p:nvSpPr>
        <p:spPr>
          <a:xfrm>
            <a:off x="548640" y="1188720"/>
            <a:ext cx="4754880" cy="2743200"/>
          </a:xfrm>
          <a:prstGeom prst="roundRect">
            <a:avLst>
              <a:gd name="adj" fmla="val 2000"/>
            </a:avLst>
          </a:prstGeom>
          <a:solidFill>
            <a:srgbClr val="111827"/>
          </a:solidFill>
          <a:ln/>
        </p:spPr>
        <p:txBody>
          <a:bodyPr wrap="square" lIns="1905" tIns="1905" rIns="1905" bIns="1905" rtlCol="0" anchor="t"/>
          <a:lstStyle/>
          <a:p>
            <a:pPr indent="0" marL="0">
              <a:buNone/>
            </a:pPr>
            <a:r>
              <a:rPr lang="en-US" sz="1500" dirty="0">
                <a:solidFill>
                  <a:srgbClr val="E2E8F0"/>
                </a:solidFill>
                <a:latin typeface="Consolas" pitchFamily="34" charset="0"/>
                <a:ea typeface="Consolas" pitchFamily="34" charset="-122"/>
                <a:cs typeface="Consolas" pitchFamily="34" charset="-120"/>
              </a:rPr>
              <a:t>{</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"id": 42,</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"name": "Asha",</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"active": true,</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"manager": null,</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"roles": ["tester", "admin"],</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  "address": { "city": "Pune" }</a:t>
            </a:r>
            <a:endParaRPr lang="en-US" sz="1500" dirty="0"/>
          </a:p>
          <a:p>
            <a:pPr indent="0" marL="0">
              <a:buNone/>
            </a:pPr>
            <a:r>
              <a:rPr lang="en-US" sz="1500" dirty="0">
                <a:solidFill>
                  <a:srgbClr val="E2E8F0"/>
                </a:solidFill>
                <a:latin typeface="Consolas" pitchFamily="34" charset="0"/>
                <a:ea typeface="Consolas" pitchFamily="34" charset="-122"/>
                <a:cs typeface="Consolas" pitchFamily="34" charset="-120"/>
              </a:rPr>
              <a:t>}</a:t>
            </a:r>
            <a:endParaRPr lang="en-US" sz="1500" dirty="0"/>
          </a:p>
        </p:txBody>
      </p:sp>
      <p:sp>
        <p:nvSpPr>
          <p:cNvPr id="9" name="Text 6"/>
          <p:cNvSpPr/>
          <p:nvPr/>
        </p:nvSpPr>
        <p:spPr>
          <a:xfrm>
            <a:off x="5669280" y="1188720"/>
            <a:ext cx="1325880" cy="822960"/>
          </a:xfrm>
          <a:prstGeom prst="rect">
            <a:avLst>
              <a:gd name="adj" fmla="val 8889"/>
            </a:avLst>
          </a:prstGeom>
          <a:solidFill>
            <a:srgbClr val="3B82F6"/>
          </a:solidFill>
          <a:ln w="15875">
            <a:solidFill>
              <a:srgbClr val="3B82F6"/>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string</a:t>
            </a:r>
            <a:endParaRPr lang="en-US" sz="1400" dirty="0"/>
          </a:p>
        </p:txBody>
      </p:sp>
      <p:sp>
        <p:nvSpPr>
          <p:cNvPr id="10" name="Text 7"/>
          <p:cNvSpPr/>
          <p:nvPr/>
        </p:nvSpPr>
        <p:spPr>
          <a:xfrm>
            <a:off x="6995160" y="1188720"/>
            <a:ext cx="155448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"Asha"</a:t>
            </a:r>
            <a:endParaRPr lang="en-US" sz="1200" dirty="0"/>
          </a:p>
        </p:txBody>
      </p:sp>
      <p:sp>
        <p:nvSpPr>
          <p:cNvPr id="11" name="Text 8"/>
          <p:cNvSpPr/>
          <p:nvPr/>
        </p:nvSpPr>
        <p:spPr>
          <a:xfrm>
            <a:off x="8686800" y="1188720"/>
            <a:ext cx="1325880" cy="822960"/>
          </a:xfrm>
          <a:prstGeom prst="rect">
            <a:avLst>
              <a:gd name="adj" fmla="val 8889"/>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number</a:t>
            </a:r>
            <a:endParaRPr lang="en-US" sz="1400" dirty="0"/>
          </a:p>
        </p:txBody>
      </p:sp>
      <p:sp>
        <p:nvSpPr>
          <p:cNvPr id="12" name="Text 9"/>
          <p:cNvSpPr/>
          <p:nvPr/>
        </p:nvSpPr>
        <p:spPr>
          <a:xfrm>
            <a:off x="10012680" y="1188720"/>
            <a:ext cx="155448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42  or  9.5</a:t>
            </a:r>
            <a:endParaRPr lang="en-US" sz="1200" dirty="0"/>
          </a:p>
        </p:txBody>
      </p:sp>
      <p:sp>
        <p:nvSpPr>
          <p:cNvPr id="13" name="Text 10"/>
          <p:cNvSpPr/>
          <p:nvPr/>
        </p:nvSpPr>
        <p:spPr>
          <a:xfrm>
            <a:off x="5669280" y="2121408"/>
            <a:ext cx="1325880" cy="822960"/>
          </a:xfrm>
          <a:prstGeom prst="rect">
            <a:avLst>
              <a:gd name="adj" fmla="val 8889"/>
            </a:avLst>
          </a:prstGeom>
          <a:solidFill>
            <a:srgbClr val="7C5CFC"/>
          </a:solidFill>
          <a:ln w="15875">
            <a:solidFill>
              <a:srgbClr val="7C5CFC"/>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boolean</a:t>
            </a:r>
            <a:endParaRPr lang="en-US" sz="1400" dirty="0"/>
          </a:p>
        </p:txBody>
      </p:sp>
      <p:sp>
        <p:nvSpPr>
          <p:cNvPr id="14" name="Text 11"/>
          <p:cNvSpPr/>
          <p:nvPr/>
        </p:nvSpPr>
        <p:spPr>
          <a:xfrm>
            <a:off x="6995160" y="2121408"/>
            <a:ext cx="155448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true / false</a:t>
            </a:r>
            <a:endParaRPr lang="en-US" sz="1200" dirty="0"/>
          </a:p>
        </p:txBody>
      </p:sp>
      <p:sp>
        <p:nvSpPr>
          <p:cNvPr id="15" name="Text 12"/>
          <p:cNvSpPr/>
          <p:nvPr/>
        </p:nvSpPr>
        <p:spPr>
          <a:xfrm>
            <a:off x="8686800" y="2121408"/>
            <a:ext cx="1325880" cy="822960"/>
          </a:xfrm>
          <a:prstGeom prst="rect">
            <a:avLst>
              <a:gd name="adj" fmla="val 8889"/>
            </a:avLst>
          </a:prstGeom>
          <a:solidFill>
            <a:srgbClr val="64748B"/>
          </a:solidFill>
          <a:ln w="15875">
            <a:solidFill>
              <a:srgbClr val="64748B"/>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null</a:t>
            </a:r>
            <a:endParaRPr lang="en-US" sz="1400" dirty="0"/>
          </a:p>
        </p:txBody>
      </p:sp>
      <p:sp>
        <p:nvSpPr>
          <p:cNvPr id="16" name="Text 13"/>
          <p:cNvSpPr/>
          <p:nvPr/>
        </p:nvSpPr>
        <p:spPr>
          <a:xfrm>
            <a:off x="10012680" y="2121408"/>
            <a:ext cx="155448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no value</a:t>
            </a:r>
            <a:endParaRPr lang="en-US" sz="1200" dirty="0"/>
          </a:p>
        </p:txBody>
      </p:sp>
      <p:sp>
        <p:nvSpPr>
          <p:cNvPr id="17" name="Text 14"/>
          <p:cNvSpPr/>
          <p:nvPr/>
        </p:nvSpPr>
        <p:spPr>
          <a:xfrm>
            <a:off x="5669280" y="3054096"/>
            <a:ext cx="1325880" cy="822960"/>
          </a:xfrm>
          <a:prstGeom prst="rect">
            <a:avLst>
              <a:gd name="adj" fmla="val 8889"/>
            </a:avLst>
          </a:prstGeom>
          <a:solidFill>
            <a:srgbClr val="F59E0B"/>
          </a:solidFill>
          <a:ln w="15875">
            <a:solidFill>
              <a:srgbClr val="F59E0B"/>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object { }</a:t>
            </a:r>
            <a:endParaRPr lang="en-US" sz="1400" dirty="0"/>
          </a:p>
        </p:txBody>
      </p:sp>
      <p:sp>
        <p:nvSpPr>
          <p:cNvPr id="18" name="Text 15"/>
          <p:cNvSpPr/>
          <p:nvPr/>
        </p:nvSpPr>
        <p:spPr>
          <a:xfrm>
            <a:off x="6995160" y="3054096"/>
            <a:ext cx="155448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named fields</a:t>
            </a:r>
            <a:endParaRPr lang="en-US" sz="1200" dirty="0"/>
          </a:p>
        </p:txBody>
      </p:sp>
      <p:sp>
        <p:nvSpPr>
          <p:cNvPr id="19" name="Text 16"/>
          <p:cNvSpPr/>
          <p:nvPr/>
        </p:nvSpPr>
        <p:spPr>
          <a:xfrm>
            <a:off x="8686800" y="3054096"/>
            <a:ext cx="1325880" cy="822960"/>
          </a:xfrm>
          <a:prstGeom prst="rect">
            <a:avLst>
              <a:gd name="adj" fmla="val 8889"/>
            </a:avLst>
          </a:prstGeom>
          <a:solidFill>
            <a:srgbClr val="E5484D"/>
          </a:solidFill>
          <a:ln w="15875">
            <a:solidFill>
              <a:srgbClr val="E5484D"/>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array [ ]</a:t>
            </a:r>
            <a:endParaRPr lang="en-US" sz="1400" dirty="0"/>
          </a:p>
        </p:txBody>
      </p:sp>
      <p:sp>
        <p:nvSpPr>
          <p:cNvPr id="20" name="Text 17"/>
          <p:cNvSpPr/>
          <p:nvPr/>
        </p:nvSpPr>
        <p:spPr>
          <a:xfrm>
            <a:off x="10012680" y="3054096"/>
            <a:ext cx="1554480" cy="822960"/>
          </a:xfrm>
          <a:prstGeom prst="rect">
            <a:avLst>
              <a:gd name="adj" fmla="val 8889"/>
            </a:avLst>
          </a:prstGeom>
          <a:solidFill>
            <a:srgbClr val="FFFFFF"/>
          </a:solidFill>
          <a:ln w="15875">
            <a:solidFill>
              <a:srgbClr val="FFFFFF"/>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ordered list</a:t>
            </a:r>
            <a:endParaRPr lang="en-US" sz="1200" dirty="0"/>
          </a:p>
        </p:txBody>
      </p:sp>
      <p:sp>
        <p:nvSpPr>
          <p:cNvPr id="21" name="Text 18"/>
          <p:cNvSpPr/>
          <p:nvPr/>
        </p:nvSpPr>
        <p:spPr>
          <a:xfrm>
            <a:off x="548640" y="4114800"/>
            <a:ext cx="7315200" cy="256032"/>
          </a:xfrm>
          <a:prstGeom prst="rect">
            <a:avLst/>
          </a:prstGeom>
          <a:noFill/>
          <a:ln/>
        </p:spPr>
        <p:txBody>
          <a:bodyPr wrap="square" lIns="508" tIns="508" rIns="508" bIns="508" rtlCol="0" anchor="ctr"/>
          <a:lstStyle/>
          <a:p>
            <a:pPr indent="0" marL="0">
              <a:buNone/>
            </a:pPr>
            <a:r>
              <a:rPr lang="en-US" sz="1100" b="1" spc="300" kern="0" dirty="0">
                <a:solidFill>
                  <a:srgbClr val="0F9D8F"/>
                </a:solidFill>
                <a:latin typeface="Calibri" pitchFamily="34" charset="0"/>
                <a:ea typeface="Calibri" pitchFamily="34" charset="-122"/>
                <a:cs typeface="Calibri" pitchFamily="34" charset="-120"/>
              </a:rPr>
              <a:t>CONTENT NEGOTIATION: client and server agree on the format</a:t>
            </a:r>
            <a:endParaRPr lang="en-US" sz="1100" dirty="0"/>
          </a:p>
        </p:txBody>
      </p:sp>
      <p:sp>
        <p:nvSpPr>
          <p:cNvPr id="22" name="Text 19"/>
          <p:cNvSpPr/>
          <p:nvPr/>
        </p:nvSpPr>
        <p:spPr>
          <a:xfrm>
            <a:off x="548640" y="4389120"/>
            <a:ext cx="3611880" cy="457200"/>
          </a:xfrm>
          <a:prstGeom prst="rect">
            <a:avLst>
              <a:gd name="adj" fmla="val 16000"/>
            </a:avLst>
          </a:prstGeom>
          <a:solidFill>
            <a:srgbClr val="3B82F6"/>
          </a:solidFill>
          <a:ln w="15875">
            <a:solidFill>
              <a:srgbClr val="3B82F6"/>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Content-Type: what I am sending</a:t>
            </a:r>
            <a:endParaRPr lang="en-US" sz="1300" dirty="0"/>
          </a:p>
        </p:txBody>
      </p:sp>
      <p:sp>
        <p:nvSpPr>
          <p:cNvPr id="23" name="Text 20"/>
          <p:cNvSpPr/>
          <p:nvPr/>
        </p:nvSpPr>
        <p:spPr>
          <a:xfrm>
            <a:off x="548640" y="4846320"/>
            <a:ext cx="3611880" cy="502920"/>
          </a:xfrm>
          <a:prstGeom prst="rect">
            <a:avLst>
              <a:gd name="adj" fmla="val 14545"/>
            </a:avLst>
          </a:prstGeom>
          <a:solidFill>
            <a:srgbClr val="FFFFFF"/>
          </a:solidFill>
          <a:ln w="15875">
            <a:solidFill>
              <a:srgbClr val="FFFFFF"/>
            </a:solidFill>
          </a:ln>
        </p:spPr>
        <p:txBody>
          <a:bodyPr wrap="square" lIns="1016" tIns="1016" rIns="1016" bIns="1016" rtlCol="0" anchor="ctr"/>
          <a:lstStyle/>
          <a:p>
            <a:pPr algn="ctr" indent="0" marL="0">
              <a:buNone/>
            </a:pPr>
            <a:r>
              <a:rPr lang="en-US" sz="1100" dirty="0">
                <a:solidFill>
                  <a:srgbClr val="1F2937"/>
                </a:solidFill>
                <a:latin typeface="Consolas" pitchFamily="34" charset="0"/>
                <a:ea typeface="Consolas" pitchFamily="34" charset="-122"/>
                <a:cs typeface="Consolas" pitchFamily="34" charset="-120"/>
              </a:rPr>
              <a:t>Content-Type: application/json</a:t>
            </a:r>
            <a:endParaRPr lang="en-US" sz="1100" dirty="0"/>
          </a:p>
        </p:txBody>
      </p:sp>
      <p:sp>
        <p:nvSpPr>
          <p:cNvPr id="24" name="Text 21"/>
          <p:cNvSpPr/>
          <p:nvPr/>
        </p:nvSpPr>
        <p:spPr>
          <a:xfrm>
            <a:off x="4343400" y="4389120"/>
            <a:ext cx="3611880" cy="457200"/>
          </a:xfrm>
          <a:prstGeom prst="rect">
            <a:avLst>
              <a:gd name="adj" fmla="val 16000"/>
            </a:avLst>
          </a:prstGeom>
          <a:solidFill>
            <a:srgbClr val="0F9D8F"/>
          </a:solidFill>
          <a:ln w="15875">
            <a:solidFill>
              <a:srgbClr val="0F9D8F"/>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Accept: what I want back</a:t>
            </a:r>
            <a:endParaRPr lang="en-US" sz="1300" dirty="0"/>
          </a:p>
        </p:txBody>
      </p:sp>
      <p:sp>
        <p:nvSpPr>
          <p:cNvPr id="25" name="Text 22"/>
          <p:cNvSpPr/>
          <p:nvPr/>
        </p:nvSpPr>
        <p:spPr>
          <a:xfrm>
            <a:off x="4343400" y="4846320"/>
            <a:ext cx="3611880" cy="502920"/>
          </a:xfrm>
          <a:prstGeom prst="rect">
            <a:avLst>
              <a:gd name="adj" fmla="val 14545"/>
            </a:avLst>
          </a:prstGeom>
          <a:solidFill>
            <a:srgbClr val="FFFFFF"/>
          </a:solidFill>
          <a:ln w="15875">
            <a:solidFill>
              <a:srgbClr val="FFFFFF"/>
            </a:solidFill>
          </a:ln>
        </p:spPr>
        <p:txBody>
          <a:bodyPr wrap="square" lIns="1016" tIns="1016" rIns="1016" bIns="1016" rtlCol="0" anchor="ctr"/>
          <a:lstStyle/>
          <a:p>
            <a:pPr algn="ctr" indent="0" marL="0">
              <a:buNone/>
            </a:pPr>
            <a:r>
              <a:rPr lang="en-US" sz="1100" dirty="0">
                <a:solidFill>
                  <a:srgbClr val="1F2937"/>
                </a:solidFill>
                <a:latin typeface="Consolas" pitchFamily="34" charset="0"/>
                <a:ea typeface="Consolas" pitchFamily="34" charset="-122"/>
                <a:cs typeface="Consolas" pitchFamily="34" charset="-120"/>
              </a:rPr>
              <a:t>Accept: application/json</a:t>
            </a:r>
            <a:endParaRPr lang="en-US" sz="1100" dirty="0"/>
          </a:p>
        </p:txBody>
      </p:sp>
      <p:sp>
        <p:nvSpPr>
          <p:cNvPr id="26" name="Text 23"/>
          <p:cNvSpPr/>
          <p:nvPr/>
        </p:nvSpPr>
        <p:spPr>
          <a:xfrm>
            <a:off x="8138160" y="4389120"/>
            <a:ext cx="3611880" cy="457200"/>
          </a:xfrm>
          <a:prstGeom prst="rect">
            <a:avLst>
              <a:gd name="adj" fmla="val 16000"/>
            </a:avLst>
          </a:prstGeom>
          <a:solidFill>
            <a:srgbClr val="E5484D"/>
          </a:solidFill>
          <a:ln w="15875">
            <a:solidFill>
              <a:srgbClr val="E5484D"/>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If it fails: server cannot comply</a:t>
            </a:r>
            <a:endParaRPr lang="en-US" sz="1300" dirty="0"/>
          </a:p>
        </p:txBody>
      </p:sp>
      <p:sp>
        <p:nvSpPr>
          <p:cNvPr id="27" name="Text 24"/>
          <p:cNvSpPr/>
          <p:nvPr/>
        </p:nvSpPr>
        <p:spPr>
          <a:xfrm>
            <a:off x="8138160" y="4846320"/>
            <a:ext cx="3611880" cy="502920"/>
          </a:xfrm>
          <a:prstGeom prst="rect">
            <a:avLst>
              <a:gd name="adj" fmla="val 14545"/>
            </a:avLst>
          </a:prstGeom>
          <a:solidFill>
            <a:srgbClr val="FFFFFF"/>
          </a:solidFill>
          <a:ln w="15875">
            <a:solidFill>
              <a:srgbClr val="FFFFFF"/>
            </a:solidFill>
          </a:ln>
        </p:spPr>
        <p:txBody>
          <a:bodyPr wrap="square" lIns="1016" tIns="1016" rIns="1016" bIns="1016" rtlCol="0" anchor="ctr"/>
          <a:lstStyle/>
          <a:p>
            <a:pPr algn="ctr" indent="0" marL="0">
              <a:buNone/>
            </a:pPr>
            <a:r>
              <a:rPr lang="en-US" sz="1100" dirty="0">
                <a:solidFill>
                  <a:srgbClr val="1F2937"/>
                </a:solidFill>
                <a:latin typeface="Consolas" pitchFamily="34" charset="0"/>
                <a:ea typeface="Consolas" pitchFamily="34" charset="-122"/>
                <a:cs typeface="Consolas" pitchFamily="34" charset="-120"/>
              </a:rPr>
              <a:t>406 Not Acceptable · 415 Unsupported Media Type</a:t>
            </a:r>
            <a:endParaRPr lang="en-US" sz="1100" dirty="0"/>
          </a:p>
        </p:txBody>
      </p:sp>
      <p:sp>
        <p:nvSpPr>
          <p:cNvPr id="28" name="Shape 25"/>
          <p:cNvSpPr/>
          <p:nvPr/>
        </p:nvSpPr>
        <p:spPr>
          <a:xfrm>
            <a:off x="457200" y="5577840"/>
            <a:ext cx="82296" cy="548640"/>
          </a:xfrm>
          <a:prstGeom prst="rect">
            <a:avLst/>
          </a:prstGeom>
          <a:solidFill>
            <a:srgbClr val="F59E0B"/>
          </a:solidFill>
          <a:ln/>
        </p:spPr>
      </p:sp>
      <p:sp>
        <p:nvSpPr>
          <p:cNvPr id="29" name="Text 26"/>
          <p:cNvSpPr/>
          <p:nvPr/>
        </p:nvSpPr>
        <p:spPr>
          <a:xfrm>
            <a:off x="594360" y="557784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Classic JSON bugs: trailing comma, missing quotes, null vs missing field, number sent as a string ("42" instead of 42).</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HTTP methods: the verbs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2286000"/>
                <a:gridCol w="1097280"/>
                <a:gridCol w="1005840"/>
                <a:gridCol w="2011680"/>
                <a:gridCol w="2926080"/>
              </a:tblGrid>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Purpose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CRUD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Safe?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Idempotent?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GET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Read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Read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GET /users/42</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POST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Create / trigger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Create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POST /users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PUT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Replace whole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Update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PUT /users/42</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PATCH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Change part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Update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Not guaranteed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PATCH /users/42</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DELETE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Remove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Delete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DELETE /users/42</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HEAD / OPTIONS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Metadata / allowed methods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OPTIONS /users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bl>
          </a:graphicData>
        </a:graphic>
      </p:graphicFrame>
      <p:sp>
        <p:nvSpPr>
          <p:cNvPr id="9" name="Shape 5"/>
          <p:cNvSpPr/>
          <p:nvPr/>
        </p:nvSpPr>
        <p:spPr>
          <a:xfrm>
            <a:off x="457200" y="5120640"/>
            <a:ext cx="82296" cy="548640"/>
          </a:xfrm>
          <a:prstGeom prst="rect">
            <a:avLst/>
          </a:prstGeom>
          <a:solidFill>
            <a:srgbClr val="F59E0B"/>
          </a:solidFill>
          <a:ln/>
        </p:spPr>
      </p:sp>
      <p:sp>
        <p:nvSpPr>
          <p:cNvPr id="10" name="Text 6"/>
          <p:cNvSpPr/>
          <p:nvPr/>
        </p:nvSpPr>
        <p:spPr>
          <a:xfrm>
            <a:off x="594360" y="512064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Test idea: send the same POST twice. Do you get two records? Send DELETE twice. Is the second one 404 or 204? Is that what the spec says?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Safe, idempotent, state-changing: three different questions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27</a:t>
            </a:r>
            <a:endParaRPr lang="en-US" sz="1000" dirty="0"/>
          </a:p>
        </p:txBody>
      </p:sp>
      <p:sp>
        <p:nvSpPr>
          <p:cNvPr id="8" name="Text 5"/>
          <p:cNvSpPr/>
          <p:nvPr/>
        </p:nvSpPr>
        <p:spPr>
          <a:xfrm>
            <a:off x="548640" y="1143000"/>
            <a:ext cx="3611880" cy="457200"/>
          </a:xfrm>
          <a:prstGeom prst="rect">
            <a:avLst>
              <a:gd name="adj" fmla="val 16000"/>
            </a:avLst>
          </a:prstGeom>
          <a:solidFill>
            <a:srgbClr val="0F9D8F"/>
          </a:solidFill>
          <a:ln w="15875">
            <a:solidFill>
              <a:srgbClr val="0F9D8F"/>
            </a:solidFill>
          </a:ln>
        </p:spPr>
        <p:txBody>
          <a:bodyPr wrap="square" lIns="1016" tIns="1016" rIns="1016" bIns="1016"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Safe</a:t>
            </a:r>
            <a:endParaRPr lang="en-US" sz="1700" dirty="0"/>
          </a:p>
        </p:txBody>
      </p:sp>
      <p:sp>
        <p:nvSpPr>
          <p:cNvPr id="9" name="Text 6"/>
          <p:cNvSpPr/>
          <p:nvPr/>
        </p:nvSpPr>
        <p:spPr>
          <a:xfrm>
            <a:off x="548640" y="1600200"/>
            <a:ext cx="3611880" cy="411480"/>
          </a:xfrm>
          <a:prstGeom prst="rect">
            <a:avLst>
              <a:gd name="adj" fmla="val 17778"/>
            </a:avLst>
          </a:prstGeom>
          <a:solidFill>
            <a:srgbClr val="FFFFFF"/>
          </a:solidFill>
          <a:ln w="15875">
            <a:solidFill>
              <a:srgbClr val="FFFFFF"/>
            </a:solidFill>
          </a:ln>
        </p:spPr>
        <p:txBody>
          <a:bodyPr wrap="square" lIns="1016" tIns="1016" rIns="1016" bIns="1016" rtlCol="0" anchor="ctr"/>
          <a:lstStyle/>
          <a:p>
            <a:pPr algn="ctr" indent="0" marL="0">
              <a:buNone/>
            </a:pPr>
            <a:r>
              <a:rPr lang="en-US" sz="1200" b="1" dirty="0">
                <a:solidFill>
                  <a:srgbClr val="1F2937"/>
                </a:solidFill>
                <a:latin typeface="Consolas" pitchFamily="34" charset="0"/>
                <a:ea typeface="Consolas" pitchFamily="34" charset="-122"/>
                <a:cs typeface="Consolas" pitchFamily="34" charset="-120"/>
              </a:rPr>
              <a:t>GET · HEAD · OPTIONS</a:t>
            </a:r>
            <a:endParaRPr lang="en-US" sz="1200" dirty="0"/>
          </a:p>
        </p:txBody>
      </p:sp>
      <p:sp>
        <p:nvSpPr>
          <p:cNvPr id="10" name="Text 7"/>
          <p:cNvSpPr/>
          <p:nvPr/>
        </p:nvSpPr>
        <p:spPr>
          <a:xfrm>
            <a:off x="548640" y="2011680"/>
            <a:ext cx="3611880" cy="548640"/>
          </a:xfrm>
          <a:prstGeom prst="rect">
            <a:avLst>
              <a:gd name="adj" fmla="val 13333"/>
            </a:avLst>
          </a:prstGeom>
          <a:solidFill>
            <a:srgbClr val="F7F9FC"/>
          </a:solidFill>
          <a:ln w="15875">
            <a:solidFill>
              <a:srgbClr val="CBD5E1"/>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Read-only. Never changes server data.</a:t>
            </a:r>
            <a:endParaRPr lang="en-US" sz="1200" dirty="0"/>
          </a:p>
        </p:txBody>
      </p:sp>
      <p:sp>
        <p:nvSpPr>
          <p:cNvPr id="11" name="Text 8"/>
          <p:cNvSpPr/>
          <p:nvPr/>
        </p:nvSpPr>
        <p:spPr>
          <a:xfrm>
            <a:off x="4343400" y="1143000"/>
            <a:ext cx="3611880" cy="457200"/>
          </a:xfrm>
          <a:prstGeom prst="rect">
            <a:avLst>
              <a:gd name="adj" fmla="val 16000"/>
            </a:avLst>
          </a:prstGeom>
          <a:solidFill>
            <a:srgbClr val="3B82F6"/>
          </a:solidFill>
          <a:ln w="15875">
            <a:solidFill>
              <a:srgbClr val="3B82F6"/>
            </a:solidFill>
          </a:ln>
        </p:spPr>
        <p:txBody>
          <a:bodyPr wrap="square" lIns="1016" tIns="1016" rIns="1016" bIns="1016"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Idempotent</a:t>
            </a:r>
            <a:endParaRPr lang="en-US" sz="1700" dirty="0"/>
          </a:p>
        </p:txBody>
      </p:sp>
      <p:sp>
        <p:nvSpPr>
          <p:cNvPr id="12" name="Text 9"/>
          <p:cNvSpPr/>
          <p:nvPr/>
        </p:nvSpPr>
        <p:spPr>
          <a:xfrm>
            <a:off x="4343400" y="1600200"/>
            <a:ext cx="3611880" cy="411480"/>
          </a:xfrm>
          <a:prstGeom prst="rect">
            <a:avLst>
              <a:gd name="adj" fmla="val 17778"/>
            </a:avLst>
          </a:prstGeom>
          <a:solidFill>
            <a:srgbClr val="FFFFFF"/>
          </a:solidFill>
          <a:ln w="15875">
            <a:solidFill>
              <a:srgbClr val="FFFFFF"/>
            </a:solidFill>
          </a:ln>
        </p:spPr>
        <p:txBody>
          <a:bodyPr wrap="square" lIns="1016" tIns="1016" rIns="1016" bIns="1016" rtlCol="0" anchor="ctr"/>
          <a:lstStyle/>
          <a:p>
            <a:pPr algn="ctr" indent="0" marL="0">
              <a:buNone/>
            </a:pPr>
            <a:r>
              <a:rPr lang="en-US" sz="1200" b="1" dirty="0">
                <a:solidFill>
                  <a:srgbClr val="1F2937"/>
                </a:solidFill>
                <a:latin typeface="Consolas" pitchFamily="34" charset="0"/>
                <a:ea typeface="Consolas" pitchFamily="34" charset="-122"/>
                <a:cs typeface="Consolas" pitchFamily="34" charset="-120"/>
              </a:rPr>
              <a:t>GET · HEAD · OPTIONS · PUT · DELETE</a:t>
            </a:r>
            <a:endParaRPr lang="en-US" sz="1200" dirty="0"/>
          </a:p>
        </p:txBody>
      </p:sp>
      <p:sp>
        <p:nvSpPr>
          <p:cNvPr id="13" name="Text 10"/>
          <p:cNvSpPr/>
          <p:nvPr/>
        </p:nvSpPr>
        <p:spPr>
          <a:xfrm>
            <a:off x="4343400" y="2011680"/>
            <a:ext cx="3611880" cy="548640"/>
          </a:xfrm>
          <a:prstGeom prst="rect">
            <a:avLst>
              <a:gd name="adj" fmla="val 13333"/>
            </a:avLst>
          </a:prstGeom>
          <a:solidFill>
            <a:srgbClr val="F7F9FC"/>
          </a:solidFill>
          <a:ln w="15875">
            <a:solidFill>
              <a:srgbClr val="CBD5E1"/>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Repeat it: same end result as calling it once.</a:t>
            </a:r>
            <a:endParaRPr lang="en-US" sz="1200" dirty="0"/>
          </a:p>
        </p:txBody>
      </p:sp>
      <p:sp>
        <p:nvSpPr>
          <p:cNvPr id="14" name="Text 11"/>
          <p:cNvSpPr/>
          <p:nvPr/>
        </p:nvSpPr>
        <p:spPr>
          <a:xfrm>
            <a:off x="8138160" y="1143000"/>
            <a:ext cx="3611880" cy="457200"/>
          </a:xfrm>
          <a:prstGeom prst="rect">
            <a:avLst>
              <a:gd name="adj" fmla="val 16000"/>
            </a:avLst>
          </a:prstGeom>
          <a:solidFill>
            <a:srgbClr val="E5484D"/>
          </a:solidFill>
          <a:ln w="15875">
            <a:solidFill>
              <a:srgbClr val="E5484D"/>
            </a:solidFill>
          </a:ln>
        </p:spPr>
        <p:txBody>
          <a:bodyPr wrap="square" lIns="1016" tIns="1016" rIns="1016" bIns="1016"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State-changing</a:t>
            </a:r>
            <a:endParaRPr lang="en-US" sz="1700" dirty="0"/>
          </a:p>
        </p:txBody>
      </p:sp>
      <p:sp>
        <p:nvSpPr>
          <p:cNvPr id="15" name="Text 12"/>
          <p:cNvSpPr/>
          <p:nvPr/>
        </p:nvSpPr>
        <p:spPr>
          <a:xfrm>
            <a:off x="8138160" y="1600200"/>
            <a:ext cx="3611880" cy="411480"/>
          </a:xfrm>
          <a:prstGeom prst="rect">
            <a:avLst>
              <a:gd name="adj" fmla="val 17778"/>
            </a:avLst>
          </a:prstGeom>
          <a:solidFill>
            <a:srgbClr val="FFFFFF"/>
          </a:solidFill>
          <a:ln w="15875">
            <a:solidFill>
              <a:srgbClr val="FFFFFF"/>
            </a:solidFill>
          </a:ln>
        </p:spPr>
        <p:txBody>
          <a:bodyPr wrap="square" lIns="1016" tIns="1016" rIns="1016" bIns="1016" rtlCol="0" anchor="ctr"/>
          <a:lstStyle/>
          <a:p>
            <a:pPr algn="ctr" indent="0" marL="0">
              <a:buNone/>
            </a:pPr>
            <a:r>
              <a:rPr lang="en-US" sz="1200" b="1" dirty="0">
                <a:solidFill>
                  <a:srgbClr val="1F2937"/>
                </a:solidFill>
                <a:latin typeface="Consolas" pitchFamily="34" charset="0"/>
                <a:ea typeface="Consolas" pitchFamily="34" charset="-122"/>
                <a:cs typeface="Consolas" pitchFamily="34" charset="-120"/>
              </a:rPr>
              <a:t>POST · PUT · PATCH · DELETE</a:t>
            </a:r>
            <a:endParaRPr lang="en-US" sz="1200" dirty="0"/>
          </a:p>
        </p:txBody>
      </p:sp>
      <p:sp>
        <p:nvSpPr>
          <p:cNvPr id="16" name="Text 13"/>
          <p:cNvSpPr/>
          <p:nvPr/>
        </p:nvSpPr>
        <p:spPr>
          <a:xfrm>
            <a:off x="8138160" y="2011680"/>
            <a:ext cx="3611880" cy="548640"/>
          </a:xfrm>
          <a:prstGeom prst="rect">
            <a:avLst>
              <a:gd name="adj" fmla="val 13333"/>
            </a:avLst>
          </a:prstGeom>
          <a:solidFill>
            <a:srgbClr val="F7F9FC"/>
          </a:solidFill>
          <a:ln w="15875">
            <a:solidFill>
              <a:srgbClr val="CBD5E1"/>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Creates, updates or removes data on the server.</a:t>
            </a:r>
            <a:endParaRPr lang="en-US" sz="1200" dirty="0"/>
          </a:p>
        </p:txBody>
      </p:sp>
      <p:sp>
        <p:nvSpPr>
          <p:cNvPr id="17" name="Text 14"/>
          <p:cNvSpPr/>
          <p:nvPr/>
        </p:nvSpPr>
        <p:spPr>
          <a:xfrm>
            <a:off x="548640" y="2743200"/>
            <a:ext cx="3611880" cy="457200"/>
          </a:xfrm>
          <a:prstGeom prst="rect">
            <a:avLst>
              <a:gd name="adj" fmla="val 16000"/>
            </a:avLst>
          </a:prstGeom>
          <a:solidFill>
            <a:srgbClr val="E5484D"/>
          </a:solidFill>
          <a:ln w="15875">
            <a:solidFill>
              <a:srgbClr val="E5484D"/>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POST  ·  Not idempotent</a:t>
            </a:r>
            <a:endParaRPr lang="en-US" sz="1500" dirty="0"/>
          </a:p>
        </p:txBody>
      </p:sp>
      <p:sp>
        <p:nvSpPr>
          <p:cNvPr id="18" name="Text 15"/>
          <p:cNvSpPr/>
          <p:nvPr/>
        </p:nvSpPr>
        <p:spPr>
          <a:xfrm>
            <a:off x="548640" y="3200400"/>
            <a:ext cx="3611880" cy="1143000"/>
          </a:xfrm>
          <a:prstGeom prst="roundRect">
            <a:avLst>
              <a:gd name="adj" fmla="val 4800"/>
            </a:avLst>
          </a:prstGeom>
          <a:solidFill>
            <a:srgbClr val="111827"/>
          </a:solidFill>
          <a:ln/>
        </p:spPr>
        <p:txBody>
          <a:bodyPr wrap="square" lIns="1905" tIns="1905" rIns="1905" bIns="1905"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POST /users {"name":"Asha"}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201 Created  id: 43</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POST /users {"name":"Asha"}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201 Created  id: 44</a:t>
            </a:r>
            <a:endParaRPr lang="en-US" sz="1100" dirty="0"/>
          </a:p>
        </p:txBody>
      </p:sp>
      <p:sp>
        <p:nvSpPr>
          <p:cNvPr id="19" name="Text 16"/>
          <p:cNvSpPr/>
          <p:nvPr/>
        </p:nvSpPr>
        <p:spPr>
          <a:xfrm>
            <a:off x="548640" y="4343400"/>
            <a:ext cx="3611880" cy="594360"/>
          </a:xfrm>
          <a:prstGeom prst="rect">
            <a:avLst>
              <a:gd name="adj" fmla="val 12308"/>
            </a:avLst>
          </a:prstGeom>
          <a:solidFill>
            <a:srgbClr val="FFFFFF"/>
          </a:solidFill>
          <a:ln w="15875">
            <a:solidFill>
              <a:srgbClr val="E5484D"/>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Two records, two IDs. State grows with every call.</a:t>
            </a:r>
            <a:endParaRPr lang="en-US" sz="1200" dirty="0"/>
          </a:p>
        </p:txBody>
      </p:sp>
      <p:sp>
        <p:nvSpPr>
          <p:cNvPr id="20" name="Text 17"/>
          <p:cNvSpPr/>
          <p:nvPr/>
        </p:nvSpPr>
        <p:spPr>
          <a:xfrm>
            <a:off x="4343400" y="2743200"/>
            <a:ext cx="3611880" cy="457200"/>
          </a:xfrm>
          <a:prstGeom prst="rect">
            <a:avLst>
              <a:gd name="adj" fmla="val 16000"/>
            </a:avLst>
          </a:prstGeom>
          <a:solidFill>
            <a:srgbClr val="0F9D8F"/>
          </a:solidFill>
          <a:ln w="15875">
            <a:solidFill>
              <a:srgbClr val="0F9D8F"/>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PUT  ·  Idempotent</a:t>
            </a:r>
            <a:endParaRPr lang="en-US" sz="1500" dirty="0"/>
          </a:p>
        </p:txBody>
      </p:sp>
      <p:sp>
        <p:nvSpPr>
          <p:cNvPr id="21" name="Text 18"/>
          <p:cNvSpPr/>
          <p:nvPr/>
        </p:nvSpPr>
        <p:spPr>
          <a:xfrm>
            <a:off x="4343400" y="3200400"/>
            <a:ext cx="3611880" cy="1143000"/>
          </a:xfrm>
          <a:prstGeom prst="roundRect">
            <a:avLst>
              <a:gd name="adj" fmla="val 4800"/>
            </a:avLst>
          </a:prstGeom>
          <a:solidFill>
            <a:srgbClr val="111827"/>
          </a:solidFill>
          <a:ln/>
        </p:spPr>
        <p:txBody>
          <a:bodyPr wrap="square" lIns="1905" tIns="1905" rIns="1905" bIns="1905"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PUT /users/42 {"name":"Asha"}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200 OK   (replaced)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PUT /users/42 {"name":"Asha"}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200 OK   (same result)</a:t>
            </a:r>
            <a:endParaRPr lang="en-US" sz="1100" dirty="0"/>
          </a:p>
        </p:txBody>
      </p:sp>
      <p:sp>
        <p:nvSpPr>
          <p:cNvPr id="22" name="Text 19"/>
          <p:cNvSpPr/>
          <p:nvPr/>
        </p:nvSpPr>
        <p:spPr>
          <a:xfrm>
            <a:off x="4343400" y="4343400"/>
            <a:ext cx="3611880" cy="594360"/>
          </a:xfrm>
          <a:prstGeom prst="rect">
            <a:avLst>
              <a:gd name="adj" fmla="val 12308"/>
            </a:avLst>
          </a:prstGeom>
          <a:solidFill>
            <a:srgbClr val="FFFFFF"/>
          </a:solidFill>
          <a:ln w="15875">
            <a:solidFill>
              <a:srgbClr val="0F9D8F"/>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Changes state once; repeating it changes nothing more.</a:t>
            </a:r>
            <a:endParaRPr lang="en-US" sz="1200" dirty="0"/>
          </a:p>
        </p:txBody>
      </p:sp>
      <p:sp>
        <p:nvSpPr>
          <p:cNvPr id="23" name="Text 20"/>
          <p:cNvSpPr/>
          <p:nvPr/>
        </p:nvSpPr>
        <p:spPr>
          <a:xfrm>
            <a:off x="8138160" y="2743200"/>
            <a:ext cx="3611880" cy="457200"/>
          </a:xfrm>
          <a:prstGeom prst="rect">
            <a:avLst>
              <a:gd name="adj" fmla="val 16000"/>
            </a:avLst>
          </a:prstGeom>
          <a:solidFill>
            <a:srgbClr val="F59E0B"/>
          </a:solidFill>
          <a:ln w="15875">
            <a:solidFill>
              <a:srgbClr val="F59E0B"/>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PATCH  ·  Generally not idempotent</a:t>
            </a:r>
            <a:endParaRPr lang="en-US" sz="1500" dirty="0"/>
          </a:p>
        </p:txBody>
      </p:sp>
      <p:sp>
        <p:nvSpPr>
          <p:cNvPr id="24" name="Text 21"/>
          <p:cNvSpPr/>
          <p:nvPr/>
        </p:nvSpPr>
        <p:spPr>
          <a:xfrm>
            <a:off x="8138160" y="3200400"/>
            <a:ext cx="3611880" cy="1143000"/>
          </a:xfrm>
          <a:prstGeom prst="roundRect">
            <a:avLst>
              <a:gd name="adj" fmla="val 4800"/>
            </a:avLst>
          </a:prstGeom>
          <a:solidFill>
            <a:srgbClr val="111827"/>
          </a:solidFill>
          <a:ln/>
        </p:spPr>
        <p:txBody>
          <a:bodyPr wrap="square" lIns="1905" tIns="1905" rIns="1905" bIns="1905"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PATCH /users/42</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{"$inc":{"login_count":1}}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login_count: 5 → 6 → 7</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(set email twice = same)</a:t>
            </a:r>
            <a:endParaRPr lang="en-US" sz="1100" dirty="0"/>
          </a:p>
        </p:txBody>
      </p:sp>
      <p:sp>
        <p:nvSpPr>
          <p:cNvPr id="25" name="Text 22"/>
          <p:cNvSpPr/>
          <p:nvPr/>
        </p:nvSpPr>
        <p:spPr>
          <a:xfrm>
            <a:off x="8138160" y="4343400"/>
            <a:ext cx="3611880" cy="594360"/>
          </a:xfrm>
          <a:prstGeom prst="rect">
            <a:avLst>
              <a:gd name="adj" fmla="val 12308"/>
            </a:avLst>
          </a:prstGeom>
          <a:solidFill>
            <a:srgbClr val="FFFFFF"/>
          </a:solidFill>
          <a:ln w="15875">
            <a:solidFill>
              <a:srgbClr val="F59E0B"/>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Depends on the operation: an increment compounds.</a:t>
            </a:r>
            <a:endParaRPr lang="en-US" sz="1200" dirty="0"/>
          </a:p>
        </p:txBody>
      </p:sp>
      <p:sp>
        <p:nvSpPr>
          <p:cNvPr id="26" name="Shape 23"/>
          <p:cNvSpPr/>
          <p:nvPr/>
        </p:nvSpPr>
        <p:spPr>
          <a:xfrm>
            <a:off x="457200" y="5257800"/>
            <a:ext cx="82296" cy="548640"/>
          </a:xfrm>
          <a:prstGeom prst="rect">
            <a:avLst/>
          </a:prstGeom>
          <a:solidFill>
            <a:srgbClr val="F59E0B"/>
          </a:solidFill>
          <a:ln/>
        </p:spPr>
      </p:sp>
      <p:sp>
        <p:nvSpPr>
          <p:cNvPr id="27" name="Text 24"/>
          <p:cNvSpPr/>
          <p:nvPr/>
        </p:nvSpPr>
        <p:spPr>
          <a:xfrm>
            <a:off x="594360" y="525780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Test it: send the call twice, then compare the end state, not just the status code. ("Stateful" here means "changes server data"; HTTP itself is still stateless.)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Status codes: the server's answer in three digits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28</a:t>
            </a:r>
            <a:endParaRPr lang="en-US" sz="1000" dirty="0"/>
          </a:p>
        </p:txBody>
      </p:sp>
      <p:sp>
        <p:nvSpPr>
          <p:cNvPr id="8" name="Text 5"/>
          <p:cNvSpPr/>
          <p:nvPr/>
        </p:nvSpPr>
        <p:spPr>
          <a:xfrm>
            <a:off x="548640" y="1280160"/>
            <a:ext cx="2651760" cy="822960"/>
          </a:xfrm>
          <a:prstGeom prst="rect">
            <a:avLst>
              <a:gd name="adj" fmla="val 8889"/>
            </a:avLst>
          </a:prstGeom>
          <a:solidFill>
            <a:srgbClr val="0F9D8F"/>
          </a:solidFill>
          <a:ln w="15875">
            <a:solidFill>
              <a:srgbClr val="0F9D8F"/>
            </a:solidFill>
          </a:ln>
        </p:spPr>
        <p:txBody>
          <a:bodyPr wrap="square" lIns="1016" tIns="1016" rIns="1016" bIns="1016"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2xx</a:t>
            </a:r>
            <a:endParaRPr lang="en-US" sz="3400" dirty="0"/>
          </a:p>
        </p:txBody>
      </p:sp>
      <p:sp>
        <p:nvSpPr>
          <p:cNvPr id="9" name="Text 6"/>
          <p:cNvSpPr/>
          <p:nvPr/>
        </p:nvSpPr>
        <p:spPr>
          <a:xfrm>
            <a:off x="548640" y="210312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Success</a:t>
            </a:r>
            <a:endParaRPr lang="en-US" sz="1400" dirty="0"/>
          </a:p>
        </p:txBody>
      </p:sp>
      <p:sp>
        <p:nvSpPr>
          <p:cNvPr id="10" name="Text 7"/>
          <p:cNvSpPr/>
          <p:nvPr/>
        </p:nvSpPr>
        <p:spPr>
          <a:xfrm>
            <a:off x="548640" y="2834640"/>
            <a:ext cx="2651760" cy="2194560"/>
          </a:xfrm>
          <a:prstGeom prst="rect">
            <a:avLst>
              <a:gd name="adj" fmla="val 3333"/>
            </a:avLst>
          </a:prstGeom>
          <a:solidFill>
            <a:srgbClr val="FFFFFF"/>
          </a:solidFill>
          <a:ln w="15875">
            <a:solidFill>
              <a:srgbClr val="FFFFFF"/>
            </a:solidFill>
          </a:ln>
        </p:spPr>
        <p:txBody>
          <a:bodyPr wrap="square" lIns="1016" tIns="1016" rIns="1016" bIns="1016"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200 OK</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201 Created</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204 No Content</a:t>
            </a:r>
            <a:endParaRPr lang="en-US" sz="1400" dirty="0"/>
          </a:p>
        </p:txBody>
      </p:sp>
      <p:sp>
        <p:nvSpPr>
          <p:cNvPr id="11" name="Text 8"/>
          <p:cNvSpPr/>
          <p:nvPr/>
        </p:nvSpPr>
        <p:spPr>
          <a:xfrm>
            <a:off x="3383280" y="1280160"/>
            <a:ext cx="2651760" cy="822960"/>
          </a:xfrm>
          <a:prstGeom prst="rect">
            <a:avLst>
              <a:gd name="adj" fmla="val 8889"/>
            </a:avLst>
          </a:prstGeom>
          <a:solidFill>
            <a:srgbClr val="3B82F6"/>
          </a:solidFill>
          <a:ln w="15875">
            <a:solidFill>
              <a:srgbClr val="3B82F6"/>
            </a:solidFill>
          </a:ln>
        </p:spPr>
        <p:txBody>
          <a:bodyPr wrap="square" lIns="1016" tIns="1016" rIns="1016" bIns="1016"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3xx</a:t>
            </a:r>
            <a:endParaRPr lang="en-US" sz="3400" dirty="0"/>
          </a:p>
        </p:txBody>
      </p:sp>
      <p:sp>
        <p:nvSpPr>
          <p:cNvPr id="12" name="Text 9"/>
          <p:cNvSpPr/>
          <p:nvPr/>
        </p:nvSpPr>
        <p:spPr>
          <a:xfrm>
            <a:off x="3383280" y="210312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Redirect</a:t>
            </a:r>
            <a:endParaRPr lang="en-US" sz="1400" dirty="0"/>
          </a:p>
        </p:txBody>
      </p:sp>
      <p:sp>
        <p:nvSpPr>
          <p:cNvPr id="13" name="Text 10"/>
          <p:cNvSpPr/>
          <p:nvPr/>
        </p:nvSpPr>
        <p:spPr>
          <a:xfrm>
            <a:off x="3383280" y="2834640"/>
            <a:ext cx="2651760" cy="2194560"/>
          </a:xfrm>
          <a:prstGeom prst="rect">
            <a:avLst>
              <a:gd name="adj" fmla="val 3333"/>
            </a:avLst>
          </a:prstGeom>
          <a:solidFill>
            <a:srgbClr val="FFFFFF"/>
          </a:solidFill>
          <a:ln w="15875">
            <a:solidFill>
              <a:srgbClr val="FFFFFF"/>
            </a:solidFill>
          </a:ln>
        </p:spPr>
        <p:txBody>
          <a:bodyPr wrap="square" lIns="1016" tIns="1016" rIns="1016" bIns="1016"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301 Moved</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304 Not Modified</a:t>
            </a:r>
            <a:endParaRPr lang="en-US" sz="1400" dirty="0"/>
          </a:p>
        </p:txBody>
      </p:sp>
      <p:sp>
        <p:nvSpPr>
          <p:cNvPr id="14" name="Text 11"/>
          <p:cNvSpPr/>
          <p:nvPr/>
        </p:nvSpPr>
        <p:spPr>
          <a:xfrm>
            <a:off x="6217920" y="1280160"/>
            <a:ext cx="2651760" cy="822960"/>
          </a:xfrm>
          <a:prstGeom prst="rect">
            <a:avLst>
              <a:gd name="adj" fmla="val 8889"/>
            </a:avLst>
          </a:prstGeom>
          <a:solidFill>
            <a:srgbClr val="F59E0B"/>
          </a:solidFill>
          <a:ln w="15875">
            <a:solidFill>
              <a:srgbClr val="F59E0B"/>
            </a:solidFill>
          </a:ln>
        </p:spPr>
        <p:txBody>
          <a:bodyPr wrap="square" lIns="1016" tIns="1016" rIns="1016" bIns="1016"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4xx</a:t>
            </a:r>
            <a:endParaRPr lang="en-US" sz="3400" dirty="0"/>
          </a:p>
        </p:txBody>
      </p:sp>
      <p:sp>
        <p:nvSpPr>
          <p:cNvPr id="15" name="Text 12"/>
          <p:cNvSpPr/>
          <p:nvPr/>
        </p:nvSpPr>
        <p:spPr>
          <a:xfrm>
            <a:off x="6217920" y="210312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Client error</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(your request)</a:t>
            </a:r>
            <a:endParaRPr lang="en-US" sz="1400" dirty="0"/>
          </a:p>
        </p:txBody>
      </p:sp>
      <p:sp>
        <p:nvSpPr>
          <p:cNvPr id="16" name="Text 13"/>
          <p:cNvSpPr/>
          <p:nvPr/>
        </p:nvSpPr>
        <p:spPr>
          <a:xfrm>
            <a:off x="6217920" y="2834640"/>
            <a:ext cx="2651760" cy="2194560"/>
          </a:xfrm>
          <a:prstGeom prst="rect">
            <a:avLst>
              <a:gd name="adj" fmla="val 3333"/>
            </a:avLst>
          </a:prstGeom>
          <a:solidFill>
            <a:srgbClr val="FFFFFF"/>
          </a:solidFill>
          <a:ln w="15875">
            <a:solidFill>
              <a:srgbClr val="FFFFFF"/>
            </a:solidFill>
          </a:ln>
        </p:spPr>
        <p:txBody>
          <a:bodyPr wrap="square" lIns="1016" tIns="1016" rIns="1016" bIns="1016"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400 Bad Request</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401 Unauthorized</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403 Forbidden</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404 Not Found</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409 Conflict</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422 Unprocessable</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429 Too Many Requests</a:t>
            </a:r>
            <a:endParaRPr lang="en-US" sz="1400" dirty="0"/>
          </a:p>
        </p:txBody>
      </p:sp>
      <p:sp>
        <p:nvSpPr>
          <p:cNvPr id="17" name="Text 14"/>
          <p:cNvSpPr/>
          <p:nvPr/>
        </p:nvSpPr>
        <p:spPr>
          <a:xfrm>
            <a:off x="9052560" y="1280160"/>
            <a:ext cx="2651760" cy="822960"/>
          </a:xfrm>
          <a:prstGeom prst="rect">
            <a:avLst>
              <a:gd name="adj" fmla="val 8889"/>
            </a:avLst>
          </a:prstGeom>
          <a:solidFill>
            <a:srgbClr val="E5484D"/>
          </a:solidFill>
          <a:ln w="15875">
            <a:solidFill>
              <a:srgbClr val="E5484D"/>
            </a:solidFill>
          </a:ln>
        </p:spPr>
        <p:txBody>
          <a:bodyPr wrap="square" lIns="1016" tIns="1016" rIns="1016" bIns="1016"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5xx</a:t>
            </a:r>
            <a:endParaRPr lang="en-US" sz="3400" dirty="0"/>
          </a:p>
        </p:txBody>
      </p:sp>
      <p:sp>
        <p:nvSpPr>
          <p:cNvPr id="18" name="Text 15"/>
          <p:cNvSpPr/>
          <p:nvPr/>
        </p:nvSpPr>
        <p:spPr>
          <a:xfrm>
            <a:off x="9052560" y="210312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Server error</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(their fault)</a:t>
            </a:r>
            <a:endParaRPr lang="en-US" sz="1400" dirty="0"/>
          </a:p>
        </p:txBody>
      </p:sp>
      <p:sp>
        <p:nvSpPr>
          <p:cNvPr id="19" name="Text 16"/>
          <p:cNvSpPr/>
          <p:nvPr/>
        </p:nvSpPr>
        <p:spPr>
          <a:xfrm>
            <a:off x="9052560" y="2834640"/>
            <a:ext cx="2651760" cy="2194560"/>
          </a:xfrm>
          <a:prstGeom prst="rect">
            <a:avLst>
              <a:gd name="adj" fmla="val 3333"/>
            </a:avLst>
          </a:prstGeom>
          <a:solidFill>
            <a:srgbClr val="FFFFFF"/>
          </a:solidFill>
          <a:ln w="15875">
            <a:solidFill>
              <a:srgbClr val="FFFFFF"/>
            </a:solidFill>
          </a:ln>
        </p:spPr>
        <p:txBody>
          <a:bodyPr wrap="square" lIns="1016" tIns="1016" rIns="1016" bIns="1016"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500 Internal Error</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502 Bad Gateway</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503 Unavailable</a:t>
            </a:r>
            <a:endParaRPr lang="en-US" sz="1400" dirty="0"/>
          </a:p>
          <a:p>
            <a:pPr algn="ctr" indent="0" marL="0">
              <a:buNone/>
            </a:pPr>
            <a:r>
              <a:rPr lang="en-US" sz="1400" dirty="0">
                <a:solidFill>
                  <a:srgbClr val="1F2937"/>
                </a:solidFill>
                <a:latin typeface="Calibri" pitchFamily="34" charset="0"/>
                <a:ea typeface="Calibri" pitchFamily="34" charset="-122"/>
                <a:cs typeface="Calibri" pitchFamily="34" charset="-120"/>
              </a:rPr>
              <a:t>504 Timeout</a:t>
            </a:r>
            <a:endParaRPr lang="en-US" sz="1400" dirty="0"/>
          </a:p>
        </p:txBody>
      </p:sp>
      <p:sp>
        <p:nvSpPr>
          <p:cNvPr id="20" name="Shape 17"/>
          <p:cNvSpPr/>
          <p:nvPr/>
        </p:nvSpPr>
        <p:spPr>
          <a:xfrm>
            <a:off x="457200" y="5303520"/>
            <a:ext cx="82296" cy="548640"/>
          </a:xfrm>
          <a:prstGeom prst="rect">
            <a:avLst/>
          </a:prstGeom>
          <a:solidFill>
            <a:srgbClr val="0F9D8F"/>
          </a:solidFill>
          <a:ln/>
        </p:spPr>
      </p:sp>
      <p:sp>
        <p:nvSpPr>
          <p:cNvPr id="21" name="Text 18"/>
          <p:cNvSpPr/>
          <p:nvPr/>
        </p:nvSpPr>
        <p:spPr>
          <a:xfrm>
            <a:off x="594360" y="530352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Triage rule: 4xx = look at the request or the requirement. 5xx = look at the server. 401 = who are you? 403 = I know you, but no.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Stateless protocol, stateful data: resolving the paradox</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29</a:t>
            </a:r>
            <a:endParaRPr lang="en-US" sz="1000" dirty="0"/>
          </a:p>
        </p:txBody>
      </p:sp>
      <p:sp>
        <p:nvSpPr>
          <p:cNvPr id="8" name="Shape 5"/>
          <p:cNvSpPr/>
          <p:nvPr/>
        </p:nvSpPr>
        <p:spPr>
          <a:xfrm>
            <a:off x="548640" y="1143000"/>
            <a:ext cx="5760720" cy="2286000"/>
          </a:xfrm>
          <a:prstGeom prst="rect">
            <a:avLst/>
          </a:prstGeom>
          <a:solidFill>
            <a:srgbClr val="FFFFFF"/>
          </a:solidFill>
          <a:ln w="12700">
            <a:solidFill>
              <a:srgbClr val="CBD5E1"/>
            </a:solidFill>
            <a:prstDash val="solid"/>
          </a:ln>
        </p:spPr>
      </p:sp>
      <p:sp>
        <p:nvSpPr>
          <p:cNvPr id="9" name="Text 6"/>
          <p:cNvSpPr/>
          <p:nvPr/>
        </p:nvSpPr>
        <p:spPr>
          <a:xfrm>
            <a:off x="685800" y="1828800"/>
            <a:ext cx="1005840" cy="731520"/>
          </a:xfrm>
          <a:prstGeom prst="roundRect">
            <a:avLst>
              <a:gd name="adj" fmla="val 10000"/>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Client</a:t>
            </a:r>
            <a:endParaRPr lang="en-US" sz="1400" dirty="0"/>
          </a:p>
        </p:txBody>
      </p:sp>
      <p:sp>
        <p:nvSpPr>
          <p:cNvPr id="10" name="Text 7"/>
          <p:cNvSpPr/>
          <p:nvPr/>
        </p:nvSpPr>
        <p:spPr>
          <a:xfrm>
            <a:off x="2103120" y="1828800"/>
            <a:ext cx="1005840" cy="731520"/>
          </a:xfrm>
          <a:prstGeom prst="roundRect">
            <a:avLst>
              <a:gd name="adj" fmla="val 10000"/>
            </a:avLst>
          </a:prstGeom>
          <a:solidFill>
            <a:srgbClr val="FEF3C7"/>
          </a:solidFill>
          <a:ln w="15875">
            <a:solidFill>
              <a:srgbClr val="F59E0B"/>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Load</a:t>
            </a:r>
            <a:endParaRPr lang="en-US" sz="1200" dirty="0"/>
          </a:p>
          <a:p>
            <a:pPr algn="ctr" indent="0" marL="0">
              <a:buNone/>
            </a:pPr>
            <a:r>
              <a:rPr lang="en-US" sz="1200" b="1" dirty="0">
                <a:solidFill>
                  <a:srgbClr val="1F2937"/>
                </a:solidFill>
                <a:latin typeface="Calibri" pitchFamily="34" charset="0"/>
                <a:ea typeface="Calibri" pitchFamily="34" charset="-122"/>
                <a:cs typeface="Calibri" pitchFamily="34" charset="-120"/>
              </a:rPr>
              <a:t>balancer</a:t>
            </a:r>
            <a:endParaRPr lang="en-US" sz="1200" dirty="0"/>
          </a:p>
        </p:txBody>
      </p:sp>
      <p:sp>
        <p:nvSpPr>
          <p:cNvPr id="11" name="Text 8"/>
          <p:cNvSpPr/>
          <p:nvPr/>
        </p:nvSpPr>
        <p:spPr>
          <a:xfrm>
            <a:off x="3749040" y="1280160"/>
            <a:ext cx="1097280" cy="548640"/>
          </a:xfrm>
          <a:prstGeom prst="roundRect">
            <a:avLst>
              <a:gd name="adj" fmla="val 13333"/>
            </a:avLst>
          </a:prstGeom>
          <a:solidFill>
            <a:srgbClr val="DDF4F0"/>
          </a:solidFill>
          <a:ln w="15875">
            <a:solidFill>
              <a:srgbClr val="0F9D8F"/>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Server A</a:t>
            </a:r>
            <a:endParaRPr lang="en-US" sz="1200" dirty="0"/>
          </a:p>
        </p:txBody>
      </p:sp>
      <p:sp>
        <p:nvSpPr>
          <p:cNvPr id="12" name="Text 9"/>
          <p:cNvSpPr/>
          <p:nvPr/>
        </p:nvSpPr>
        <p:spPr>
          <a:xfrm>
            <a:off x="3749040" y="2560320"/>
            <a:ext cx="1097280" cy="548640"/>
          </a:xfrm>
          <a:prstGeom prst="roundRect">
            <a:avLst>
              <a:gd name="adj" fmla="val 13333"/>
            </a:avLst>
          </a:prstGeom>
          <a:solidFill>
            <a:srgbClr val="DDF4F0"/>
          </a:solidFill>
          <a:ln w="15875">
            <a:solidFill>
              <a:srgbClr val="0F9D8F"/>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Server B</a:t>
            </a:r>
            <a:endParaRPr lang="en-US" sz="1200" dirty="0"/>
          </a:p>
        </p:txBody>
      </p:sp>
      <p:sp>
        <p:nvSpPr>
          <p:cNvPr id="13" name="Text 10"/>
          <p:cNvSpPr/>
          <p:nvPr/>
        </p:nvSpPr>
        <p:spPr>
          <a:xfrm>
            <a:off x="5257800" y="1828800"/>
            <a:ext cx="960120" cy="731520"/>
          </a:xfrm>
          <a:prstGeom prst="roundRect">
            <a:avLst>
              <a:gd name="adj" fmla="val 10000"/>
            </a:avLst>
          </a:prstGeom>
          <a:solidFill>
            <a:srgbClr val="ECE7FF"/>
          </a:solidFill>
          <a:ln w="15875">
            <a:solidFill>
              <a:srgbClr val="7C5CFC"/>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a:t>
            </a:r>
            <a:endParaRPr lang="en-US" sz="1200" dirty="0"/>
          </a:p>
          <a:p>
            <a:pPr algn="ctr" indent="0" marL="0">
              <a:buNone/>
            </a:pPr>
            <a:r>
              <a:rPr lang="en-US" sz="1200" b="1" dirty="0">
                <a:solidFill>
                  <a:srgbClr val="1F2937"/>
                </a:solidFill>
                <a:latin typeface="Calibri" pitchFamily="34" charset="0"/>
                <a:ea typeface="Calibri" pitchFamily="34" charset="-122"/>
                <a:cs typeface="Calibri" pitchFamily="34" charset="-120"/>
              </a:rPr>
              <a:t>Database</a:t>
            </a:r>
            <a:endParaRPr lang="en-US" sz="1200" dirty="0"/>
          </a:p>
        </p:txBody>
      </p:sp>
      <p:sp>
        <p:nvSpPr>
          <p:cNvPr id="14" name="Shape 11"/>
          <p:cNvSpPr/>
          <p:nvPr/>
        </p:nvSpPr>
        <p:spPr>
          <a:xfrm>
            <a:off x="1691640" y="2194560"/>
            <a:ext cx="411480" cy="0"/>
          </a:xfrm>
          <a:prstGeom prst="line">
            <a:avLst/>
          </a:prstGeom>
          <a:noFill/>
          <a:ln w="25400">
            <a:solidFill>
              <a:srgbClr val="3B82F6"/>
            </a:solidFill>
            <a:prstDash val="solid"/>
            <a:tailEnd type="triangle"/>
          </a:ln>
        </p:spPr>
      </p:sp>
      <p:sp>
        <p:nvSpPr>
          <p:cNvPr id="15" name="Shape 12"/>
          <p:cNvSpPr/>
          <p:nvPr/>
        </p:nvSpPr>
        <p:spPr>
          <a:xfrm flipV="1">
            <a:off x="3108960" y="1600200"/>
            <a:ext cx="640080" cy="502920"/>
          </a:xfrm>
          <a:prstGeom prst="line">
            <a:avLst/>
          </a:prstGeom>
          <a:noFill/>
          <a:ln w="25400">
            <a:solidFill>
              <a:srgbClr val="0F9D8F"/>
            </a:solidFill>
            <a:prstDash val="solid"/>
            <a:tailEnd type="triangle"/>
          </a:ln>
        </p:spPr>
      </p:sp>
      <p:sp>
        <p:nvSpPr>
          <p:cNvPr id="16" name="Shape 13"/>
          <p:cNvSpPr/>
          <p:nvPr/>
        </p:nvSpPr>
        <p:spPr>
          <a:xfrm>
            <a:off x="3108960" y="2286000"/>
            <a:ext cx="640080" cy="548640"/>
          </a:xfrm>
          <a:prstGeom prst="line">
            <a:avLst/>
          </a:prstGeom>
          <a:noFill/>
          <a:ln w="25400">
            <a:solidFill>
              <a:srgbClr val="0F9D8F"/>
            </a:solidFill>
            <a:prstDash val="solid"/>
            <a:tailEnd type="triangle"/>
          </a:ln>
        </p:spPr>
      </p:sp>
      <p:sp>
        <p:nvSpPr>
          <p:cNvPr id="17" name="Shape 14"/>
          <p:cNvSpPr/>
          <p:nvPr/>
        </p:nvSpPr>
        <p:spPr>
          <a:xfrm>
            <a:off x="4846320" y="1645920"/>
            <a:ext cx="411480" cy="365760"/>
          </a:xfrm>
          <a:prstGeom prst="line">
            <a:avLst/>
          </a:prstGeom>
          <a:noFill/>
          <a:ln w="25400">
            <a:solidFill>
              <a:srgbClr val="7C5CFC"/>
            </a:solidFill>
            <a:prstDash val="solid"/>
            <a:tailEnd type="triangle"/>
          </a:ln>
        </p:spPr>
      </p:sp>
      <p:sp>
        <p:nvSpPr>
          <p:cNvPr id="18" name="Shape 15"/>
          <p:cNvSpPr/>
          <p:nvPr/>
        </p:nvSpPr>
        <p:spPr>
          <a:xfrm flipV="1">
            <a:off x="4846320" y="2468880"/>
            <a:ext cx="411480" cy="365760"/>
          </a:xfrm>
          <a:prstGeom prst="line">
            <a:avLst/>
          </a:prstGeom>
          <a:noFill/>
          <a:ln w="25400">
            <a:solidFill>
              <a:srgbClr val="7C5CFC"/>
            </a:solidFill>
            <a:prstDash val="solid"/>
            <a:tailEnd type="triangle"/>
          </a:ln>
        </p:spPr>
      </p:sp>
      <p:sp>
        <p:nvSpPr>
          <p:cNvPr id="19" name="Text 16"/>
          <p:cNvSpPr/>
          <p:nvPr/>
        </p:nvSpPr>
        <p:spPr>
          <a:xfrm>
            <a:off x="1828800" y="1188720"/>
            <a:ext cx="2011680" cy="274320"/>
          </a:xfrm>
          <a:prstGeom prst="rect">
            <a:avLst/>
          </a:prstGeom>
          <a:noFill/>
          <a:ln/>
        </p:spPr>
        <p:txBody>
          <a:bodyPr wrap="square" lIns="508" tIns="508" rIns="508" bIns="508" rtlCol="0" anchor="ctr"/>
          <a:lstStyle/>
          <a:p>
            <a:pPr indent="0" marL="0">
              <a:buNone/>
            </a:pPr>
            <a:r>
              <a:rPr lang="en-US" sz="1100" b="1" dirty="0">
                <a:solidFill>
                  <a:srgbClr val="0F9D8F"/>
                </a:solidFill>
                <a:latin typeface="Calibri" pitchFamily="34" charset="0"/>
                <a:ea typeface="Calibri" pitchFamily="34" charset="-122"/>
                <a:cs typeface="Calibri" pitchFamily="34" charset="-120"/>
              </a:rPr>
              <a:t>POST /accounts → A</a:t>
            </a:r>
            <a:endParaRPr lang="en-US" sz="1100" dirty="0"/>
          </a:p>
        </p:txBody>
      </p:sp>
      <p:sp>
        <p:nvSpPr>
          <p:cNvPr id="20" name="Text 17"/>
          <p:cNvSpPr/>
          <p:nvPr/>
        </p:nvSpPr>
        <p:spPr>
          <a:xfrm>
            <a:off x="1828800" y="3108960"/>
            <a:ext cx="2103120" cy="274320"/>
          </a:xfrm>
          <a:prstGeom prst="rect">
            <a:avLst/>
          </a:prstGeom>
          <a:noFill/>
          <a:ln/>
        </p:spPr>
        <p:txBody>
          <a:bodyPr wrap="square" lIns="508" tIns="508" rIns="508" bIns="508" rtlCol="0" anchor="ctr"/>
          <a:lstStyle/>
          <a:p>
            <a:pPr indent="0" marL="0">
              <a:buNone/>
            </a:pPr>
            <a:r>
              <a:rPr lang="en-US" sz="1100" b="1" dirty="0">
                <a:solidFill>
                  <a:srgbClr val="0F9D8F"/>
                </a:solidFill>
                <a:latin typeface="Calibri" pitchFamily="34" charset="0"/>
                <a:ea typeface="Calibri" pitchFamily="34" charset="-122"/>
                <a:cs typeface="Calibri" pitchFamily="34" charset="-120"/>
              </a:rPr>
              <a:t>GET /accounts/9 → B</a:t>
            </a:r>
            <a:endParaRPr lang="en-US" sz="1100" dirty="0"/>
          </a:p>
        </p:txBody>
      </p:sp>
      <p:sp>
        <p:nvSpPr>
          <p:cNvPr id="21" name="Text 18"/>
          <p:cNvSpPr/>
          <p:nvPr/>
        </p:nvSpPr>
        <p:spPr>
          <a:xfrm>
            <a:off x="6583680" y="1143000"/>
            <a:ext cx="5029200" cy="1097280"/>
          </a:xfrm>
          <a:prstGeom prst="rect">
            <a:avLst>
              <a:gd name="adj" fmla="val 6667"/>
            </a:avLst>
          </a:prstGeom>
          <a:solidFill>
            <a:srgbClr val="E0ECFF"/>
          </a:solidFill>
          <a:ln w="15875">
            <a:solidFill>
              <a:srgbClr val="3B82F6"/>
            </a:solidFill>
          </a:ln>
        </p:spPr>
        <p:txBody>
          <a:bodyPr wrap="square" lIns="127000" tIns="127000" rIns="127000" bIns="12700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Stateless = each request-response is independent and self-contained. The server keeps no memory of earlier requests.</a:t>
            </a:r>
            <a:endParaRPr lang="en-US" sz="1400" dirty="0"/>
          </a:p>
        </p:txBody>
      </p:sp>
      <p:sp>
        <p:nvSpPr>
          <p:cNvPr id="22" name="Text 19"/>
          <p:cNvSpPr/>
          <p:nvPr/>
        </p:nvSpPr>
        <p:spPr>
          <a:xfrm>
            <a:off x="6583680" y="2331720"/>
            <a:ext cx="5029200" cy="1097280"/>
          </a:xfrm>
          <a:prstGeom prst="rect">
            <a:avLst>
              <a:gd name="adj" fmla="val 6667"/>
            </a:avLst>
          </a:prstGeom>
          <a:solidFill>
            <a:srgbClr val="DDF4F0"/>
          </a:solidFill>
          <a:ln w="15875">
            <a:solidFill>
              <a:srgbClr val="0F9D8F"/>
            </a:solidFill>
          </a:ln>
        </p:spPr>
        <p:txBody>
          <a:bodyPr wrap="square" lIns="127000" tIns="127000" rIns="127000" bIns="12700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So every request carries what the server needs: token, cookie or parameters.</a:t>
            </a:r>
            <a:endParaRPr lang="en-US" sz="1400" dirty="0"/>
          </a:p>
        </p:txBody>
      </p:sp>
      <p:sp>
        <p:nvSpPr>
          <p:cNvPr id="23" name="Text 20"/>
          <p:cNvSpPr/>
          <p:nvPr/>
        </p:nvSpPr>
        <p:spPr>
          <a:xfrm>
            <a:off x="548640" y="3611880"/>
            <a:ext cx="3611880" cy="411480"/>
          </a:xfrm>
          <a:prstGeom prst="rect">
            <a:avLst>
              <a:gd name="adj" fmla="val 17778"/>
            </a:avLst>
          </a:prstGeom>
          <a:solidFill>
            <a:srgbClr val="3B82F6"/>
          </a:solidFill>
          <a:ln w="15875">
            <a:solidFill>
              <a:srgbClr val="3B82F6"/>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Scalability</a:t>
            </a:r>
            <a:endParaRPr lang="en-US" sz="1400" dirty="0"/>
          </a:p>
        </p:txBody>
      </p:sp>
      <p:sp>
        <p:nvSpPr>
          <p:cNvPr id="24" name="Text 21"/>
          <p:cNvSpPr/>
          <p:nvPr/>
        </p:nvSpPr>
        <p:spPr>
          <a:xfrm>
            <a:off x="548640" y="4023360"/>
            <a:ext cx="3611880" cy="640080"/>
          </a:xfrm>
          <a:prstGeom prst="rect">
            <a:avLst>
              <a:gd name="adj" fmla="val 11429"/>
            </a:avLst>
          </a:prstGeom>
          <a:solidFill>
            <a:srgbClr val="FFFFFF"/>
          </a:solidFill>
          <a:ln w="15875">
            <a:solidFill>
              <a:srgbClr val="FFFFFF"/>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No per-user conversation to hold in memory. Free resources after each request.</a:t>
            </a:r>
            <a:endParaRPr lang="en-US" sz="1200" dirty="0"/>
          </a:p>
        </p:txBody>
      </p:sp>
      <p:sp>
        <p:nvSpPr>
          <p:cNvPr id="25" name="Text 22"/>
          <p:cNvSpPr/>
          <p:nvPr/>
        </p:nvSpPr>
        <p:spPr>
          <a:xfrm>
            <a:off x="4343400" y="3611880"/>
            <a:ext cx="3611880" cy="411480"/>
          </a:xfrm>
          <a:prstGeom prst="rect">
            <a:avLst>
              <a:gd name="adj" fmla="val 17778"/>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Load balancing</a:t>
            </a:r>
            <a:endParaRPr lang="en-US" sz="1400" dirty="0"/>
          </a:p>
        </p:txBody>
      </p:sp>
      <p:sp>
        <p:nvSpPr>
          <p:cNvPr id="26" name="Text 23"/>
          <p:cNvSpPr/>
          <p:nvPr/>
        </p:nvSpPr>
        <p:spPr>
          <a:xfrm>
            <a:off x="4343400" y="4023360"/>
            <a:ext cx="3611880" cy="640080"/>
          </a:xfrm>
          <a:prstGeom prst="rect">
            <a:avLst>
              <a:gd name="adj" fmla="val 11429"/>
            </a:avLst>
          </a:prstGeom>
          <a:solidFill>
            <a:srgbClr val="FFFFFF"/>
          </a:solidFill>
          <a:ln w="15875">
            <a:solidFill>
              <a:srgbClr val="FFFFFF"/>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 and B are interchangeable: any server handles any request.</a:t>
            </a:r>
            <a:endParaRPr lang="en-US" sz="1200" dirty="0"/>
          </a:p>
        </p:txBody>
      </p:sp>
      <p:sp>
        <p:nvSpPr>
          <p:cNvPr id="27" name="Text 24"/>
          <p:cNvSpPr/>
          <p:nvPr/>
        </p:nvSpPr>
        <p:spPr>
          <a:xfrm>
            <a:off x="8138160" y="3611880"/>
            <a:ext cx="3611880" cy="411480"/>
          </a:xfrm>
          <a:prstGeom prst="rect">
            <a:avLst>
              <a:gd name="adj" fmla="val 17778"/>
            </a:avLst>
          </a:prstGeom>
          <a:solidFill>
            <a:srgbClr val="7C5CFC"/>
          </a:solidFill>
          <a:ln w="15875">
            <a:solidFill>
              <a:srgbClr val="7C5CFC"/>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Reliability</a:t>
            </a:r>
            <a:endParaRPr lang="en-US" sz="1400" dirty="0"/>
          </a:p>
        </p:txBody>
      </p:sp>
      <p:sp>
        <p:nvSpPr>
          <p:cNvPr id="28" name="Text 25"/>
          <p:cNvSpPr/>
          <p:nvPr/>
        </p:nvSpPr>
        <p:spPr>
          <a:xfrm>
            <a:off x="8138160" y="4023360"/>
            <a:ext cx="3611880" cy="640080"/>
          </a:xfrm>
          <a:prstGeom prst="rect">
            <a:avLst>
              <a:gd name="adj" fmla="val 11429"/>
            </a:avLst>
          </a:prstGeom>
          <a:solidFill>
            <a:srgbClr val="FFFFFF"/>
          </a:solidFill>
          <a:ln w="15875">
            <a:solidFill>
              <a:srgbClr val="FFFFFF"/>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 dropped connection leaves no half-open conversation hanging.</a:t>
            </a:r>
            <a:endParaRPr lang="en-US" sz="1200" dirty="0"/>
          </a:p>
        </p:txBody>
      </p:sp>
      <p:sp>
        <p:nvSpPr>
          <p:cNvPr id="29" name="Text 26"/>
          <p:cNvSpPr/>
          <p:nvPr/>
        </p:nvSpPr>
        <p:spPr>
          <a:xfrm>
            <a:off x="548640" y="4800600"/>
            <a:ext cx="5440680" cy="548640"/>
          </a:xfrm>
          <a:prstGeom prst="rect">
            <a:avLst>
              <a:gd name="adj" fmla="val 13333"/>
            </a:avLst>
          </a:prstGeom>
          <a:solidFill>
            <a:srgbClr val="FFFFFF"/>
          </a:solidFill>
          <a:ln w="15875">
            <a:solidFill>
              <a:srgbClr val="3B82F6"/>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Protocol (network layer): The channel keeps no session memory. Stateless.</a:t>
            </a:r>
            <a:endParaRPr lang="en-US" sz="1200" dirty="0"/>
          </a:p>
        </p:txBody>
      </p:sp>
      <p:sp>
        <p:nvSpPr>
          <p:cNvPr id="30" name="Text 27"/>
          <p:cNvSpPr/>
          <p:nvPr/>
        </p:nvSpPr>
        <p:spPr>
          <a:xfrm>
            <a:off x="6172200" y="4800600"/>
            <a:ext cx="5440680" cy="548640"/>
          </a:xfrm>
          <a:prstGeom prst="rect">
            <a:avLst>
              <a:gd name="adj" fmla="val 13333"/>
            </a:avLst>
          </a:prstGeom>
          <a:solidFill>
            <a:srgbClr val="FFFFFF"/>
          </a:solidFill>
          <a:ln w="15875">
            <a:solidFill>
              <a:srgbClr val="7C5CFC"/>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Application (database layer): Data changes and persists: profile saved, payment recorded.</a:t>
            </a:r>
            <a:endParaRPr lang="en-US" sz="1200" dirty="0"/>
          </a:p>
        </p:txBody>
      </p:sp>
      <p:sp>
        <p:nvSpPr>
          <p:cNvPr id="31" name="Shape 28"/>
          <p:cNvSpPr/>
          <p:nvPr/>
        </p:nvSpPr>
        <p:spPr>
          <a:xfrm>
            <a:off x="457200" y="5486400"/>
            <a:ext cx="82296" cy="548640"/>
          </a:xfrm>
          <a:prstGeom prst="rect">
            <a:avLst/>
          </a:prstGeom>
          <a:solidFill>
            <a:srgbClr val="0F9D8F"/>
          </a:solidFill>
          <a:ln/>
        </p:spPr>
      </p:sp>
      <p:sp>
        <p:nvSpPr>
          <p:cNvPr id="32" name="Text 29"/>
          <p:cNvSpPr/>
          <p:nvPr/>
        </p:nvSpPr>
        <p:spPr>
          <a:xfrm>
            <a:off x="594360" y="548640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The server updates its database for one self-contained request, then forgets the conversation. Next: how apps add identity back.</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HTTP is stateless, so how do apps remember you?</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30</a:t>
            </a:r>
            <a:endParaRPr lang="en-US" sz="1000" dirty="0"/>
          </a:p>
        </p:txBody>
      </p:sp>
      <p:sp>
        <p:nvSpPr>
          <p:cNvPr id="8" name="Text 5"/>
          <p:cNvSpPr/>
          <p:nvPr/>
        </p:nvSpPr>
        <p:spPr>
          <a:xfrm>
            <a:off x="822960" y="1188720"/>
            <a:ext cx="1645920" cy="502920"/>
          </a:xfrm>
          <a:prstGeom prst="roundRect">
            <a:avLst>
              <a:gd name="adj" fmla="val 14545"/>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Client</a:t>
            </a:r>
            <a:endParaRPr lang="en-US" sz="1400" dirty="0"/>
          </a:p>
        </p:txBody>
      </p:sp>
      <p:sp>
        <p:nvSpPr>
          <p:cNvPr id="9" name="Shape 6"/>
          <p:cNvSpPr/>
          <p:nvPr/>
        </p:nvSpPr>
        <p:spPr>
          <a:xfrm>
            <a:off x="1645920" y="1691640"/>
            <a:ext cx="0" cy="3611880"/>
          </a:xfrm>
          <a:prstGeom prst="line">
            <a:avLst/>
          </a:prstGeom>
          <a:noFill/>
          <a:ln w="19050">
            <a:solidFill>
              <a:srgbClr val="CBD5E1"/>
            </a:solidFill>
            <a:prstDash val="dash"/>
          </a:ln>
        </p:spPr>
      </p:sp>
      <p:sp>
        <p:nvSpPr>
          <p:cNvPr id="10" name="Text 7"/>
          <p:cNvSpPr/>
          <p:nvPr/>
        </p:nvSpPr>
        <p:spPr>
          <a:xfrm>
            <a:off x="4846320" y="1188720"/>
            <a:ext cx="1645920" cy="502920"/>
          </a:xfrm>
          <a:prstGeom prst="roundRect">
            <a:avLst>
              <a:gd name="adj" fmla="val 14545"/>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Server</a:t>
            </a:r>
            <a:endParaRPr lang="en-US" sz="1400" dirty="0"/>
          </a:p>
        </p:txBody>
      </p:sp>
      <p:sp>
        <p:nvSpPr>
          <p:cNvPr id="11" name="Shape 8"/>
          <p:cNvSpPr/>
          <p:nvPr/>
        </p:nvSpPr>
        <p:spPr>
          <a:xfrm>
            <a:off x="5669280" y="1691640"/>
            <a:ext cx="0" cy="3611880"/>
          </a:xfrm>
          <a:prstGeom prst="line">
            <a:avLst/>
          </a:prstGeom>
          <a:noFill/>
          <a:ln w="19050">
            <a:solidFill>
              <a:srgbClr val="CBD5E1"/>
            </a:solidFill>
            <a:prstDash val="dash"/>
          </a:ln>
        </p:spPr>
      </p:sp>
      <p:sp>
        <p:nvSpPr>
          <p:cNvPr id="12" name="Shape 9"/>
          <p:cNvSpPr/>
          <p:nvPr/>
        </p:nvSpPr>
        <p:spPr>
          <a:xfrm>
            <a:off x="1645920" y="2468880"/>
            <a:ext cx="4023360" cy="0"/>
          </a:xfrm>
          <a:prstGeom prst="line">
            <a:avLst/>
          </a:prstGeom>
          <a:noFill/>
          <a:ln w="25400">
            <a:solidFill>
              <a:srgbClr val="0F9D8F"/>
            </a:solidFill>
            <a:prstDash val="solid"/>
            <a:tailEnd type="triangle"/>
          </a:ln>
        </p:spPr>
      </p:sp>
      <p:sp>
        <p:nvSpPr>
          <p:cNvPr id="13" name="Text 10"/>
          <p:cNvSpPr/>
          <p:nvPr/>
        </p:nvSpPr>
        <p:spPr>
          <a:xfrm>
            <a:off x="1737360" y="2139696"/>
            <a:ext cx="3840480" cy="292608"/>
          </a:xfrm>
          <a:prstGeom prst="rect">
            <a:avLst/>
          </a:prstGeom>
          <a:noFill/>
          <a:ln/>
        </p:spPr>
        <p:txBody>
          <a:bodyPr wrap="square" lIns="508" tIns="508" rIns="508" bIns="508" rtlCol="0" anchor="ctr"/>
          <a:lstStyle/>
          <a:p>
            <a:pPr algn="ctr" indent="0" marL="0">
              <a:buNone/>
            </a:pPr>
            <a:r>
              <a:rPr lang="en-US" sz="1300" b="1" dirty="0">
                <a:solidFill>
                  <a:srgbClr val="0F9D8F"/>
                </a:solidFill>
                <a:latin typeface="Calibri" pitchFamily="34" charset="0"/>
                <a:ea typeface="Calibri" pitchFamily="34" charset="-122"/>
                <a:cs typeface="Calibri" pitchFamily="34" charset="-120"/>
              </a:rPr>
              <a:t>POST /login (user, password)</a:t>
            </a:r>
            <a:endParaRPr lang="en-US" sz="1300" dirty="0"/>
          </a:p>
        </p:txBody>
      </p:sp>
      <p:sp>
        <p:nvSpPr>
          <p:cNvPr id="14" name="Shape 11"/>
          <p:cNvSpPr/>
          <p:nvPr/>
        </p:nvSpPr>
        <p:spPr>
          <a:xfrm flipH="1">
            <a:off x="1645920" y="3200400"/>
            <a:ext cx="4023360" cy="0"/>
          </a:xfrm>
          <a:prstGeom prst="line">
            <a:avLst/>
          </a:prstGeom>
          <a:noFill/>
          <a:ln w="25400">
            <a:solidFill>
              <a:srgbClr val="E5484D"/>
            </a:solidFill>
            <a:prstDash val="solid"/>
            <a:tailEnd type="triangle"/>
          </a:ln>
        </p:spPr>
      </p:sp>
      <p:sp>
        <p:nvSpPr>
          <p:cNvPr id="15" name="Text 12"/>
          <p:cNvSpPr/>
          <p:nvPr/>
        </p:nvSpPr>
        <p:spPr>
          <a:xfrm>
            <a:off x="1737360" y="2871216"/>
            <a:ext cx="3840480" cy="292608"/>
          </a:xfrm>
          <a:prstGeom prst="rect">
            <a:avLst/>
          </a:prstGeom>
          <a:noFill/>
          <a:ln/>
        </p:spPr>
        <p:txBody>
          <a:bodyPr wrap="square" lIns="508" tIns="508" rIns="508" bIns="508" rtlCol="0" anchor="ctr"/>
          <a:lstStyle/>
          <a:p>
            <a:pPr algn="ctr" indent="0" marL="0">
              <a:buNone/>
            </a:pPr>
            <a:r>
              <a:rPr lang="en-US" sz="1300" b="1" dirty="0">
                <a:solidFill>
                  <a:srgbClr val="E5484D"/>
                </a:solidFill>
                <a:latin typeface="Calibri" pitchFamily="34" charset="0"/>
                <a:ea typeface="Calibri" pitchFamily="34" charset="-122"/>
                <a:cs typeface="Calibri" pitchFamily="34" charset="-120"/>
              </a:rPr>
              <a:t>200 OK + token: abc123</a:t>
            </a:r>
            <a:endParaRPr lang="en-US" sz="1300" dirty="0"/>
          </a:p>
        </p:txBody>
      </p:sp>
      <p:sp>
        <p:nvSpPr>
          <p:cNvPr id="16" name="Shape 13"/>
          <p:cNvSpPr/>
          <p:nvPr/>
        </p:nvSpPr>
        <p:spPr>
          <a:xfrm>
            <a:off x="1645920" y="4023360"/>
            <a:ext cx="4023360" cy="0"/>
          </a:xfrm>
          <a:prstGeom prst="line">
            <a:avLst/>
          </a:prstGeom>
          <a:noFill/>
          <a:ln w="25400">
            <a:solidFill>
              <a:srgbClr val="7C5CFC"/>
            </a:solidFill>
            <a:prstDash val="solid"/>
            <a:tailEnd type="triangle"/>
          </a:ln>
        </p:spPr>
      </p:sp>
      <p:sp>
        <p:nvSpPr>
          <p:cNvPr id="17" name="Text 14"/>
          <p:cNvSpPr/>
          <p:nvPr/>
        </p:nvSpPr>
        <p:spPr>
          <a:xfrm>
            <a:off x="1737360" y="3694176"/>
            <a:ext cx="3840480" cy="292608"/>
          </a:xfrm>
          <a:prstGeom prst="rect">
            <a:avLst/>
          </a:prstGeom>
          <a:noFill/>
          <a:ln/>
        </p:spPr>
        <p:txBody>
          <a:bodyPr wrap="square" lIns="508" tIns="508" rIns="508" bIns="508" rtlCol="0" anchor="ctr"/>
          <a:lstStyle/>
          <a:p>
            <a:pPr algn="ctr" indent="0" marL="0">
              <a:buNone/>
            </a:pPr>
            <a:r>
              <a:rPr lang="en-US" sz="1300" b="1" dirty="0">
                <a:solidFill>
                  <a:srgbClr val="7C5CFC"/>
                </a:solidFill>
                <a:latin typeface="Calibri" pitchFamily="34" charset="0"/>
                <a:ea typeface="Calibri" pitchFamily="34" charset="-122"/>
                <a:cs typeface="Calibri" pitchFamily="34" charset="-120"/>
              </a:rPr>
              <a:t>GET /orders  Authorization: Bearer abc123</a:t>
            </a:r>
            <a:endParaRPr lang="en-US" sz="1300" dirty="0"/>
          </a:p>
        </p:txBody>
      </p:sp>
      <p:sp>
        <p:nvSpPr>
          <p:cNvPr id="18" name="Shape 15"/>
          <p:cNvSpPr/>
          <p:nvPr/>
        </p:nvSpPr>
        <p:spPr>
          <a:xfrm flipH="1">
            <a:off x="1645920" y="4754880"/>
            <a:ext cx="4023360" cy="0"/>
          </a:xfrm>
          <a:prstGeom prst="line">
            <a:avLst/>
          </a:prstGeom>
          <a:noFill/>
          <a:ln w="25400">
            <a:solidFill>
              <a:srgbClr val="E5484D"/>
            </a:solidFill>
            <a:prstDash val="solid"/>
            <a:tailEnd type="triangle"/>
          </a:ln>
        </p:spPr>
      </p:sp>
      <p:sp>
        <p:nvSpPr>
          <p:cNvPr id="19" name="Text 16"/>
          <p:cNvSpPr/>
          <p:nvPr/>
        </p:nvSpPr>
        <p:spPr>
          <a:xfrm>
            <a:off x="1737360" y="4425696"/>
            <a:ext cx="3840480" cy="292608"/>
          </a:xfrm>
          <a:prstGeom prst="rect">
            <a:avLst/>
          </a:prstGeom>
          <a:noFill/>
          <a:ln/>
        </p:spPr>
        <p:txBody>
          <a:bodyPr wrap="square" lIns="508" tIns="508" rIns="508" bIns="508" rtlCol="0" anchor="ctr"/>
          <a:lstStyle/>
          <a:p>
            <a:pPr algn="ctr" indent="0" marL="0">
              <a:buNone/>
            </a:pPr>
            <a:r>
              <a:rPr lang="en-US" sz="1300" b="1" dirty="0">
                <a:solidFill>
                  <a:srgbClr val="E5484D"/>
                </a:solidFill>
                <a:latin typeface="Calibri" pitchFamily="34" charset="0"/>
                <a:ea typeface="Calibri" pitchFamily="34" charset="-122"/>
                <a:cs typeface="Calibri" pitchFamily="34" charset="-120"/>
              </a:rPr>
              <a:t>200 OK + orders</a:t>
            </a:r>
            <a:endParaRPr lang="en-US" sz="1300" dirty="0"/>
          </a:p>
        </p:txBody>
      </p:sp>
      <p:sp>
        <p:nvSpPr>
          <p:cNvPr id="20" name="Text 17"/>
          <p:cNvSpPr/>
          <p:nvPr/>
        </p:nvSpPr>
        <p:spPr>
          <a:xfrm>
            <a:off x="7772400" y="1280160"/>
            <a:ext cx="4023360" cy="457200"/>
          </a:xfrm>
          <a:prstGeom prst="rect">
            <a:avLst/>
          </a:prstGeom>
          <a:noFill/>
          <a:ln/>
        </p:spPr>
        <p:txBody>
          <a:bodyPr wrap="square" lIns="508" tIns="508" rIns="508" bIns="508"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Ways to carry identity</a:t>
            </a:r>
            <a:endParaRPr lang="en-US" sz="1800" dirty="0"/>
          </a:p>
        </p:txBody>
      </p:sp>
      <p:sp>
        <p:nvSpPr>
          <p:cNvPr id="21" name="Text 18"/>
          <p:cNvSpPr/>
          <p:nvPr/>
        </p:nvSpPr>
        <p:spPr>
          <a:xfrm>
            <a:off x="7772400" y="1783080"/>
            <a:ext cx="3931920" cy="2194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Cookie / session ID</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Bearer token (JWT, OAuth)</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API key header (x-api-key)</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Basic auth (user:pass)</a:t>
            </a:r>
            <a:endParaRPr lang="en-US" sz="1600" dirty="0"/>
          </a:p>
        </p:txBody>
      </p:sp>
      <p:sp>
        <p:nvSpPr>
          <p:cNvPr id="22" name="Shape 19"/>
          <p:cNvSpPr/>
          <p:nvPr/>
        </p:nvSpPr>
        <p:spPr>
          <a:xfrm>
            <a:off x="457200" y="5669280"/>
            <a:ext cx="82296" cy="548640"/>
          </a:xfrm>
          <a:prstGeom prst="rect">
            <a:avLst/>
          </a:prstGeom>
          <a:solidFill>
            <a:srgbClr val="E5484D"/>
          </a:solidFill>
          <a:ln/>
        </p:spPr>
      </p:sp>
      <p:sp>
        <p:nvSpPr>
          <p:cNvPr id="23" name="Text 20"/>
          <p:cNvSpPr/>
          <p:nvPr/>
        </p:nvSpPr>
        <p:spPr>
          <a:xfrm>
            <a:off x="594360" y="5669280"/>
            <a:ext cx="11064240" cy="548640"/>
          </a:xfrm>
          <a:prstGeom prst="rect">
            <a:avLst/>
          </a:prstGeom>
          <a:solidFill>
            <a:srgbClr val="FDE4E4"/>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Security test checklist: no token (401), bad token (401), valid but not allowed (403), expired token.</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Authentication vs authorization: who, then what</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31</a:t>
            </a:r>
            <a:endParaRPr lang="en-US" sz="1000" dirty="0"/>
          </a:p>
        </p:txBody>
      </p:sp>
      <p:sp>
        <p:nvSpPr>
          <p:cNvPr id="8" name="Text 5"/>
          <p:cNvSpPr/>
          <p:nvPr/>
        </p:nvSpPr>
        <p:spPr>
          <a:xfrm>
            <a:off x="548640" y="1143000"/>
            <a:ext cx="5440680" cy="594360"/>
          </a:xfrm>
          <a:prstGeom prst="rect">
            <a:avLst>
              <a:gd name="adj" fmla="val 12308"/>
            </a:avLst>
          </a:prstGeom>
          <a:solidFill>
            <a:srgbClr val="3B82F6"/>
          </a:solidFill>
          <a:ln w="15875">
            <a:solidFill>
              <a:srgbClr val="3B82F6"/>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Authentication: Who are you?   →   401 Unauthorized</a:t>
            </a:r>
            <a:endParaRPr lang="en-US" sz="1600" dirty="0"/>
          </a:p>
        </p:txBody>
      </p:sp>
      <p:sp>
        <p:nvSpPr>
          <p:cNvPr id="9" name="Text 6"/>
          <p:cNvSpPr/>
          <p:nvPr/>
        </p:nvSpPr>
        <p:spPr>
          <a:xfrm>
            <a:off x="6172200" y="1143000"/>
            <a:ext cx="5440680" cy="594360"/>
          </a:xfrm>
          <a:prstGeom prst="rect">
            <a:avLst>
              <a:gd name="adj" fmla="val 12308"/>
            </a:avLst>
          </a:prstGeom>
          <a:solidFill>
            <a:srgbClr val="E5484D"/>
          </a:solidFill>
          <a:ln w="15875">
            <a:solidFill>
              <a:srgbClr val="E5484D"/>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Authorization: What may you do?   →   403 Forbidden</a:t>
            </a:r>
            <a:endParaRPr lang="en-US" sz="1600" dirty="0"/>
          </a:p>
        </p:txBody>
      </p:sp>
      <p:sp>
        <p:nvSpPr>
          <p:cNvPr id="10" name="Text 7"/>
          <p:cNvSpPr/>
          <p:nvPr/>
        </p:nvSpPr>
        <p:spPr>
          <a:xfrm>
            <a:off x="548640" y="1920240"/>
            <a:ext cx="2697480" cy="502920"/>
          </a:xfrm>
          <a:prstGeom prst="rect">
            <a:avLst>
              <a:gd name="adj" fmla="val 14545"/>
            </a:avLst>
          </a:prstGeom>
          <a:solidFill>
            <a:srgbClr val="64748B"/>
          </a:solidFill>
          <a:ln w="15875">
            <a:solidFill>
              <a:srgbClr val="64748B"/>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Basic auth</a:t>
            </a:r>
            <a:endParaRPr lang="en-US" sz="1500" dirty="0"/>
          </a:p>
        </p:txBody>
      </p:sp>
      <p:sp>
        <p:nvSpPr>
          <p:cNvPr id="11" name="Text 8"/>
          <p:cNvSpPr/>
          <p:nvPr/>
        </p:nvSpPr>
        <p:spPr>
          <a:xfrm>
            <a:off x="548640" y="2423160"/>
            <a:ext cx="2697480" cy="1188720"/>
          </a:xfrm>
          <a:prstGeom prst="rect">
            <a:avLst>
              <a:gd name="adj" fmla="val 6154"/>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Base64 of user:password on every call</a:t>
            </a:r>
            <a:endParaRPr lang="en-US" sz="1200" dirty="0"/>
          </a:p>
        </p:txBody>
      </p:sp>
      <p:sp>
        <p:nvSpPr>
          <p:cNvPr id="12" name="Text 9"/>
          <p:cNvSpPr/>
          <p:nvPr/>
        </p:nvSpPr>
        <p:spPr>
          <a:xfrm>
            <a:off x="548640" y="3703320"/>
            <a:ext cx="2697480" cy="457200"/>
          </a:xfrm>
          <a:prstGeom prst="roundRect">
            <a:avLst>
              <a:gd name="adj" fmla="val 12000"/>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Authorization: Basic YWxpY2U6cGFzcw==</a:t>
            </a:r>
            <a:endParaRPr lang="en-US" sz="1000" dirty="0"/>
          </a:p>
        </p:txBody>
      </p:sp>
      <p:sp>
        <p:nvSpPr>
          <p:cNvPr id="13" name="Text 10"/>
          <p:cNvSpPr/>
          <p:nvPr/>
        </p:nvSpPr>
        <p:spPr>
          <a:xfrm>
            <a:off x="548640" y="4251960"/>
            <a:ext cx="2697480" cy="685800"/>
          </a:xfrm>
          <a:prstGeom prst="rect">
            <a:avLst/>
          </a:prstGeom>
          <a:noFill/>
          <a:ln/>
        </p:spPr>
        <p:txBody>
          <a:bodyPr wrap="square" lIns="508" tIns="508" rIns="508" bIns="508"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HTTPS only. Simple but weak.</a:t>
            </a:r>
            <a:endParaRPr lang="en-US" sz="1200" dirty="0"/>
          </a:p>
        </p:txBody>
      </p:sp>
      <p:sp>
        <p:nvSpPr>
          <p:cNvPr id="14" name="Text 11"/>
          <p:cNvSpPr/>
          <p:nvPr/>
        </p:nvSpPr>
        <p:spPr>
          <a:xfrm>
            <a:off x="3337560" y="1920240"/>
            <a:ext cx="2697480" cy="502920"/>
          </a:xfrm>
          <a:prstGeom prst="rect">
            <a:avLst>
              <a:gd name="adj" fmla="val 14545"/>
            </a:avLst>
          </a:prstGeom>
          <a:solidFill>
            <a:srgbClr val="3B82F6"/>
          </a:solidFill>
          <a:ln w="15875">
            <a:solidFill>
              <a:srgbClr val="3B82F6"/>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API key</a:t>
            </a:r>
            <a:endParaRPr lang="en-US" sz="1500" dirty="0"/>
          </a:p>
        </p:txBody>
      </p:sp>
      <p:sp>
        <p:nvSpPr>
          <p:cNvPr id="15" name="Text 12"/>
          <p:cNvSpPr/>
          <p:nvPr/>
        </p:nvSpPr>
        <p:spPr>
          <a:xfrm>
            <a:off x="3337560" y="2423160"/>
            <a:ext cx="2697480" cy="1188720"/>
          </a:xfrm>
          <a:prstGeom prst="rect">
            <a:avLst>
              <a:gd name="adj" fmla="val 6154"/>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Secret string that identifies the calling app</a:t>
            </a:r>
            <a:endParaRPr lang="en-US" sz="1200" dirty="0"/>
          </a:p>
        </p:txBody>
      </p:sp>
      <p:sp>
        <p:nvSpPr>
          <p:cNvPr id="16" name="Text 13"/>
          <p:cNvSpPr/>
          <p:nvPr/>
        </p:nvSpPr>
        <p:spPr>
          <a:xfrm>
            <a:off x="3337560" y="3703320"/>
            <a:ext cx="2697480" cy="457200"/>
          </a:xfrm>
          <a:prstGeom prst="roundRect">
            <a:avLst>
              <a:gd name="adj" fmla="val 12000"/>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x-api-key: 7f3a9c1e...</a:t>
            </a:r>
            <a:endParaRPr lang="en-US" sz="1000" dirty="0"/>
          </a:p>
        </p:txBody>
      </p:sp>
      <p:sp>
        <p:nvSpPr>
          <p:cNvPr id="17" name="Text 14"/>
          <p:cNvSpPr/>
          <p:nvPr/>
        </p:nvSpPr>
        <p:spPr>
          <a:xfrm>
            <a:off x="3337560" y="4251960"/>
            <a:ext cx="2697480" cy="685800"/>
          </a:xfrm>
          <a:prstGeom prst="rect">
            <a:avLst/>
          </a:prstGeom>
          <a:noFill/>
          <a:ln/>
        </p:spPr>
        <p:txBody>
          <a:bodyPr wrap="square" lIns="508" tIns="508" rIns="508" bIns="508"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Identifies the app, not the user.</a:t>
            </a:r>
            <a:endParaRPr lang="en-US" sz="1200" dirty="0"/>
          </a:p>
        </p:txBody>
      </p:sp>
      <p:sp>
        <p:nvSpPr>
          <p:cNvPr id="18" name="Text 15"/>
          <p:cNvSpPr/>
          <p:nvPr/>
        </p:nvSpPr>
        <p:spPr>
          <a:xfrm>
            <a:off x="6126480" y="1920240"/>
            <a:ext cx="2697480" cy="502920"/>
          </a:xfrm>
          <a:prstGeom prst="rect">
            <a:avLst>
              <a:gd name="adj" fmla="val 14545"/>
            </a:avLst>
          </a:prstGeom>
          <a:solidFill>
            <a:srgbClr val="0F9D8F"/>
          </a:solidFill>
          <a:ln w="15875">
            <a:solidFill>
              <a:srgbClr val="0F9D8F"/>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Bearer token (JWT)</a:t>
            </a:r>
            <a:endParaRPr lang="en-US" sz="1500" dirty="0"/>
          </a:p>
        </p:txBody>
      </p:sp>
      <p:sp>
        <p:nvSpPr>
          <p:cNvPr id="19" name="Text 16"/>
          <p:cNvSpPr/>
          <p:nvPr/>
        </p:nvSpPr>
        <p:spPr>
          <a:xfrm>
            <a:off x="6126480" y="2423160"/>
            <a:ext cx="2697480" cy="1188720"/>
          </a:xfrm>
          <a:prstGeom prst="rect">
            <a:avLst>
              <a:gd name="adj" fmla="val 6154"/>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Signed token: header.payload.signature. Server keeps no session</a:t>
            </a:r>
            <a:endParaRPr lang="en-US" sz="1200" dirty="0"/>
          </a:p>
        </p:txBody>
      </p:sp>
      <p:sp>
        <p:nvSpPr>
          <p:cNvPr id="20" name="Text 17"/>
          <p:cNvSpPr/>
          <p:nvPr/>
        </p:nvSpPr>
        <p:spPr>
          <a:xfrm>
            <a:off x="6126480" y="3703320"/>
            <a:ext cx="2697480" cy="457200"/>
          </a:xfrm>
          <a:prstGeom prst="roundRect">
            <a:avLst>
              <a:gd name="adj" fmla="val 12000"/>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Authorization: Bearer eyJhbGciOi...</a:t>
            </a:r>
            <a:endParaRPr lang="en-US" sz="1000" dirty="0"/>
          </a:p>
        </p:txBody>
      </p:sp>
      <p:sp>
        <p:nvSpPr>
          <p:cNvPr id="21" name="Text 18"/>
          <p:cNvSpPr/>
          <p:nvPr/>
        </p:nvSpPr>
        <p:spPr>
          <a:xfrm>
            <a:off x="6126480" y="4251960"/>
            <a:ext cx="2697480" cy="685800"/>
          </a:xfrm>
          <a:prstGeom prst="rect">
            <a:avLst/>
          </a:prstGeom>
          <a:noFill/>
          <a:ln/>
        </p:spPr>
        <p:txBody>
          <a:bodyPr wrap="square" lIns="508" tIns="508" rIns="508" bIns="508"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Readable (encoded, not encrypted). Has an expiry.</a:t>
            </a:r>
            <a:endParaRPr lang="en-US" sz="1200" dirty="0"/>
          </a:p>
        </p:txBody>
      </p:sp>
      <p:sp>
        <p:nvSpPr>
          <p:cNvPr id="22" name="Text 19"/>
          <p:cNvSpPr/>
          <p:nvPr/>
        </p:nvSpPr>
        <p:spPr>
          <a:xfrm>
            <a:off x="8915400" y="1920240"/>
            <a:ext cx="2697480" cy="502920"/>
          </a:xfrm>
          <a:prstGeom prst="rect">
            <a:avLst>
              <a:gd name="adj" fmla="val 14545"/>
            </a:avLst>
          </a:prstGeom>
          <a:solidFill>
            <a:srgbClr val="7C5CFC"/>
          </a:solidFill>
          <a:ln w="15875">
            <a:solidFill>
              <a:srgbClr val="7C5CFC"/>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OAuth 2.0</a:t>
            </a:r>
            <a:endParaRPr lang="en-US" sz="1500" dirty="0"/>
          </a:p>
        </p:txBody>
      </p:sp>
      <p:sp>
        <p:nvSpPr>
          <p:cNvPr id="23" name="Text 20"/>
          <p:cNvSpPr/>
          <p:nvPr/>
        </p:nvSpPr>
        <p:spPr>
          <a:xfrm>
            <a:off x="8915400" y="2423160"/>
            <a:ext cx="2697480" cy="1188720"/>
          </a:xfrm>
          <a:prstGeom prst="rect">
            <a:avLst>
              <a:gd name="adj" fmla="val 6154"/>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Delegated access, e.g. "Sign in with Google". Access + refresh tokens, scopes</a:t>
            </a:r>
            <a:endParaRPr lang="en-US" sz="1200" dirty="0"/>
          </a:p>
        </p:txBody>
      </p:sp>
      <p:sp>
        <p:nvSpPr>
          <p:cNvPr id="24" name="Text 21"/>
          <p:cNvSpPr/>
          <p:nvPr/>
        </p:nvSpPr>
        <p:spPr>
          <a:xfrm>
            <a:off x="8915400" y="3703320"/>
            <a:ext cx="2697480" cy="457200"/>
          </a:xfrm>
          <a:prstGeom prst="roundRect">
            <a:avLst>
              <a:gd name="adj" fmla="val 12000"/>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POST /oauth/token  →  access_token</a:t>
            </a:r>
            <a:endParaRPr lang="en-US" sz="1000" dirty="0"/>
          </a:p>
        </p:txBody>
      </p:sp>
      <p:sp>
        <p:nvSpPr>
          <p:cNvPr id="25" name="Text 22"/>
          <p:cNvSpPr/>
          <p:nvPr/>
        </p:nvSpPr>
        <p:spPr>
          <a:xfrm>
            <a:off x="8915400" y="4251960"/>
            <a:ext cx="2697480" cy="685800"/>
          </a:xfrm>
          <a:prstGeom prst="rect">
            <a:avLst/>
          </a:prstGeom>
          <a:noFill/>
          <a:ln/>
        </p:spPr>
        <p:txBody>
          <a:bodyPr wrap="square" lIns="508" tIns="508" rIns="508" bIns="508"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A way to get tokens, not a token format.</a:t>
            </a:r>
            <a:endParaRPr lang="en-US" sz="1200" dirty="0"/>
          </a:p>
        </p:txBody>
      </p:sp>
      <p:sp>
        <p:nvSpPr>
          <p:cNvPr id="26" name="Shape 23"/>
          <p:cNvSpPr/>
          <p:nvPr/>
        </p:nvSpPr>
        <p:spPr>
          <a:xfrm>
            <a:off x="457200" y="5349240"/>
            <a:ext cx="82296" cy="548640"/>
          </a:xfrm>
          <a:prstGeom prst="rect">
            <a:avLst/>
          </a:prstGeom>
          <a:solidFill>
            <a:srgbClr val="E5484D"/>
          </a:solidFill>
          <a:ln/>
        </p:spPr>
      </p:sp>
      <p:sp>
        <p:nvSpPr>
          <p:cNvPr id="27" name="Text 24"/>
          <p:cNvSpPr/>
          <p:nvPr/>
        </p:nvSpPr>
        <p:spPr>
          <a:xfrm>
            <a:off x="594360" y="5349240"/>
            <a:ext cx="11064240" cy="548640"/>
          </a:xfrm>
          <a:prstGeom prst="rect">
            <a:avLst/>
          </a:prstGeom>
          <a:solidFill>
            <a:srgbClr val="FDE4E4"/>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Test list: no token (401) · expired token (401) · tampered token (401) · valid token, wrong role or scope (403) · another user's data (403/404).</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HTTP evolves: 0.9 to 3</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32</a:t>
            </a:r>
            <a:endParaRPr lang="en-US" sz="1000" dirty="0"/>
          </a:p>
        </p:txBody>
      </p:sp>
      <p:sp>
        <p:nvSpPr>
          <p:cNvPr id="8" name="Shape 5"/>
          <p:cNvSpPr/>
          <p:nvPr/>
        </p:nvSpPr>
        <p:spPr>
          <a:xfrm>
            <a:off x="640080" y="2743200"/>
            <a:ext cx="10881360" cy="0"/>
          </a:xfrm>
          <a:prstGeom prst="line">
            <a:avLst/>
          </a:prstGeom>
          <a:noFill/>
          <a:ln w="50800">
            <a:solidFill>
              <a:srgbClr val="0B1F3A"/>
            </a:solidFill>
            <a:prstDash val="solid"/>
          </a:ln>
        </p:spPr>
      </p:sp>
      <p:sp>
        <p:nvSpPr>
          <p:cNvPr id="9" name="Shape 6"/>
          <p:cNvSpPr/>
          <p:nvPr/>
        </p:nvSpPr>
        <p:spPr>
          <a:xfrm>
            <a:off x="1417320" y="2560320"/>
            <a:ext cx="365760" cy="365760"/>
          </a:xfrm>
          <a:prstGeom prst="ellipse">
            <a:avLst/>
          </a:prstGeom>
          <a:solidFill>
            <a:srgbClr val="CBD5E1"/>
          </a:solidFill>
          <a:ln w="25400">
            <a:solidFill>
              <a:srgbClr val="FFFFFF"/>
            </a:solidFill>
            <a:prstDash val="solid"/>
          </a:ln>
        </p:spPr>
      </p:sp>
      <p:sp>
        <p:nvSpPr>
          <p:cNvPr id="10" name="Text 7"/>
          <p:cNvSpPr/>
          <p:nvPr/>
        </p:nvSpPr>
        <p:spPr>
          <a:xfrm>
            <a:off x="731520" y="1554480"/>
            <a:ext cx="1737360" cy="640080"/>
          </a:xfrm>
          <a:prstGeom prst="rect">
            <a:avLst>
              <a:gd name="adj" fmla="val 11429"/>
            </a:avLst>
          </a:prstGeom>
          <a:solidFill>
            <a:srgbClr val="CBD5E1"/>
          </a:solidFill>
          <a:ln w="15875">
            <a:solidFill>
              <a:srgbClr val="CBD5E1"/>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HTTP/0.9</a:t>
            </a:r>
            <a:endParaRPr lang="en-US" sz="2000" dirty="0"/>
          </a:p>
        </p:txBody>
      </p:sp>
      <p:sp>
        <p:nvSpPr>
          <p:cNvPr id="11" name="Text 8"/>
          <p:cNvSpPr/>
          <p:nvPr/>
        </p:nvSpPr>
        <p:spPr>
          <a:xfrm>
            <a:off x="731520" y="3017520"/>
            <a:ext cx="1737360" cy="365760"/>
          </a:xfrm>
          <a:prstGeom prst="rect">
            <a:avLst/>
          </a:prstGeom>
          <a:noFill/>
          <a:ln/>
        </p:spPr>
        <p:txBody>
          <a:bodyPr wrap="square" lIns="508" tIns="508" rIns="508" bIns="508"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1991</a:t>
            </a:r>
            <a:endParaRPr lang="en-US" sz="1600" dirty="0"/>
          </a:p>
        </p:txBody>
      </p:sp>
      <p:sp>
        <p:nvSpPr>
          <p:cNvPr id="12" name="Text 9"/>
          <p:cNvSpPr/>
          <p:nvPr/>
        </p:nvSpPr>
        <p:spPr>
          <a:xfrm>
            <a:off x="731520" y="3474720"/>
            <a:ext cx="17373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GET only</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HTML only</a:t>
            </a:r>
            <a:endParaRPr lang="en-US" sz="1300" dirty="0"/>
          </a:p>
        </p:txBody>
      </p:sp>
      <p:sp>
        <p:nvSpPr>
          <p:cNvPr id="13" name="Shape 10"/>
          <p:cNvSpPr/>
          <p:nvPr/>
        </p:nvSpPr>
        <p:spPr>
          <a:xfrm>
            <a:off x="3657600" y="2560320"/>
            <a:ext cx="365760" cy="365760"/>
          </a:xfrm>
          <a:prstGeom prst="ellipse">
            <a:avLst/>
          </a:prstGeom>
          <a:solidFill>
            <a:srgbClr val="3B82F6"/>
          </a:solidFill>
          <a:ln w="25400">
            <a:solidFill>
              <a:srgbClr val="FFFFFF"/>
            </a:solidFill>
            <a:prstDash val="solid"/>
          </a:ln>
        </p:spPr>
      </p:sp>
      <p:sp>
        <p:nvSpPr>
          <p:cNvPr id="14" name="Text 11"/>
          <p:cNvSpPr/>
          <p:nvPr/>
        </p:nvSpPr>
        <p:spPr>
          <a:xfrm>
            <a:off x="2971800" y="1554480"/>
            <a:ext cx="1737360" cy="640080"/>
          </a:xfrm>
          <a:prstGeom prst="rect">
            <a:avLst>
              <a:gd name="adj" fmla="val 11429"/>
            </a:avLst>
          </a:prstGeom>
          <a:solidFill>
            <a:srgbClr val="3B82F6"/>
          </a:solidFill>
          <a:ln w="15875">
            <a:solidFill>
              <a:srgbClr val="3B82F6"/>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HTTP/1.0</a:t>
            </a:r>
            <a:endParaRPr lang="en-US" sz="2000" dirty="0"/>
          </a:p>
        </p:txBody>
      </p:sp>
      <p:sp>
        <p:nvSpPr>
          <p:cNvPr id="15" name="Text 12"/>
          <p:cNvSpPr/>
          <p:nvPr/>
        </p:nvSpPr>
        <p:spPr>
          <a:xfrm>
            <a:off x="2971800" y="3017520"/>
            <a:ext cx="1737360" cy="365760"/>
          </a:xfrm>
          <a:prstGeom prst="rect">
            <a:avLst/>
          </a:prstGeom>
          <a:noFill/>
          <a:ln/>
        </p:spPr>
        <p:txBody>
          <a:bodyPr wrap="square" lIns="508" tIns="508" rIns="508" bIns="508"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1996</a:t>
            </a:r>
            <a:endParaRPr lang="en-US" sz="1600" dirty="0"/>
          </a:p>
        </p:txBody>
      </p:sp>
      <p:sp>
        <p:nvSpPr>
          <p:cNvPr id="16" name="Text 13"/>
          <p:cNvSpPr/>
          <p:nvPr/>
        </p:nvSpPr>
        <p:spPr>
          <a:xfrm>
            <a:off x="2971800" y="3474720"/>
            <a:ext cx="17373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Headers</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Status codes</a:t>
            </a:r>
            <a:endParaRPr lang="en-US" sz="1300" dirty="0"/>
          </a:p>
        </p:txBody>
      </p:sp>
      <p:sp>
        <p:nvSpPr>
          <p:cNvPr id="17" name="Shape 14"/>
          <p:cNvSpPr/>
          <p:nvPr/>
        </p:nvSpPr>
        <p:spPr>
          <a:xfrm>
            <a:off x="5897880" y="2560320"/>
            <a:ext cx="365760" cy="365760"/>
          </a:xfrm>
          <a:prstGeom prst="ellipse">
            <a:avLst/>
          </a:prstGeom>
          <a:solidFill>
            <a:srgbClr val="0F9D8F"/>
          </a:solidFill>
          <a:ln w="25400">
            <a:solidFill>
              <a:srgbClr val="FFFFFF"/>
            </a:solidFill>
            <a:prstDash val="solid"/>
          </a:ln>
        </p:spPr>
      </p:sp>
      <p:sp>
        <p:nvSpPr>
          <p:cNvPr id="18" name="Text 15"/>
          <p:cNvSpPr/>
          <p:nvPr/>
        </p:nvSpPr>
        <p:spPr>
          <a:xfrm>
            <a:off x="5212080" y="1554480"/>
            <a:ext cx="1737360" cy="640080"/>
          </a:xfrm>
          <a:prstGeom prst="rect">
            <a:avLst>
              <a:gd name="adj" fmla="val 11429"/>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HTTP/1.1</a:t>
            </a:r>
            <a:endParaRPr lang="en-US" sz="2000" dirty="0"/>
          </a:p>
        </p:txBody>
      </p:sp>
      <p:sp>
        <p:nvSpPr>
          <p:cNvPr id="19" name="Text 16"/>
          <p:cNvSpPr/>
          <p:nvPr/>
        </p:nvSpPr>
        <p:spPr>
          <a:xfrm>
            <a:off x="5212080" y="3017520"/>
            <a:ext cx="1737360" cy="365760"/>
          </a:xfrm>
          <a:prstGeom prst="rect">
            <a:avLst/>
          </a:prstGeom>
          <a:noFill/>
          <a:ln/>
        </p:spPr>
        <p:txBody>
          <a:bodyPr wrap="square" lIns="508" tIns="508" rIns="508" bIns="508"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1997</a:t>
            </a:r>
            <a:endParaRPr lang="en-US" sz="1600" dirty="0"/>
          </a:p>
        </p:txBody>
      </p:sp>
      <p:sp>
        <p:nvSpPr>
          <p:cNvPr id="20" name="Text 17"/>
          <p:cNvSpPr/>
          <p:nvPr/>
        </p:nvSpPr>
        <p:spPr>
          <a:xfrm>
            <a:off x="5212080" y="3474720"/>
            <a:ext cx="17373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Keep-alive</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Host header</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(still king)</a:t>
            </a:r>
            <a:endParaRPr lang="en-US" sz="1300" dirty="0"/>
          </a:p>
        </p:txBody>
      </p:sp>
      <p:sp>
        <p:nvSpPr>
          <p:cNvPr id="21" name="Shape 18"/>
          <p:cNvSpPr/>
          <p:nvPr/>
        </p:nvSpPr>
        <p:spPr>
          <a:xfrm>
            <a:off x="8138160" y="2560320"/>
            <a:ext cx="365760" cy="365760"/>
          </a:xfrm>
          <a:prstGeom prst="ellipse">
            <a:avLst/>
          </a:prstGeom>
          <a:solidFill>
            <a:srgbClr val="7C5CFC"/>
          </a:solidFill>
          <a:ln w="25400">
            <a:solidFill>
              <a:srgbClr val="FFFFFF"/>
            </a:solidFill>
            <a:prstDash val="solid"/>
          </a:ln>
        </p:spPr>
      </p:sp>
      <p:sp>
        <p:nvSpPr>
          <p:cNvPr id="22" name="Text 19"/>
          <p:cNvSpPr/>
          <p:nvPr/>
        </p:nvSpPr>
        <p:spPr>
          <a:xfrm>
            <a:off x="7452360" y="1554480"/>
            <a:ext cx="1737360" cy="640080"/>
          </a:xfrm>
          <a:prstGeom prst="rect">
            <a:avLst>
              <a:gd name="adj" fmla="val 11429"/>
            </a:avLst>
          </a:prstGeom>
          <a:solidFill>
            <a:srgbClr val="7C5CFC"/>
          </a:solidFill>
          <a:ln w="15875">
            <a:solidFill>
              <a:srgbClr val="7C5CFC"/>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HTTP/2</a:t>
            </a:r>
            <a:endParaRPr lang="en-US" sz="2000" dirty="0"/>
          </a:p>
        </p:txBody>
      </p:sp>
      <p:sp>
        <p:nvSpPr>
          <p:cNvPr id="23" name="Text 20"/>
          <p:cNvSpPr/>
          <p:nvPr/>
        </p:nvSpPr>
        <p:spPr>
          <a:xfrm>
            <a:off x="7452360" y="3017520"/>
            <a:ext cx="1737360" cy="365760"/>
          </a:xfrm>
          <a:prstGeom prst="rect">
            <a:avLst/>
          </a:prstGeom>
          <a:noFill/>
          <a:ln/>
        </p:spPr>
        <p:txBody>
          <a:bodyPr wrap="square" lIns="508" tIns="508" rIns="508" bIns="508"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2015</a:t>
            </a:r>
            <a:endParaRPr lang="en-US" sz="1600" dirty="0"/>
          </a:p>
        </p:txBody>
      </p:sp>
      <p:sp>
        <p:nvSpPr>
          <p:cNvPr id="24" name="Text 21"/>
          <p:cNvSpPr/>
          <p:nvPr/>
        </p:nvSpPr>
        <p:spPr>
          <a:xfrm>
            <a:off x="7452360" y="3474720"/>
            <a:ext cx="17373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Binary</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Multiplexing</a:t>
            </a:r>
            <a:endParaRPr lang="en-US" sz="1300" dirty="0"/>
          </a:p>
        </p:txBody>
      </p:sp>
      <p:sp>
        <p:nvSpPr>
          <p:cNvPr id="25" name="Shape 22"/>
          <p:cNvSpPr/>
          <p:nvPr/>
        </p:nvSpPr>
        <p:spPr>
          <a:xfrm>
            <a:off x="10378440" y="2560320"/>
            <a:ext cx="365760" cy="365760"/>
          </a:xfrm>
          <a:prstGeom prst="ellipse">
            <a:avLst/>
          </a:prstGeom>
          <a:solidFill>
            <a:srgbClr val="E5484D"/>
          </a:solidFill>
          <a:ln w="25400">
            <a:solidFill>
              <a:srgbClr val="FFFFFF"/>
            </a:solidFill>
            <a:prstDash val="solid"/>
          </a:ln>
        </p:spPr>
      </p:sp>
      <p:sp>
        <p:nvSpPr>
          <p:cNvPr id="26" name="Text 23"/>
          <p:cNvSpPr/>
          <p:nvPr/>
        </p:nvSpPr>
        <p:spPr>
          <a:xfrm>
            <a:off x="9692640" y="1554480"/>
            <a:ext cx="1737360" cy="640080"/>
          </a:xfrm>
          <a:prstGeom prst="rect">
            <a:avLst>
              <a:gd name="adj" fmla="val 11429"/>
            </a:avLst>
          </a:prstGeom>
          <a:solidFill>
            <a:srgbClr val="E5484D"/>
          </a:solidFill>
          <a:ln w="15875">
            <a:solidFill>
              <a:srgbClr val="E5484D"/>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HTTP/3</a:t>
            </a:r>
            <a:endParaRPr lang="en-US" sz="2000" dirty="0"/>
          </a:p>
        </p:txBody>
      </p:sp>
      <p:sp>
        <p:nvSpPr>
          <p:cNvPr id="27" name="Text 24"/>
          <p:cNvSpPr/>
          <p:nvPr/>
        </p:nvSpPr>
        <p:spPr>
          <a:xfrm>
            <a:off x="9692640" y="3017520"/>
            <a:ext cx="1737360" cy="365760"/>
          </a:xfrm>
          <a:prstGeom prst="rect">
            <a:avLst/>
          </a:prstGeom>
          <a:noFill/>
          <a:ln/>
        </p:spPr>
        <p:txBody>
          <a:bodyPr wrap="square" lIns="508" tIns="508" rIns="508" bIns="508"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2022</a:t>
            </a:r>
            <a:endParaRPr lang="en-US" sz="1600" dirty="0"/>
          </a:p>
        </p:txBody>
      </p:sp>
      <p:sp>
        <p:nvSpPr>
          <p:cNvPr id="28" name="Text 25"/>
          <p:cNvSpPr/>
          <p:nvPr/>
        </p:nvSpPr>
        <p:spPr>
          <a:xfrm>
            <a:off x="9692640" y="3474720"/>
            <a:ext cx="17373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QUIC / UDP</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Faster mobile</a:t>
            </a:r>
            <a:endParaRPr lang="en-US" sz="1300" dirty="0"/>
          </a:p>
        </p:txBody>
      </p:sp>
      <p:sp>
        <p:nvSpPr>
          <p:cNvPr id="29" name="Shape 26"/>
          <p:cNvSpPr/>
          <p:nvPr/>
        </p:nvSpPr>
        <p:spPr>
          <a:xfrm>
            <a:off x="457200" y="5120640"/>
            <a:ext cx="82296" cy="548640"/>
          </a:xfrm>
          <a:prstGeom prst="rect">
            <a:avLst/>
          </a:prstGeom>
          <a:solidFill>
            <a:srgbClr val="0F9D8F"/>
          </a:solidFill>
          <a:ln/>
        </p:spPr>
      </p:sp>
      <p:sp>
        <p:nvSpPr>
          <p:cNvPr id="30" name="Text 27"/>
          <p:cNvSpPr/>
          <p:nvPr/>
        </p:nvSpPr>
        <p:spPr>
          <a:xfrm>
            <a:off x="594360" y="512064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Good news for testers: the methods, status codes and headers you learn today work the same in every version.</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HTTPS: HTTP inside a secure tunnel (TLS)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33</a:t>
            </a:r>
            <a:endParaRPr lang="en-US" sz="1000" dirty="0"/>
          </a:p>
        </p:txBody>
      </p:sp>
      <p:sp>
        <p:nvSpPr>
          <p:cNvPr id="8" name="Text 5"/>
          <p:cNvSpPr/>
          <p:nvPr/>
        </p:nvSpPr>
        <p:spPr>
          <a:xfrm>
            <a:off x="640080" y="1554480"/>
            <a:ext cx="5212080" cy="1371600"/>
          </a:xfrm>
          <a:prstGeom prst="roundRect">
            <a:avLst>
              <a:gd name="adj" fmla="val 5333"/>
            </a:avLst>
          </a:prstGeom>
          <a:solidFill>
            <a:srgbClr val="FDE4E4"/>
          </a:solidFill>
          <a:ln w="15875">
            <a:solidFill>
              <a:srgbClr val="E5484D"/>
            </a:solidFill>
          </a:ln>
        </p:spPr>
        <p:txBody>
          <a:bodyPr wrap="square" lIns="1016" tIns="1016" rIns="1016" bIns="1016"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HTTP</a:t>
            </a:r>
            <a:endParaRPr lang="en-US" sz="1800" dirty="0"/>
          </a:p>
          <a:p>
            <a:pPr algn="ctr" indent="0" marL="0">
              <a:buNone/>
            </a:pPr>
            <a:r>
              <a:rPr lang="en-US" sz="1800" b="1" dirty="0">
                <a:solidFill>
                  <a:srgbClr val="1F2937"/>
                </a:solidFill>
                <a:latin typeface="Calibri" pitchFamily="34" charset="0"/>
                <a:ea typeface="Calibri" pitchFamily="34" charset="-122"/>
                <a:cs typeface="Calibri" pitchFamily="34" charset="-120"/>
              </a:rPr>
              <a:t>(postcard: anyone can read)</a:t>
            </a:r>
            <a:endParaRPr lang="en-US" sz="1800" dirty="0"/>
          </a:p>
        </p:txBody>
      </p:sp>
      <p:sp>
        <p:nvSpPr>
          <p:cNvPr id="9" name="Text 6"/>
          <p:cNvSpPr/>
          <p:nvPr/>
        </p:nvSpPr>
        <p:spPr>
          <a:xfrm>
            <a:off x="6309360" y="1554480"/>
            <a:ext cx="5212080" cy="1371600"/>
          </a:xfrm>
          <a:prstGeom prst="roundRect">
            <a:avLst>
              <a:gd name="adj" fmla="val 5333"/>
            </a:avLst>
          </a:prstGeom>
          <a:solidFill>
            <a:srgbClr val="DDF4F0"/>
          </a:solidFill>
          <a:ln w="15875">
            <a:solidFill>
              <a:srgbClr val="0F9D8F"/>
            </a:solidFill>
          </a:ln>
        </p:spPr>
        <p:txBody>
          <a:bodyPr wrap="square" lIns="1016" tIns="1016" rIns="1016" bIns="1016"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HTTPS</a:t>
            </a:r>
            <a:endParaRPr lang="en-US" sz="1800" dirty="0"/>
          </a:p>
          <a:p>
            <a:pPr algn="ctr" indent="0" marL="0">
              <a:buNone/>
            </a:pPr>
            <a:r>
              <a:rPr lang="en-US" sz="1800" b="1" dirty="0">
                <a:solidFill>
                  <a:srgbClr val="1F2937"/>
                </a:solidFill>
                <a:latin typeface="Calibri" pitchFamily="34" charset="0"/>
                <a:ea typeface="Calibri" pitchFamily="34" charset="-122"/>
                <a:cs typeface="Calibri" pitchFamily="34" charset="-120"/>
              </a:rPr>
              <a:t>(sealed, tamper-proof envelope)</a:t>
            </a:r>
            <a:endParaRPr lang="en-US" sz="1800" dirty="0"/>
          </a:p>
        </p:txBody>
      </p:sp>
      <p:sp>
        <p:nvSpPr>
          <p:cNvPr id="10" name="Text 7"/>
          <p:cNvSpPr/>
          <p:nvPr/>
        </p:nvSpPr>
        <p:spPr>
          <a:xfrm>
            <a:off x="640080" y="3383280"/>
            <a:ext cx="548640" cy="548640"/>
          </a:xfrm>
          <a:prstGeom prst="round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8"/>
          <p:cNvSpPr/>
          <p:nvPr/>
        </p:nvSpPr>
        <p:spPr>
          <a:xfrm>
            <a:off x="1234440" y="3291840"/>
            <a:ext cx="2194560" cy="731520"/>
          </a:xfrm>
          <a:prstGeom prst="rect">
            <a:avLst/>
          </a:prstGeom>
          <a:noFill/>
          <a:ln/>
        </p:spPr>
        <p:txBody>
          <a:bodyPr wrap="square" lIns="508" tIns="508" rIns="508" bIns="508"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Client says hello, lists ciphers</a:t>
            </a:r>
            <a:endParaRPr lang="en-US" sz="1400" dirty="0"/>
          </a:p>
        </p:txBody>
      </p:sp>
      <p:sp>
        <p:nvSpPr>
          <p:cNvPr id="12" name="Text 9"/>
          <p:cNvSpPr/>
          <p:nvPr/>
        </p:nvSpPr>
        <p:spPr>
          <a:xfrm>
            <a:off x="3474720" y="3383280"/>
            <a:ext cx="548640" cy="548640"/>
          </a:xfrm>
          <a:prstGeom prst="round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4069080" y="3291840"/>
            <a:ext cx="2194560" cy="731520"/>
          </a:xfrm>
          <a:prstGeom prst="rect">
            <a:avLst/>
          </a:prstGeom>
          <a:noFill/>
          <a:ln/>
        </p:spPr>
        <p:txBody>
          <a:bodyPr wrap="square" lIns="508" tIns="508" rIns="508" bIns="508"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Server sends certificate (proof of identity)</a:t>
            </a:r>
            <a:endParaRPr lang="en-US" sz="1400" dirty="0"/>
          </a:p>
        </p:txBody>
      </p:sp>
      <p:sp>
        <p:nvSpPr>
          <p:cNvPr id="14" name="Text 11"/>
          <p:cNvSpPr/>
          <p:nvPr/>
        </p:nvSpPr>
        <p:spPr>
          <a:xfrm>
            <a:off x="6309360" y="3383280"/>
            <a:ext cx="548640" cy="548640"/>
          </a:xfrm>
          <a:prstGeom prst="round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2"/>
          <p:cNvSpPr/>
          <p:nvPr/>
        </p:nvSpPr>
        <p:spPr>
          <a:xfrm>
            <a:off x="6903720" y="3291840"/>
            <a:ext cx="2194560" cy="731520"/>
          </a:xfrm>
          <a:prstGeom prst="rect">
            <a:avLst/>
          </a:prstGeom>
          <a:noFill/>
          <a:ln/>
        </p:spPr>
        <p:txBody>
          <a:bodyPr wrap="square" lIns="508" tIns="508" rIns="508" bIns="508"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Both agree on secret keys</a:t>
            </a:r>
            <a:endParaRPr lang="en-US" sz="1400" dirty="0"/>
          </a:p>
        </p:txBody>
      </p:sp>
      <p:sp>
        <p:nvSpPr>
          <p:cNvPr id="16" name="Text 13"/>
          <p:cNvSpPr/>
          <p:nvPr/>
        </p:nvSpPr>
        <p:spPr>
          <a:xfrm>
            <a:off x="9144000" y="3383280"/>
            <a:ext cx="548640" cy="548640"/>
          </a:xfrm>
          <a:prstGeom prst="round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Text 14"/>
          <p:cNvSpPr/>
          <p:nvPr/>
        </p:nvSpPr>
        <p:spPr>
          <a:xfrm>
            <a:off x="9738360" y="3291840"/>
            <a:ext cx="2194560" cy="731520"/>
          </a:xfrm>
          <a:prstGeom prst="rect">
            <a:avLst/>
          </a:prstGeom>
          <a:noFill/>
          <a:ln/>
        </p:spPr>
        <p:txBody>
          <a:bodyPr wrap="square" lIns="508" tIns="508" rIns="508" bIns="508"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All HTTP traffic is encrypted</a:t>
            </a:r>
            <a:endParaRPr lang="en-US" sz="1400" dirty="0"/>
          </a:p>
        </p:txBody>
      </p:sp>
      <p:sp>
        <p:nvSpPr>
          <p:cNvPr id="18" name="Text 15"/>
          <p:cNvSpPr/>
          <p:nvPr/>
        </p:nvSpPr>
        <p:spPr>
          <a:xfrm>
            <a:off x="640080" y="4389120"/>
            <a:ext cx="10972800" cy="100584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Provides: privacy, integrity, server identity</a:t>
            </a:r>
            <a:endParaRPr lang="en-US" sz="1700" dirty="0"/>
          </a:p>
          <a:p>
            <a:pPr marL="228600" indent="-2286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Port 443; certificates expire, so an expired certificate is a classic outage</a:t>
            </a:r>
            <a:endParaRPr lang="en-US" sz="1700" dirty="0"/>
          </a:p>
        </p:txBody>
      </p:sp>
      <p:sp>
        <p:nvSpPr>
          <p:cNvPr id="19" name="Shape 16"/>
          <p:cNvSpPr/>
          <p:nvPr/>
        </p:nvSpPr>
        <p:spPr>
          <a:xfrm>
            <a:off x="457200" y="5577840"/>
            <a:ext cx="82296" cy="548640"/>
          </a:xfrm>
          <a:prstGeom prst="rect">
            <a:avLst/>
          </a:prstGeom>
          <a:solidFill>
            <a:srgbClr val="E5484D"/>
          </a:solidFill>
          <a:ln/>
        </p:spPr>
      </p:sp>
      <p:sp>
        <p:nvSpPr>
          <p:cNvPr id="20" name="Text 17"/>
          <p:cNvSpPr/>
          <p:nvPr/>
        </p:nvSpPr>
        <p:spPr>
          <a:xfrm>
            <a:off x="594360" y="5577840"/>
            <a:ext cx="11064240" cy="548640"/>
          </a:xfrm>
          <a:prstGeom prst="rect">
            <a:avLst/>
          </a:prstGeom>
          <a:solidFill>
            <a:srgbClr val="FDE4E4"/>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Real-world bug: Heartbleed (2014), a missing bounds check in OpenSSL's TLS heartbeat, let attackers read server memory. Secure protocols still need testing.</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Each HTTP version fixed the last one's bottleneck</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34</a:t>
            </a:r>
            <a:endParaRPr lang="en-US" sz="1000" dirty="0"/>
          </a:p>
        </p:txBody>
      </p:sp>
      <p:sp>
        <p:nvSpPr>
          <p:cNvPr id="8" name="Text 5"/>
          <p:cNvSpPr/>
          <p:nvPr/>
        </p:nvSpPr>
        <p:spPr>
          <a:xfrm>
            <a:off x="548640" y="1188720"/>
            <a:ext cx="2148840" cy="457200"/>
          </a:xfrm>
          <a:prstGeom prst="rect">
            <a:avLst>
              <a:gd name="adj" fmla="val 16000"/>
            </a:avLst>
          </a:prstGeom>
          <a:solidFill>
            <a:srgbClr val="64748B"/>
          </a:solidFill>
          <a:ln w="15875">
            <a:solidFill>
              <a:srgbClr val="64748B"/>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HTTP/0.9  ·  1991</a:t>
            </a:r>
            <a:endParaRPr lang="en-US" sz="1600" dirty="0"/>
          </a:p>
        </p:txBody>
      </p:sp>
      <p:sp>
        <p:nvSpPr>
          <p:cNvPr id="9" name="Text 6"/>
          <p:cNvSpPr/>
          <p:nvPr/>
        </p:nvSpPr>
        <p:spPr>
          <a:xfrm>
            <a:off x="548640" y="1645920"/>
            <a:ext cx="214884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One-shot fetch</a:t>
            </a:r>
            <a:endParaRPr lang="en-US" sz="1300" dirty="0"/>
          </a:p>
        </p:txBody>
      </p:sp>
      <p:sp>
        <p:nvSpPr>
          <p:cNvPr id="10" name="Text 7"/>
          <p:cNvSpPr/>
          <p:nvPr/>
        </p:nvSpPr>
        <p:spPr>
          <a:xfrm>
            <a:off x="548640" y="2103120"/>
            <a:ext cx="2148840" cy="228600"/>
          </a:xfrm>
          <a:prstGeom prst="rect">
            <a:avLst/>
          </a:prstGeom>
          <a:noFill/>
          <a:ln/>
        </p:spPr>
        <p:txBody>
          <a:bodyPr wrap="square" lIns="508" tIns="508" rIns="508" bIns="508" rtlCol="0" anchor="ctr"/>
          <a:lstStyle/>
          <a:p>
            <a:pPr indent="0" marL="0">
              <a:buNone/>
            </a:pPr>
            <a:r>
              <a:rPr lang="en-US" sz="1000" b="1" spc="300" kern="0" dirty="0">
                <a:solidFill>
                  <a:srgbClr val="0F9D8F"/>
                </a:solidFill>
                <a:latin typeface="Calibri" pitchFamily="34" charset="0"/>
                <a:ea typeface="Calibri" pitchFamily="34" charset="-122"/>
                <a:cs typeface="Calibri" pitchFamily="34" charset="-120"/>
              </a:rPr>
              <a:t>FIXED</a:t>
            </a:r>
            <a:endParaRPr lang="en-US" sz="1000" dirty="0"/>
          </a:p>
        </p:txBody>
      </p:sp>
      <p:sp>
        <p:nvSpPr>
          <p:cNvPr id="11" name="Text 8"/>
          <p:cNvSpPr/>
          <p:nvPr/>
        </p:nvSpPr>
        <p:spPr>
          <a:xfrm>
            <a:off x="548640" y="2331720"/>
            <a:ext cx="2148840" cy="1234440"/>
          </a:xfrm>
          <a:prstGeom prst="rect">
            <a:avLst>
              <a:gd name="adj" fmla="val 5926"/>
            </a:avLst>
          </a:prstGeom>
          <a:solidFill>
            <a:srgbClr val="DDF4F0"/>
          </a:solidFill>
          <a:ln w="15875">
            <a:solidFill>
              <a:srgbClr val="0F9D8F"/>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Browser can ask for a document:</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GET /index.html</a:t>
            </a:r>
            <a:endParaRPr lang="en-US" sz="1200" dirty="0"/>
          </a:p>
        </p:txBody>
      </p:sp>
      <p:sp>
        <p:nvSpPr>
          <p:cNvPr id="12" name="Text 9"/>
          <p:cNvSpPr/>
          <p:nvPr/>
        </p:nvSpPr>
        <p:spPr>
          <a:xfrm>
            <a:off x="548640" y="3657600"/>
            <a:ext cx="2148840" cy="228600"/>
          </a:xfrm>
          <a:prstGeom prst="rect">
            <a:avLst/>
          </a:prstGeom>
          <a:noFill/>
          <a:ln/>
        </p:spPr>
        <p:txBody>
          <a:bodyPr wrap="square" lIns="508" tIns="508" rIns="508" bIns="508" rtlCol="0" anchor="ctr"/>
          <a:lstStyle/>
          <a:p>
            <a:pPr indent="0" marL="0">
              <a:buNone/>
            </a:pPr>
            <a:r>
              <a:rPr lang="en-US" sz="1000" b="1" spc="300" kern="0" dirty="0">
                <a:solidFill>
                  <a:srgbClr val="E5484D"/>
                </a:solidFill>
                <a:latin typeface="Calibri" pitchFamily="34" charset="0"/>
                <a:ea typeface="Calibri" pitchFamily="34" charset="-122"/>
                <a:cs typeface="Calibri" pitchFamily="34" charset="-120"/>
              </a:rPr>
              <a:t>NEW BOTTLENECK</a:t>
            </a:r>
            <a:endParaRPr lang="en-US" sz="1000" dirty="0"/>
          </a:p>
        </p:txBody>
      </p:sp>
      <p:sp>
        <p:nvSpPr>
          <p:cNvPr id="13" name="Text 10"/>
          <p:cNvSpPr/>
          <p:nvPr/>
        </p:nvSpPr>
        <p:spPr>
          <a:xfrm>
            <a:off x="548640" y="3886200"/>
            <a:ext cx="2148840" cy="1097280"/>
          </a:xfrm>
          <a:prstGeom prst="rect">
            <a:avLst>
              <a:gd name="adj" fmla="val 6667"/>
            </a:avLst>
          </a:prstGeom>
          <a:solidFill>
            <a:srgbClr val="FDE4E4"/>
          </a:solidFill>
          <a:ln w="15875">
            <a:solidFill>
              <a:srgbClr val="E5484D"/>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Text only. No headers, no status codes (no 404). Connection closed after every reply.</a:t>
            </a:r>
            <a:endParaRPr lang="en-US" sz="1200" dirty="0"/>
          </a:p>
        </p:txBody>
      </p:sp>
      <p:sp>
        <p:nvSpPr>
          <p:cNvPr id="14" name="Shape 11"/>
          <p:cNvSpPr/>
          <p:nvPr/>
        </p:nvSpPr>
        <p:spPr>
          <a:xfrm>
            <a:off x="2697480" y="1417320"/>
            <a:ext cx="91440" cy="0"/>
          </a:xfrm>
          <a:prstGeom prst="line">
            <a:avLst/>
          </a:prstGeom>
          <a:noFill/>
          <a:ln w="25400">
            <a:solidFill>
              <a:srgbClr val="64748B"/>
            </a:solidFill>
            <a:prstDash val="solid"/>
            <a:tailEnd type="triangle"/>
          </a:ln>
        </p:spPr>
      </p:sp>
      <p:sp>
        <p:nvSpPr>
          <p:cNvPr id="15" name="Text 12"/>
          <p:cNvSpPr/>
          <p:nvPr/>
        </p:nvSpPr>
        <p:spPr>
          <a:xfrm>
            <a:off x="2788920" y="1188720"/>
            <a:ext cx="2148840" cy="457200"/>
          </a:xfrm>
          <a:prstGeom prst="rect">
            <a:avLst>
              <a:gd name="adj" fmla="val 16000"/>
            </a:avLst>
          </a:prstGeom>
          <a:solidFill>
            <a:srgbClr val="3B82F6"/>
          </a:solidFill>
          <a:ln w="15875">
            <a:solidFill>
              <a:srgbClr val="3B82F6"/>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HTTP/1.0  ·  1996</a:t>
            </a:r>
            <a:endParaRPr lang="en-US" sz="1600" dirty="0"/>
          </a:p>
        </p:txBody>
      </p:sp>
      <p:sp>
        <p:nvSpPr>
          <p:cNvPr id="16" name="Text 13"/>
          <p:cNvSpPr/>
          <p:nvPr/>
        </p:nvSpPr>
        <p:spPr>
          <a:xfrm>
            <a:off x="2788920" y="1645920"/>
            <a:ext cx="214884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Multimedia update</a:t>
            </a:r>
            <a:endParaRPr lang="en-US" sz="1300" dirty="0"/>
          </a:p>
        </p:txBody>
      </p:sp>
      <p:sp>
        <p:nvSpPr>
          <p:cNvPr id="17" name="Text 14"/>
          <p:cNvSpPr/>
          <p:nvPr/>
        </p:nvSpPr>
        <p:spPr>
          <a:xfrm>
            <a:off x="2788920" y="2103120"/>
            <a:ext cx="2148840" cy="228600"/>
          </a:xfrm>
          <a:prstGeom prst="rect">
            <a:avLst/>
          </a:prstGeom>
          <a:noFill/>
          <a:ln/>
        </p:spPr>
        <p:txBody>
          <a:bodyPr wrap="square" lIns="508" tIns="508" rIns="508" bIns="508" rtlCol="0" anchor="ctr"/>
          <a:lstStyle/>
          <a:p>
            <a:pPr indent="0" marL="0">
              <a:buNone/>
            </a:pPr>
            <a:r>
              <a:rPr lang="en-US" sz="1000" b="1" spc="300" kern="0" dirty="0">
                <a:solidFill>
                  <a:srgbClr val="0F9D8F"/>
                </a:solidFill>
                <a:latin typeface="Calibri" pitchFamily="34" charset="0"/>
                <a:ea typeface="Calibri" pitchFamily="34" charset="-122"/>
                <a:cs typeface="Calibri" pitchFamily="34" charset="-120"/>
              </a:rPr>
              <a:t>FIXED</a:t>
            </a:r>
            <a:endParaRPr lang="en-US" sz="1000" dirty="0"/>
          </a:p>
        </p:txBody>
      </p:sp>
      <p:sp>
        <p:nvSpPr>
          <p:cNvPr id="18" name="Text 15"/>
          <p:cNvSpPr/>
          <p:nvPr/>
        </p:nvSpPr>
        <p:spPr>
          <a:xfrm>
            <a:off x="2788920" y="2331720"/>
            <a:ext cx="2148840" cy="1234440"/>
          </a:xfrm>
          <a:prstGeom prst="rect">
            <a:avLst>
              <a:gd name="adj" fmla="val 5926"/>
            </a:avLst>
          </a:prstGeom>
          <a:solidFill>
            <a:srgbClr val="DDF4F0"/>
          </a:solidFill>
          <a:ln w="15875">
            <a:solidFill>
              <a:srgbClr val="0F9D8F"/>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Headers + status codes: images via Content-Type, errors via 200 / 404</a:t>
            </a:r>
            <a:endParaRPr lang="en-US" sz="1200" dirty="0"/>
          </a:p>
        </p:txBody>
      </p:sp>
      <p:sp>
        <p:nvSpPr>
          <p:cNvPr id="19" name="Text 16"/>
          <p:cNvSpPr/>
          <p:nvPr/>
        </p:nvSpPr>
        <p:spPr>
          <a:xfrm>
            <a:off x="2788920" y="3657600"/>
            <a:ext cx="2148840" cy="228600"/>
          </a:xfrm>
          <a:prstGeom prst="rect">
            <a:avLst/>
          </a:prstGeom>
          <a:noFill/>
          <a:ln/>
        </p:spPr>
        <p:txBody>
          <a:bodyPr wrap="square" lIns="508" tIns="508" rIns="508" bIns="508" rtlCol="0" anchor="ctr"/>
          <a:lstStyle/>
          <a:p>
            <a:pPr indent="0" marL="0">
              <a:buNone/>
            </a:pPr>
            <a:r>
              <a:rPr lang="en-US" sz="1000" b="1" spc="300" kern="0" dirty="0">
                <a:solidFill>
                  <a:srgbClr val="E5484D"/>
                </a:solidFill>
                <a:latin typeface="Calibri" pitchFamily="34" charset="0"/>
                <a:ea typeface="Calibri" pitchFamily="34" charset="-122"/>
                <a:cs typeface="Calibri" pitchFamily="34" charset="-120"/>
              </a:rPr>
              <a:t>NEW BOTTLENECK</a:t>
            </a:r>
            <a:endParaRPr lang="en-US" sz="1000" dirty="0"/>
          </a:p>
        </p:txBody>
      </p:sp>
      <p:sp>
        <p:nvSpPr>
          <p:cNvPr id="20" name="Text 17"/>
          <p:cNvSpPr/>
          <p:nvPr/>
        </p:nvSpPr>
        <p:spPr>
          <a:xfrm>
            <a:off x="2788920" y="3886200"/>
            <a:ext cx="2148840" cy="1097280"/>
          </a:xfrm>
          <a:prstGeom prst="rect">
            <a:avLst>
              <a:gd name="adj" fmla="val 6667"/>
            </a:avLst>
          </a:prstGeom>
          <a:solidFill>
            <a:srgbClr val="FDE4E4"/>
          </a:solidFill>
          <a:ln w="15875">
            <a:solidFill>
              <a:srgbClr val="E5484D"/>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 new TCP connection for every file: page, each image, CSS, script.</a:t>
            </a:r>
            <a:endParaRPr lang="en-US" sz="1200" dirty="0"/>
          </a:p>
        </p:txBody>
      </p:sp>
      <p:sp>
        <p:nvSpPr>
          <p:cNvPr id="21" name="Shape 18"/>
          <p:cNvSpPr/>
          <p:nvPr/>
        </p:nvSpPr>
        <p:spPr>
          <a:xfrm>
            <a:off x="4937760" y="1417320"/>
            <a:ext cx="91440" cy="0"/>
          </a:xfrm>
          <a:prstGeom prst="line">
            <a:avLst/>
          </a:prstGeom>
          <a:noFill/>
          <a:ln w="25400">
            <a:solidFill>
              <a:srgbClr val="64748B"/>
            </a:solidFill>
            <a:prstDash val="solid"/>
            <a:tailEnd type="triangle"/>
          </a:ln>
        </p:spPr>
      </p:sp>
      <p:sp>
        <p:nvSpPr>
          <p:cNvPr id="22" name="Text 19"/>
          <p:cNvSpPr/>
          <p:nvPr/>
        </p:nvSpPr>
        <p:spPr>
          <a:xfrm>
            <a:off x="5029200" y="1188720"/>
            <a:ext cx="2148840" cy="457200"/>
          </a:xfrm>
          <a:prstGeom prst="rect">
            <a:avLst>
              <a:gd name="adj" fmla="val 16000"/>
            </a:avLst>
          </a:prstGeom>
          <a:solidFill>
            <a:srgbClr val="0F9D8F"/>
          </a:solidFill>
          <a:ln w="15875">
            <a:solidFill>
              <a:srgbClr val="0F9D8F"/>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HTTP/1.1  ·  1997</a:t>
            </a:r>
            <a:endParaRPr lang="en-US" sz="1600" dirty="0"/>
          </a:p>
        </p:txBody>
      </p:sp>
      <p:sp>
        <p:nvSpPr>
          <p:cNvPr id="23" name="Text 20"/>
          <p:cNvSpPr/>
          <p:nvPr/>
        </p:nvSpPr>
        <p:spPr>
          <a:xfrm>
            <a:off x="5029200" y="1645920"/>
            <a:ext cx="214884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The workhorse</a:t>
            </a:r>
            <a:endParaRPr lang="en-US" sz="1300" dirty="0"/>
          </a:p>
        </p:txBody>
      </p:sp>
      <p:sp>
        <p:nvSpPr>
          <p:cNvPr id="24" name="Text 21"/>
          <p:cNvSpPr/>
          <p:nvPr/>
        </p:nvSpPr>
        <p:spPr>
          <a:xfrm>
            <a:off x="5029200" y="2103120"/>
            <a:ext cx="2148840" cy="228600"/>
          </a:xfrm>
          <a:prstGeom prst="rect">
            <a:avLst/>
          </a:prstGeom>
          <a:noFill/>
          <a:ln/>
        </p:spPr>
        <p:txBody>
          <a:bodyPr wrap="square" lIns="508" tIns="508" rIns="508" bIns="508" rtlCol="0" anchor="ctr"/>
          <a:lstStyle/>
          <a:p>
            <a:pPr indent="0" marL="0">
              <a:buNone/>
            </a:pPr>
            <a:r>
              <a:rPr lang="en-US" sz="1000" b="1" spc="300" kern="0" dirty="0">
                <a:solidFill>
                  <a:srgbClr val="0F9D8F"/>
                </a:solidFill>
                <a:latin typeface="Calibri" pitchFamily="34" charset="0"/>
                <a:ea typeface="Calibri" pitchFamily="34" charset="-122"/>
                <a:cs typeface="Calibri" pitchFamily="34" charset="-120"/>
              </a:rPr>
              <a:t>FIXED</a:t>
            </a:r>
            <a:endParaRPr lang="en-US" sz="1000" dirty="0"/>
          </a:p>
        </p:txBody>
      </p:sp>
      <p:sp>
        <p:nvSpPr>
          <p:cNvPr id="25" name="Text 22"/>
          <p:cNvSpPr/>
          <p:nvPr/>
        </p:nvSpPr>
        <p:spPr>
          <a:xfrm>
            <a:off x="5029200" y="2331720"/>
            <a:ext cx="2148840" cy="1234440"/>
          </a:xfrm>
          <a:prstGeom prst="rect">
            <a:avLst>
              <a:gd name="adj" fmla="val 5926"/>
            </a:avLst>
          </a:prstGeom>
          <a:solidFill>
            <a:srgbClr val="DDF4F0"/>
          </a:solidFill>
          <a:ln w="15875">
            <a:solidFill>
              <a:srgbClr val="0F9D8F"/>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Keep-Alive reuses one connection. Host header: many sites on one IP</a:t>
            </a:r>
            <a:endParaRPr lang="en-US" sz="1200" dirty="0"/>
          </a:p>
        </p:txBody>
      </p:sp>
      <p:sp>
        <p:nvSpPr>
          <p:cNvPr id="26" name="Text 23"/>
          <p:cNvSpPr/>
          <p:nvPr/>
        </p:nvSpPr>
        <p:spPr>
          <a:xfrm>
            <a:off x="5029200" y="3657600"/>
            <a:ext cx="2148840" cy="228600"/>
          </a:xfrm>
          <a:prstGeom prst="rect">
            <a:avLst/>
          </a:prstGeom>
          <a:noFill/>
          <a:ln/>
        </p:spPr>
        <p:txBody>
          <a:bodyPr wrap="square" lIns="508" tIns="508" rIns="508" bIns="508" rtlCol="0" anchor="ctr"/>
          <a:lstStyle/>
          <a:p>
            <a:pPr indent="0" marL="0">
              <a:buNone/>
            </a:pPr>
            <a:r>
              <a:rPr lang="en-US" sz="1000" b="1" spc="300" kern="0" dirty="0">
                <a:solidFill>
                  <a:srgbClr val="E5484D"/>
                </a:solidFill>
                <a:latin typeface="Calibri" pitchFamily="34" charset="0"/>
                <a:ea typeface="Calibri" pitchFamily="34" charset="-122"/>
                <a:cs typeface="Calibri" pitchFamily="34" charset="-120"/>
              </a:rPr>
              <a:t>NEW BOTTLENECK</a:t>
            </a:r>
            <a:endParaRPr lang="en-US" sz="1000" dirty="0"/>
          </a:p>
        </p:txBody>
      </p:sp>
      <p:sp>
        <p:nvSpPr>
          <p:cNvPr id="27" name="Text 24"/>
          <p:cNvSpPr/>
          <p:nvPr/>
        </p:nvSpPr>
        <p:spPr>
          <a:xfrm>
            <a:off x="5029200" y="3886200"/>
            <a:ext cx="2148840" cy="1097280"/>
          </a:xfrm>
          <a:prstGeom prst="rect">
            <a:avLst>
              <a:gd name="adj" fmla="val 6667"/>
            </a:avLst>
          </a:prstGeom>
          <a:solidFill>
            <a:srgbClr val="FDE4E4"/>
          </a:solidFill>
          <a:ln w="15875">
            <a:solidFill>
              <a:srgbClr val="E5484D"/>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Head-of-line blocking: requests queue one by one. Browsers open ~6 connections to cope.</a:t>
            </a:r>
            <a:endParaRPr lang="en-US" sz="1200" dirty="0"/>
          </a:p>
        </p:txBody>
      </p:sp>
      <p:sp>
        <p:nvSpPr>
          <p:cNvPr id="28" name="Shape 25"/>
          <p:cNvSpPr/>
          <p:nvPr/>
        </p:nvSpPr>
        <p:spPr>
          <a:xfrm>
            <a:off x="7178040" y="1417320"/>
            <a:ext cx="91440" cy="0"/>
          </a:xfrm>
          <a:prstGeom prst="line">
            <a:avLst/>
          </a:prstGeom>
          <a:noFill/>
          <a:ln w="25400">
            <a:solidFill>
              <a:srgbClr val="64748B"/>
            </a:solidFill>
            <a:prstDash val="solid"/>
            <a:tailEnd type="triangle"/>
          </a:ln>
        </p:spPr>
      </p:sp>
      <p:sp>
        <p:nvSpPr>
          <p:cNvPr id="29" name="Text 26"/>
          <p:cNvSpPr/>
          <p:nvPr/>
        </p:nvSpPr>
        <p:spPr>
          <a:xfrm>
            <a:off x="7269480" y="1188720"/>
            <a:ext cx="2148840" cy="457200"/>
          </a:xfrm>
          <a:prstGeom prst="rect">
            <a:avLst>
              <a:gd name="adj" fmla="val 16000"/>
            </a:avLst>
          </a:prstGeom>
          <a:solidFill>
            <a:srgbClr val="7C5CFC"/>
          </a:solidFill>
          <a:ln w="15875">
            <a:solidFill>
              <a:srgbClr val="7C5CFC"/>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HTTP/2  ·  2015</a:t>
            </a:r>
            <a:endParaRPr lang="en-US" sz="1600" dirty="0"/>
          </a:p>
        </p:txBody>
      </p:sp>
      <p:sp>
        <p:nvSpPr>
          <p:cNvPr id="30" name="Text 27"/>
          <p:cNvSpPr/>
          <p:nvPr/>
        </p:nvSpPr>
        <p:spPr>
          <a:xfrm>
            <a:off x="7269480" y="1645920"/>
            <a:ext cx="214884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Speed &amp; parallelism</a:t>
            </a:r>
            <a:endParaRPr lang="en-US" sz="1300" dirty="0"/>
          </a:p>
        </p:txBody>
      </p:sp>
      <p:sp>
        <p:nvSpPr>
          <p:cNvPr id="31" name="Text 28"/>
          <p:cNvSpPr/>
          <p:nvPr/>
        </p:nvSpPr>
        <p:spPr>
          <a:xfrm>
            <a:off x="7269480" y="2103120"/>
            <a:ext cx="2148840" cy="228600"/>
          </a:xfrm>
          <a:prstGeom prst="rect">
            <a:avLst/>
          </a:prstGeom>
          <a:noFill/>
          <a:ln/>
        </p:spPr>
        <p:txBody>
          <a:bodyPr wrap="square" lIns="508" tIns="508" rIns="508" bIns="508" rtlCol="0" anchor="ctr"/>
          <a:lstStyle/>
          <a:p>
            <a:pPr indent="0" marL="0">
              <a:buNone/>
            </a:pPr>
            <a:r>
              <a:rPr lang="en-US" sz="1000" b="1" spc="300" kern="0" dirty="0">
                <a:solidFill>
                  <a:srgbClr val="0F9D8F"/>
                </a:solidFill>
                <a:latin typeface="Calibri" pitchFamily="34" charset="0"/>
                <a:ea typeface="Calibri" pitchFamily="34" charset="-122"/>
                <a:cs typeface="Calibri" pitchFamily="34" charset="-120"/>
              </a:rPr>
              <a:t>FIXED</a:t>
            </a:r>
            <a:endParaRPr lang="en-US" sz="1000" dirty="0"/>
          </a:p>
        </p:txBody>
      </p:sp>
      <p:sp>
        <p:nvSpPr>
          <p:cNvPr id="32" name="Text 29"/>
          <p:cNvSpPr/>
          <p:nvPr/>
        </p:nvSpPr>
        <p:spPr>
          <a:xfrm>
            <a:off x="7269480" y="2331720"/>
            <a:ext cx="2148840" cy="1234440"/>
          </a:xfrm>
          <a:prstGeom prst="rect">
            <a:avLst>
              <a:gd name="adj" fmla="val 5926"/>
            </a:avLst>
          </a:prstGeom>
          <a:solidFill>
            <a:srgbClr val="DDF4F0"/>
          </a:solidFill>
          <a:ln w="15875">
            <a:solidFill>
              <a:srgbClr val="0F9D8F"/>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Multiplexing: many streams on one connection. HPACK shrinks headers</a:t>
            </a:r>
            <a:endParaRPr lang="en-US" sz="1200" dirty="0"/>
          </a:p>
        </p:txBody>
      </p:sp>
      <p:sp>
        <p:nvSpPr>
          <p:cNvPr id="33" name="Text 30"/>
          <p:cNvSpPr/>
          <p:nvPr/>
        </p:nvSpPr>
        <p:spPr>
          <a:xfrm>
            <a:off x="7269480" y="3657600"/>
            <a:ext cx="2148840" cy="228600"/>
          </a:xfrm>
          <a:prstGeom prst="rect">
            <a:avLst/>
          </a:prstGeom>
          <a:noFill/>
          <a:ln/>
        </p:spPr>
        <p:txBody>
          <a:bodyPr wrap="square" lIns="508" tIns="508" rIns="508" bIns="508" rtlCol="0" anchor="ctr"/>
          <a:lstStyle/>
          <a:p>
            <a:pPr indent="0" marL="0">
              <a:buNone/>
            </a:pPr>
            <a:r>
              <a:rPr lang="en-US" sz="1000" b="1" spc="300" kern="0" dirty="0">
                <a:solidFill>
                  <a:srgbClr val="E5484D"/>
                </a:solidFill>
                <a:latin typeface="Calibri" pitchFamily="34" charset="0"/>
                <a:ea typeface="Calibri" pitchFamily="34" charset="-122"/>
                <a:cs typeface="Calibri" pitchFamily="34" charset="-120"/>
              </a:rPr>
              <a:t>NEW BOTTLENECK</a:t>
            </a:r>
            <a:endParaRPr lang="en-US" sz="1000" dirty="0"/>
          </a:p>
        </p:txBody>
      </p:sp>
      <p:sp>
        <p:nvSpPr>
          <p:cNvPr id="34" name="Text 31"/>
          <p:cNvSpPr/>
          <p:nvPr/>
        </p:nvSpPr>
        <p:spPr>
          <a:xfrm>
            <a:off x="7269480" y="3886200"/>
            <a:ext cx="2148840" cy="1097280"/>
          </a:xfrm>
          <a:prstGeom prst="rect">
            <a:avLst>
              <a:gd name="adj" fmla="val 6667"/>
            </a:avLst>
          </a:prstGeom>
          <a:solidFill>
            <a:srgbClr val="FDE4E4"/>
          </a:solidFill>
          <a:ln w="15875">
            <a:solidFill>
              <a:srgbClr val="E5484D"/>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TCP head-of-line blocking: one lost packet freezes every stream.</a:t>
            </a:r>
            <a:endParaRPr lang="en-US" sz="1200" dirty="0"/>
          </a:p>
        </p:txBody>
      </p:sp>
      <p:sp>
        <p:nvSpPr>
          <p:cNvPr id="35" name="Shape 32"/>
          <p:cNvSpPr/>
          <p:nvPr/>
        </p:nvSpPr>
        <p:spPr>
          <a:xfrm>
            <a:off x="9418320" y="1417320"/>
            <a:ext cx="91440" cy="0"/>
          </a:xfrm>
          <a:prstGeom prst="line">
            <a:avLst/>
          </a:prstGeom>
          <a:noFill/>
          <a:ln w="25400">
            <a:solidFill>
              <a:srgbClr val="64748B"/>
            </a:solidFill>
            <a:prstDash val="solid"/>
            <a:tailEnd type="triangle"/>
          </a:ln>
        </p:spPr>
      </p:sp>
      <p:sp>
        <p:nvSpPr>
          <p:cNvPr id="36" name="Text 33"/>
          <p:cNvSpPr/>
          <p:nvPr/>
        </p:nvSpPr>
        <p:spPr>
          <a:xfrm>
            <a:off x="9509760" y="1188720"/>
            <a:ext cx="2148840" cy="457200"/>
          </a:xfrm>
          <a:prstGeom prst="rect">
            <a:avLst>
              <a:gd name="adj" fmla="val 16000"/>
            </a:avLst>
          </a:prstGeom>
          <a:solidFill>
            <a:srgbClr val="E5484D"/>
          </a:solidFill>
          <a:ln w="15875">
            <a:solidFill>
              <a:srgbClr val="E5484D"/>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HTTP/3  ·  2022</a:t>
            </a:r>
            <a:endParaRPr lang="en-US" sz="1600" dirty="0"/>
          </a:p>
        </p:txBody>
      </p:sp>
      <p:sp>
        <p:nvSpPr>
          <p:cNvPr id="37" name="Text 34"/>
          <p:cNvSpPr/>
          <p:nvPr/>
        </p:nvSpPr>
        <p:spPr>
          <a:xfrm>
            <a:off x="9509760" y="1645920"/>
            <a:ext cx="2148840" cy="365760"/>
          </a:xfrm>
          <a:prstGeom prst="rect">
            <a:avLst>
              <a:gd name="adj" fmla="val 20000"/>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Ditch TCP for QUIC</a:t>
            </a:r>
            <a:endParaRPr lang="en-US" sz="1300" dirty="0"/>
          </a:p>
        </p:txBody>
      </p:sp>
      <p:sp>
        <p:nvSpPr>
          <p:cNvPr id="38" name="Text 35"/>
          <p:cNvSpPr/>
          <p:nvPr/>
        </p:nvSpPr>
        <p:spPr>
          <a:xfrm>
            <a:off x="9509760" y="2103120"/>
            <a:ext cx="2148840" cy="228600"/>
          </a:xfrm>
          <a:prstGeom prst="rect">
            <a:avLst/>
          </a:prstGeom>
          <a:noFill/>
          <a:ln/>
        </p:spPr>
        <p:txBody>
          <a:bodyPr wrap="square" lIns="508" tIns="508" rIns="508" bIns="508" rtlCol="0" anchor="ctr"/>
          <a:lstStyle/>
          <a:p>
            <a:pPr indent="0" marL="0">
              <a:buNone/>
            </a:pPr>
            <a:r>
              <a:rPr lang="en-US" sz="1000" b="1" spc="300" kern="0" dirty="0">
                <a:solidFill>
                  <a:srgbClr val="0F9D8F"/>
                </a:solidFill>
                <a:latin typeface="Calibri" pitchFamily="34" charset="0"/>
                <a:ea typeface="Calibri" pitchFamily="34" charset="-122"/>
                <a:cs typeface="Calibri" pitchFamily="34" charset="-120"/>
              </a:rPr>
              <a:t>FIXED</a:t>
            </a:r>
            <a:endParaRPr lang="en-US" sz="1000" dirty="0"/>
          </a:p>
        </p:txBody>
      </p:sp>
      <p:sp>
        <p:nvSpPr>
          <p:cNvPr id="39" name="Text 36"/>
          <p:cNvSpPr/>
          <p:nvPr/>
        </p:nvSpPr>
        <p:spPr>
          <a:xfrm>
            <a:off x="9509760" y="2331720"/>
            <a:ext cx="2148840" cy="1234440"/>
          </a:xfrm>
          <a:prstGeom prst="rect">
            <a:avLst>
              <a:gd name="adj" fmla="val 5926"/>
            </a:avLst>
          </a:prstGeom>
          <a:solidFill>
            <a:srgbClr val="DDF4F0"/>
          </a:solidFill>
          <a:ln w="15875">
            <a:solidFill>
              <a:srgbClr val="0F9D8F"/>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QUIC over UDP: only the hit stream pauses. Faster handshake, TLS built in</a:t>
            </a:r>
            <a:endParaRPr lang="en-US" sz="1200" dirty="0"/>
          </a:p>
        </p:txBody>
      </p:sp>
      <p:sp>
        <p:nvSpPr>
          <p:cNvPr id="40" name="Text 37"/>
          <p:cNvSpPr/>
          <p:nvPr/>
        </p:nvSpPr>
        <p:spPr>
          <a:xfrm>
            <a:off x="9509760" y="3657600"/>
            <a:ext cx="2148840" cy="228600"/>
          </a:xfrm>
          <a:prstGeom prst="rect">
            <a:avLst/>
          </a:prstGeom>
          <a:noFill/>
          <a:ln/>
        </p:spPr>
        <p:txBody>
          <a:bodyPr wrap="square" lIns="508" tIns="508" rIns="508" bIns="508" rtlCol="0" anchor="ctr"/>
          <a:lstStyle/>
          <a:p>
            <a:pPr indent="0" marL="0">
              <a:buNone/>
            </a:pPr>
            <a:r>
              <a:rPr lang="en-US" sz="1000" b="1" spc="300" kern="0" dirty="0">
                <a:solidFill>
                  <a:srgbClr val="E5484D"/>
                </a:solidFill>
                <a:latin typeface="Calibri" pitchFamily="34" charset="0"/>
                <a:ea typeface="Calibri" pitchFamily="34" charset="-122"/>
                <a:cs typeface="Calibri" pitchFamily="34" charset="-120"/>
              </a:rPr>
              <a:t>NEW BOTTLENECK</a:t>
            </a:r>
            <a:endParaRPr lang="en-US" sz="1000" dirty="0"/>
          </a:p>
        </p:txBody>
      </p:sp>
      <p:sp>
        <p:nvSpPr>
          <p:cNvPr id="41" name="Text 38"/>
          <p:cNvSpPr/>
          <p:nvPr/>
        </p:nvSpPr>
        <p:spPr>
          <a:xfrm>
            <a:off x="9509760" y="3886200"/>
            <a:ext cx="2148840" cy="1097280"/>
          </a:xfrm>
          <a:prstGeom prst="rect">
            <a:avLst>
              <a:gd name="adj" fmla="val 6667"/>
            </a:avLst>
          </a:prstGeom>
          <a:solidFill>
            <a:srgbClr val="FDE4E4"/>
          </a:solidFill>
          <a:ln w="15875">
            <a:solidFill>
              <a:srgbClr val="E5484D"/>
            </a:solidFill>
          </a:ln>
        </p:spPr>
        <p:txBody>
          <a:bodyPr wrap="square" lIns="114300" tIns="114300" rIns="114300" bIns="1143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Newest: adoption still growing (details on next slide).</a:t>
            </a:r>
            <a:endParaRPr lang="en-US" sz="1200" dirty="0"/>
          </a:p>
        </p:txBody>
      </p:sp>
      <p:sp>
        <p:nvSpPr>
          <p:cNvPr id="42" name="Text 39"/>
          <p:cNvSpPr/>
          <p:nvPr/>
        </p:nvSpPr>
        <p:spPr>
          <a:xfrm>
            <a:off x="548640" y="5074920"/>
            <a:ext cx="2743200" cy="228600"/>
          </a:xfrm>
          <a:prstGeom prst="rect">
            <a:avLst/>
          </a:prstGeom>
          <a:noFill/>
          <a:ln/>
        </p:spPr>
        <p:txBody>
          <a:bodyPr wrap="square" lIns="508" tIns="508" rIns="508" bIns="508"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WHAT'S NEXT</a:t>
            </a:r>
            <a:endParaRPr lang="en-US" sz="1000" dirty="0"/>
          </a:p>
        </p:txBody>
      </p:sp>
      <p:sp>
        <p:nvSpPr>
          <p:cNvPr id="43" name="Text 40"/>
          <p:cNvSpPr/>
          <p:nvPr/>
        </p:nvSpPr>
        <p:spPr>
          <a:xfrm>
            <a:off x="548640" y="5321808"/>
            <a:ext cx="3657600" cy="731520"/>
          </a:xfrm>
          <a:prstGeom prst="rect">
            <a:avLst>
              <a:gd name="adj" fmla="val 10000"/>
            </a:avLst>
          </a:prstGeom>
          <a:solidFill>
            <a:srgbClr val="FEF3C7"/>
          </a:solidFill>
          <a:ln w="15875">
            <a:solidFill>
              <a:srgbClr val="F59E0B"/>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QUIC tuning: better congestion control for 5G, satellite, moving vehicles</a:t>
            </a:r>
            <a:endParaRPr lang="en-US" sz="1200" dirty="0"/>
          </a:p>
        </p:txBody>
      </p:sp>
      <p:sp>
        <p:nvSpPr>
          <p:cNvPr id="44" name="Text 41"/>
          <p:cNvSpPr/>
          <p:nvPr/>
        </p:nvSpPr>
        <p:spPr>
          <a:xfrm>
            <a:off x="4297680" y="5321808"/>
            <a:ext cx="3657600" cy="731520"/>
          </a:xfrm>
          <a:prstGeom prst="rect">
            <a:avLst>
              <a:gd name="adj" fmla="val 10000"/>
            </a:avLst>
          </a:prstGeom>
          <a:solidFill>
            <a:srgbClr val="FEF3C7"/>
          </a:solidFill>
          <a:ln w="15875">
            <a:solidFill>
              <a:srgbClr val="F59E0B"/>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WebTransport: low-latency, two-way, multi-stream on HTTP/3 (WebSockets successor)</a:t>
            </a:r>
            <a:endParaRPr lang="en-US" sz="1200" dirty="0"/>
          </a:p>
        </p:txBody>
      </p:sp>
      <p:sp>
        <p:nvSpPr>
          <p:cNvPr id="45" name="Text 42"/>
          <p:cNvSpPr/>
          <p:nvPr/>
        </p:nvSpPr>
        <p:spPr>
          <a:xfrm>
            <a:off x="8046720" y="5321808"/>
            <a:ext cx="3657600" cy="731520"/>
          </a:xfrm>
          <a:prstGeom prst="rect">
            <a:avLst>
              <a:gd name="adj" fmla="val 10000"/>
            </a:avLst>
          </a:prstGeom>
          <a:solidFill>
            <a:srgbClr val="FEF3C7"/>
          </a:solidFill>
          <a:ln w="15875">
            <a:solidFill>
              <a:srgbClr val="F59E0B"/>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AI-aware priority: research: favour live audio over background prefetch</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QUIC: the engine under HTTP/3</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35</a:t>
            </a:r>
            <a:endParaRPr lang="en-US" sz="1000" dirty="0"/>
          </a:p>
        </p:txBody>
      </p:sp>
      <p:sp>
        <p:nvSpPr>
          <p:cNvPr id="8" name="Text 5"/>
          <p:cNvSpPr/>
          <p:nvPr/>
        </p:nvSpPr>
        <p:spPr>
          <a:xfrm>
            <a:off x="548640" y="1188720"/>
            <a:ext cx="2377440" cy="365760"/>
          </a:xfrm>
          <a:prstGeom prst="rect">
            <a:avLst/>
          </a:prstGeom>
          <a:noFill/>
          <a:ln/>
        </p:spPr>
        <p:txBody>
          <a:bodyPr wrap="square" lIns="508" tIns="508" rIns="508" bIns="508"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HTTP/2 stack</a:t>
            </a:r>
            <a:endParaRPr lang="en-US" sz="1800" dirty="0"/>
          </a:p>
        </p:txBody>
      </p:sp>
      <p:sp>
        <p:nvSpPr>
          <p:cNvPr id="9" name="Text 6"/>
          <p:cNvSpPr/>
          <p:nvPr/>
        </p:nvSpPr>
        <p:spPr>
          <a:xfrm>
            <a:off x="548640" y="1645920"/>
            <a:ext cx="2377440" cy="594360"/>
          </a:xfrm>
          <a:prstGeom prst="rect">
            <a:avLst>
              <a:gd name="adj" fmla="val 12308"/>
            </a:avLst>
          </a:prstGeom>
          <a:solidFill>
            <a:srgbClr val="7C5CFC"/>
          </a:solidFill>
          <a:ln w="15875">
            <a:solidFill>
              <a:srgbClr val="7C5CFC"/>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HTTP/2</a:t>
            </a:r>
            <a:endParaRPr lang="en-US" sz="1300" dirty="0"/>
          </a:p>
        </p:txBody>
      </p:sp>
      <p:sp>
        <p:nvSpPr>
          <p:cNvPr id="10" name="Text 7"/>
          <p:cNvSpPr/>
          <p:nvPr/>
        </p:nvSpPr>
        <p:spPr>
          <a:xfrm>
            <a:off x="548640" y="2286000"/>
            <a:ext cx="2377440" cy="594360"/>
          </a:xfrm>
          <a:prstGeom prst="rect">
            <a:avLst>
              <a:gd name="adj" fmla="val 12308"/>
            </a:avLst>
          </a:prstGeom>
          <a:solidFill>
            <a:srgbClr val="3B82F6"/>
          </a:solidFill>
          <a:ln w="15875">
            <a:solidFill>
              <a:srgbClr val="3B82F6"/>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TLS (encryption)</a:t>
            </a:r>
            <a:endParaRPr lang="en-US" sz="1300" dirty="0"/>
          </a:p>
        </p:txBody>
      </p:sp>
      <p:sp>
        <p:nvSpPr>
          <p:cNvPr id="11" name="Text 8"/>
          <p:cNvSpPr/>
          <p:nvPr/>
        </p:nvSpPr>
        <p:spPr>
          <a:xfrm>
            <a:off x="548640" y="2926080"/>
            <a:ext cx="2377440" cy="594360"/>
          </a:xfrm>
          <a:prstGeom prst="rect">
            <a:avLst>
              <a:gd name="adj" fmla="val 12308"/>
            </a:avLst>
          </a:prstGeom>
          <a:solidFill>
            <a:srgbClr val="E5484D"/>
          </a:solidFill>
          <a:ln w="15875">
            <a:solidFill>
              <a:srgbClr val="E5484D"/>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TCP (reliability)</a:t>
            </a:r>
            <a:endParaRPr lang="en-US" sz="1300" dirty="0"/>
          </a:p>
        </p:txBody>
      </p:sp>
      <p:sp>
        <p:nvSpPr>
          <p:cNvPr id="12" name="Text 9"/>
          <p:cNvSpPr/>
          <p:nvPr/>
        </p:nvSpPr>
        <p:spPr>
          <a:xfrm>
            <a:off x="548640" y="3566160"/>
            <a:ext cx="2377440" cy="594360"/>
          </a:xfrm>
          <a:prstGeom prst="rect">
            <a:avLst>
              <a:gd name="adj" fmla="val 12308"/>
            </a:avLst>
          </a:prstGeom>
          <a:solidFill>
            <a:srgbClr val="0B1F3A"/>
          </a:solidFill>
          <a:ln w="15875">
            <a:solidFill>
              <a:srgbClr val="0B1F3A"/>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IP</a:t>
            </a:r>
            <a:endParaRPr lang="en-US" sz="1300" dirty="0"/>
          </a:p>
        </p:txBody>
      </p:sp>
      <p:sp>
        <p:nvSpPr>
          <p:cNvPr id="13" name="Text 10"/>
          <p:cNvSpPr/>
          <p:nvPr/>
        </p:nvSpPr>
        <p:spPr>
          <a:xfrm>
            <a:off x="3108960" y="1188720"/>
            <a:ext cx="2377440" cy="365760"/>
          </a:xfrm>
          <a:prstGeom prst="rect">
            <a:avLst/>
          </a:prstGeom>
          <a:noFill/>
          <a:ln/>
        </p:spPr>
        <p:txBody>
          <a:bodyPr wrap="square" lIns="508" tIns="508" rIns="508" bIns="508"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HTTP/3 stack</a:t>
            </a:r>
            <a:endParaRPr lang="en-US" sz="1800" dirty="0"/>
          </a:p>
        </p:txBody>
      </p:sp>
      <p:sp>
        <p:nvSpPr>
          <p:cNvPr id="14" name="Text 11"/>
          <p:cNvSpPr/>
          <p:nvPr/>
        </p:nvSpPr>
        <p:spPr>
          <a:xfrm>
            <a:off x="3108960" y="1645920"/>
            <a:ext cx="2377440" cy="594360"/>
          </a:xfrm>
          <a:prstGeom prst="rect">
            <a:avLst>
              <a:gd name="adj" fmla="val 12308"/>
            </a:avLst>
          </a:prstGeom>
          <a:solidFill>
            <a:srgbClr val="7C5CFC"/>
          </a:solidFill>
          <a:ln w="15875">
            <a:solidFill>
              <a:srgbClr val="7C5CFC"/>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HTTP/3</a:t>
            </a:r>
            <a:endParaRPr lang="en-US" sz="1300" dirty="0"/>
          </a:p>
        </p:txBody>
      </p:sp>
      <p:sp>
        <p:nvSpPr>
          <p:cNvPr id="15" name="Text 12"/>
          <p:cNvSpPr/>
          <p:nvPr/>
        </p:nvSpPr>
        <p:spPr>
          <a:xfrm>
            <a:off x="3108960" y="2286000"/>
            <a:ext cx="2377440" cy="594360"/>
          </a:xfrm>
          <a:prstGeom prst="rect">
            <a:avLst>
              <a:gd name="adj" fmla="val 12308"/>
            </a:avLst>
          </a:prstGeom>
          <a:solidFill>
            <a:srgbClr val="0F9D8F"/>
          </a:solidFill>
          <a:ln w="15875">
            <a:solidFill>
              <a:srgbClr val="0F9D8F"/>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QUIC: streams + TLS 1.3 + loss recovery</a:t>
            </a:r>
            <a:endParaRPr lang="en-US" sz="1300" dirty="0"/>
          </a:p>
        </p:txBody>
      </p:sp>
      <p:sp>
        <p:nvSpPr>
          <p:cNvPr id="16" name="Text 13"/>
          <p:cNvSpPr/>
          <p:nvPr/>
        </p:nvSpPr>
        <p:spPr>
          <a:xfrm>
            <a:off x="3108960" y="2926080"/>
            <a:ext cx="2377440" cy="594360"/>
          </a:xfrm>
          <a:prstGeom prst="rect">
            <a:avLst>
              <a:gd name="adj" fmla="val 12308"/>
            </a:avLst>
          </a:prstGeom>
          <a:solidFill>
            <a:srgbClr val="F59E0B"/>
          </a:solidFill>
          <a:ln w="15875">
            <a:solidFill>
              <a:srgbClr val="F59E0B"/>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UDP</a:t>
            </a:r>
            <a:endParaRPr lang="en-US" sz="1300" dirty="0"/>
          </a:p>
        </p:txBody>
      </p:sp>
      <p:sp>
        <p:nvSpPr>
          <p:cNvPr id="17" name="Text 14"/>
          <p:cNvSpPr/>
          <p:nvPr/>
        </p:nvSpPr>
        <p:spPr>
          <a:xfrm>
            <a:off x="3108960" y="3566160"/>
            <a:ext cx="2377440" cy="594360"/>
          </a:xfrm>
          <a:prstGeom prst="rect">
            <a:avLst>
              <a:gd name="adj" fmla="val 12308"/>
            </a:avLst>
          </a:prstGeom>
          <a:solidFill>
            <a:srgbClr val="0B1F3A"/>
          </a:solidFill>
          <a:ln w="15875">
            <a:solidFill>
              <a:srgbClr val="0B1F3A"/>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IP</a:t>
            </a:r>
            <a:endParaRPr lang="en-US" sz="1300" dirty="0"/>
          </a:p>
        </p:txBody>
      </p:sp>
      <p:sp>
        <p:nvSpPr>
          <p:cNvPr id="18" name="Text 15"/>
          <p:cNvSpPr/>
          <p:nvPr/>
        </p:nvSpPr>
        <p:spPr>
          <a:xfrm>
            <a:off x="548640" y="4297680"/>
            <a:ext cx="4937760" cy="640080"/>
          </a:xfrm>
          <a:prstGeom prst="rect">
            <a:avLst/>
          </a:prstGeom>
          <a:noFill/>
          <a:ln/>
        </p:spPr>
        <p:txBody>
          <a:bodyPr wrap="square" lIns="508" tIns="508" rIns="508" bIns="508"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Same HTTP on top (methods, status codes, headers). Only the transport underneath changed.</a:t>
            </a:r>
            <a:endParaRPr lang="en-US" sz="1300" dirty="0"/>
          </a:p>
        </p:txBody>
      </p:sp>
      <p:sp>
        <p:nvSpPr>
          <p:cNvPr id="19" name="Text 16"/>
          <p:cNvSpPr/>
          <p:nvPr/>
        </p:nvSpPr>
        <p:spPr>
          <a:xfrm>
            <a:off x="5943600" y="1188720"/>
            <a:ext cx="5669280" cy="1234440"/>
          </a:xfrm>
          <a:prstGeom prst="roundRect">
            <a:avLst>
              <a:gd name="adj" fmla="val 5926"/>
            </a:avLst>
          </a:prstGeom>
          <a:solidFill>
            <a:srgbClr val="FFFFFF"/>
          </a:solidFill>
          <a:ln w="15875">
            <a:solidFill>
              <a:srgbClr val="0F9D8F"/>
            </a:solidFill>
          </a:ln>
        </p:spPr>
        <p:txBody>
          <a:bodyPr wrap="square" lIns="1016" tIns="1016" rIns="1016" bIns="1016" rtlCol="0" anchor="ctr"/>
          <a:lstStyle/>
          <a:p>
            <a:pPr algn="ctr" indent="0" marL="0">
              <a:buNone/>
            </a:pPr>
            <a:endParaRPr lang="en-US" sz="1400" dirty="0"/>
          </a:p>
        </p:txBody>
      </p:sp>
      <p:sp>
        <p:nvSpPr>
          <p:cNvPr id="20" name="Text 17"/>
          <p:cNvSpPr/>
          <p:nvPr/>
        </p:nvSpPr>
        <p:spPr>
          <a:xfrm>
            <a:off x="6080760" y="1371600"/>
            <a:ext cx="548640" cy="548640"/>
          </a:xfrm>
          <a:prstGeom prst="round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21" name="Text 18"/>
          <p:cNvSpPr/>
          <p:nvPr/>
        </p:nvSpPr>
        <p:spPr>
          <a:xfrm>
            <a:off x="6766560" y="1280160"/>
            <a:ext cx="4754880" cy="365760"/>
          </a:xfrm>
          <a:prstGeom prst="rect">
            <a:avLst/>
          </a:prstGeom>
          <a:noFill/>
          <a:ln/>
        </p:spPr>
        <p:txBody>
          <a:bodyPr wrap="square" lIns="508" tIns="508" rIns="508" bIns="508"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Independent streams</a:t>
            </a:r>
            <a:endParaRPr lang="en-US" sz="1700" dirty="0"/>
          </a:p>
        </p:txBody>
      </p:sp>
      <p:sp>
        <p:nvSpPr>
          <p:cNvPr id="22" name="Text 19"/>
          <p:cNvSpPr/>
          <p:nvPr/>
        </p:nvSpPr>
        <p:spPr>
          <a:xfrm>
            <a:off x="6766560" y="1645920"/>
            <a:ext cx="4754880" cy="731520"/>
          </a:xfrm>
          <a:prstGeom prst="rect">
            <a:avLst/>
          </a:prstGeom>
          <a:noFill/>
          <a:ln/>
        </p:spPr>
        <p:txBody>
          <a:bodyPr wrap="square" lIns="508" tIns="508" rIns="508" bIns="508" rtlCol="0" anchor="t"/>
          <a:lstStyle/>
          <a:p>
            <a:pPr indent="0" marL="0">
              <a:buNone/>
            </a:pPr>
            <a:r>
              <a:rPr lang="en-US" sz="1300" dirty="0">
                <a:solidFill>
                  <a:srgbClr val="1F2937"/>
                </a:solidFill>
                <a:latin typeface="Calibri" pitchFamily="34" charset="0"/>
                <a:ea typeface="Calibri" pitchFamily="34" charset="-122"/>
                <a:cs typeface="Calibri" pitchFamily="34" charset="-120"/>
              </a:rPr>
              <a:t>A lost packet pauses only its own stream. Others keep flowing. (Fixes TCP head-of-line blocking.)</a:t>
            </a:r>
            <a:endParaRPr lang="en-US" sz="1300" dirty="0"/>
          </a:p>
        </p:txBody>
      </p:sp>
      <p:sp>
        <p:nvSpPr>
          <p:cNvPr id="23" name="Text 20"/>
          <p:cNvSpPr/>
          <p:nvPr/>
        </p:nvSpPr>
        <p:spPr>
          <a:xfrm>
            <a:off x="5943600" y="2560320"/>
            <a:ext cx="5669280" cy="1234440"/>
          </a:xfrm>
          <a:prstGeom prst="roundRect">
            <a:avLst>
              <a:gd name="adj" fmla="val 5926"/>
            </a:avLst>
          </a:prstGeom>
          <a:solidFill>
            <a:srgbClr val="FFFFFF"/>
          </a:solidFill>
          <a:ln w="15875">
            <a:solidFill>
              <a:srgbClr val="3B82F6"/>
            </a:solidFill>
          </a:ln>
        </p:spPr>
        <p:txBody>
          <a:bodyPr wrap="square" lIns="1016" tIns="1016" rIns="1016" bIns="1016" rtlCol="0" anchor="ctr"/>
          <a:lstStyle/>
          <a:p>
            <a:pPr algn="ctr" indent="0" marL="0">
              <a:buNone/>
            </a:pPr>
            <a:endParaRPr lang="en-US" sz="1400" dirty="0"/>
          </a:p>
        </p:txBody>
      </p:sp>
      <p:sp>
        <p:nvSpPr>
          <p:cNvPr id="24" name="Text 21"/>
          <p:cNvSpPr/>
          <p:nvPr/>
        </p:nvSpPr>
        <p:spPr>
          <a:xfrm>
            <a:off x="6080760" y="2743200"/>
            <a:ext cx="548640" cy="548640"/>
          </a:xfrm>
          <a:prstGeom prst="round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5" name="Text 22"/>
          <p:cNvSpPr/>
          <p:nvPr/>
        </p:nvSpPr>
        <p:spPr>
          <a:xfrm>
            <a:off x="6766560" y="2651760"/>
            <a:ext cx="4754880" cy="365760"/>
          </a:xfrm>
          <a:prstGeom prst="rect">
            <a:avLst/>
          </a:prstGeom>
          <a:noFill/>
          <a:ln/>
        </p:spPr>
        <p:txBody>
          <a:bodyPr wrap="square" lIns="508" tIns="508" rIns="508" bIns="508"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Faster connections</a:t>
            </a:r>
            <a:endParaRPr lang="en-US" sz="1700" dirty="0"/>
          </a:p>
        </p:txBody>
      </p:sp>
      <p:sp>
        <p:nvSpPr>
          <p:cNvPr id="26" name="Text 23"/>
          <p:cNvSpPr/>
          <p:nvPr/>
        </p:nvSpPr>
        <p:spPr>
          <a:xfrm>
            <a:off x="6766560" y="3017520"/>
            <a:ext cx="4754880" cy="731520"/>
          </a:xfrm>
          <a:prstGeom prst="rect">
            <a:avLst/>
          </a:prstGeom>
          <a:noFill/>
          <a:ln/>
        </p:spPr>
        <p:txBody>
          <a:bodyPr wrap="square" lIns="508" tIns="508" rIns="508" bIns="508" rtlCol="0" anchor="t"/>
          <a:lstStyle/>
          <a:p>
            <a:pPr indent="0" marL="0">
              <a:buNone/>
            </a:pPr>
            <a:r>
              <a:rPr lang="en-US" sz="1300" dirty="0">
                <a:solidFill>
                  <a:srgbClr val="1F2937"/>
                </a:solidFill>
                <a:latin typeface="Calibri" pitchFamily="34" charset="0"/>
                <a:ea typeface="Calibri" pitchFamily="34" charset="-122"/>
                <a:cs typeface="Calibri" pitchFamily="34" charset="-120"/>
              </a:rPr>
              <a:t>Transport + TLS handshake combined into one step (1-RTT). Returning visitors: 0-RTT.</a:t>
            </a:r>
            <a:endParaRPr lang="en-US" sz="1300" dirty="0"/>
          </a:p>
        </p:txBody>
      </p:sp>
      <p:sp>
        <p:nvSpPr>
          <p:cNvPr id="27" name="Text 24"/>
          <p:cNvSpPr/>
          <p:nvPr/>
        </p:nvSpPr>
        <p:spPr>
          <a:xfrm>
            <a:off x="5943600" y="3931920"/>
            <a:ext cx="5669280" cy="1234440"/>
          </a:xfrm>
          <a:prstGeom prst="roundRect">
            <a:avLst>
              <a:gd name="adj" fmla="val 5926"/>
            </a:avLst>
          </a:prstGeom>
          <a:solidFill>
            <a:srgbClr val="FFFFFF"/>
          </a:solidFill>
          <a:ln w="15875">
            <a:solidFill>
              <a:srgbClr val="7C5CFC"/>
            </a:solidFill>
          </a:ln>
        </p:spPr>
        <p:txBody>
          <a:bodyPr wrap="square" lIns="1016" tIns="1016" rIns="1016" bIns="1016" rtlCol="0" anchor="ctr"/>
          <a:lstStyle/>
          <a:p>
            <a:pPr algn="ctr" indent="0" marL="0">
              <a:buNone/>
            </a:pPr>
            <a:endParaRPr lang="en-US" sz="1400" dirty="0"/>
          </a:p>
        </p:txBody>
      </p:sp>
      <p:sp>
        <p:nvSpPr>
          <p:cNvPr id="28" name="Text 25"/>
          <p:cNvSpPr/>
          <p:nvPr/>
        </p:nvSpPr>
        <p:spPr>
          <a:xfrm>
            <a:off x="6080760" y="4114800"/>
            <a:ext cx="548640" cy="548640"/>
          </a:xfrm>
          <a:prstGeom prst="roundRect">
            <a:avLst>
              <a:gd name="adj" fmla="val 13333"/>
            </a:avLst>
          </a:prstGeom>
          <a:solidFill>
            <a:srgbClr val="7C5CFC"/>
          </a:solidFill>
          <a:ln w="15875">
            <a:solidFill>
              <a:srgbClr val="7C5CFC"/>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6"/>
          <p:cNvSpPr/>
          <p:nvPr/>
        </p:nvSpPr>
        <p:spPr>
          <a:xfrm>
            <a:off x="6766560" y="4023360"/>
            <a:ext cx="4754880" cy="365760"/>
          </a:xfrm>
          <a:prstGeom prst="rect">
            <a:avLst/>
          </a:prstGeom>
          <a:noFill/>
          <a:ln/>
        </p:spPr>
        <p:txBody>
          <a:bodyPr wrap="square" lIns="508" tIns="508" rIns="508" bIns="508"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Connection migration</a:t>
            </a:r>
            <a:endParaRPr lang="en-US" sz="1700" dirty="0"/>
          </a:p>
        </p:txBody>
      </p:sp>
      <p:sp>
        <p:nvSpPr>
          <p:cNvPr id="30" name="Text 27"/>
          <p:cNvSpPr/>
          <p:nvPr/>
        </p:nvSpPr>
        <p:spPr>
          <a:xfrm>
            <a:off x="6766560" y="4389120"/>
            <a:ext cx="4754880" cy="731520"/>
          </a:xfrm>
          <a:prstGeom prst="rect">
            <a:avLst/>
          </a:prstGeom>
          <a:noFill/>
          <a:ln/>
        </p:spPr>
        <p:txBody>
          <a:bodyPr wrap="square" lIns="508" tIns="508" rIns="508" bIns="508" rtlCol="0" anchor="t"/>
          <a:lstStyle/>
          <a:p>
            <a:pPr indent="0" marL="0">
              <a:buNone/>
            </a:pPr>
            <a:r>
              <a:rPr lang="en-US" sz="1300" dirty="0">
                <a:solidFill>
                  <a:srgbClr val="1F2937"/>
                </a:solidFill>
                <a:latin typeface="Calibri" pitchFamily="34" charset="0"/>
                <a:ea typeface="Calibri" pitchFamily="34" charset="-122"/>
                <a:cs typeface="Calibri" pitchFamily="34" charset="-120"/>
              </a:rPr>
              <a:t>Connection ID instead of IP + port: Wi-Fi to mobile data without dropping the session.</a:t>
            </a:r>
            <a:endParaRPr lang="en-US" sz="1300" dirty="0"/>
          </a:p>
        </p:txBody>
      </p:sp>
      <p:sp>
        <p:nvSpPr>
          <p:cNvPr id="31" name="Shape 28"/>
          <p:cNvSpPr/>
          <p:nvPr/>
        </p:nvSpPr>
        <p:spPr>
          <a:xfrm>
            <a:off x="457200" y="5577840"/>
            <a:ext cx="82296" cy="548640"/>
          </a:xfrm>
          <a:prstGeom prst="rect">
            <a:avLst/>
          </a:prstGeom>
          <a:solidFill>
            <a:srgbClr val="0F9D8F"/>
          </a:solidFill>
          <a:ln/>
        </p:spPr>
      </p:sp>
      <p:sp>
        <p:nvSpPr>
          <p:cNvPr id="32" name="Text 29"/>
          <p:cNvSpPr/>
          <p:nvPr/>
        </p:nvSpPr>
        <p:spPr>
          <a:xfrm>
            <a:off x="594360" y="557784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QUIC = from Google, standardised by the IETF (RFC 9000). Testers: if UDP is blocked, clients fall back to HTTP/2 over TCP, so test both paths.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Knowledge check 3: HTTP</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36</a:t>
            </a:r>
            <a:endParaRPr lang="en-US" sz="1000" dirty="0"/>
          </a:p>
        </p:txBody>
      </p:sp>
      <p:sp>
        <p:nvSpPr>
          <p:cNvPr id="8" name="Text 5"/>
          <p:cNvSpPr/>
          <p:nvPr/>
        </p:nvSpPr>
        <p:spPr>
          <a:xfrm>
            <a:off x="548640" y="13258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9" name="Text 6"/>
          <p:cNvSpPr/>
          <p:nvPr/>
        </p:nvSpPr>
        <p:spPr>
          <a:xfrm>
            <a:off x="685800" y="14173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Q1</a:t>
            </a:r>
            <a:endParaRPr lang="en-US" sz="2600" dirty="0"/>
          </a:p>
        </p:txBody>
      </p:sp>
      <p:sp>
        <p:nvSpPr>
          <p:cNvPr id="10" name="Text 7"/>
          <p:cNvSpPr/>
          <p:nvPr/>
        </p:nvSpPr>
        <p:spPr>
          <a:xfrm>
            <a:off x="1371600" y="13716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Which part of a URL identifies the resource, and which part filters it?</a:t>
            </a:r>
            <a:endParaRPr lang="en-US" sz="1900" dirty="0"/>
          </a:p>
        </p:txBody>
      </p:sp>
      <p:sp>
        <p:nvSpPr>
          <p:cNvPr id="11" name="Text 8"/>
          <p:cNvSpPr/>
          <p:nvPr/>
        </p:nvSpPr>
        <p:spPr>
          <a:xfrm>
            <a:off x="1371600" y="20116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Look at: https://api.shop.com/users/42/orders?status=open</a:t>
            </a:r>
            <a:endParaRPr lang="en-US" sz="1500" dirty="0"/>
          </a:p>
        </p:txBody>
      </p:sp>
      <p:sp>
        <p:nvSpPr>
          <p:cNvPr id="12" name="Text 9"/>
          <p:cNvSpPr/>
          <p:nvPr/>
        </p:nvSpPr>
        <p:spPr>
          <a:xfrm>
            <a:off x="548640" y="29260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3" name="Text 10"/>
          <p:cNvSpPr/>
          <p:nvPr/>
        </p:nvSpPr>
        <p:spPr>
          <a:xfrm>
            <a:off x="685800" y="30175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Q2</a:t>
            </a:r>
            <a:endParaRPr lang="en-US" sz="2600" dirty="0"/>
          </a:p>
        </p:txBody>
      </p:sp>
      <p:sp>
        <p:nvSpPr>
          <p:cNvPr id="14" name="Text 11"/>
          <p:cNvSpPr/>
          <p:nvPr/>
        </p:nvSpPr>
        <p:spPr>
          <a:xfrm>
            <a:off x="1371600" y="29718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A client sends valid credentials but is not permitted to delete a record. Which status code?</a:t>
            </a:r>
            <a:endParaRPr lang="en-US" sz="1900" dirty="0"/>
          </a:p>
        </p:txBody>
      </p:sp>
      <p:sp>
        <p:nvSpPr>
          <p:cNvPr id="15" name="Text 12"/>
          <p:cNvSpPr/>
          <p:nvPr/>
        </p:nvSpPr>
        <p:spPr>
          <a:xfrm>
            <a:off x="1371600" y="36118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401  B) 403  C) 404  D) 500</a:t>
            </a:r>
            <a:endParaRPr lang="en-US" sz="1500" dirty="0"/>
          </a:p>
        </p:txBody>
      </p:sp>
      <p:sp>
        <p:nvSpPr>
          <p:cNvPr id="16" name="Text 13"/>
          <p:cNvSpPr/>
          <p:nvPr/>
        </p:nvSpPr>
        <p:spPr>
          <a:xfrm>
            <a:off x="548640" y="45262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7" name="Text 14"/>
          <p:cNvSpPr/>
          <p:nvPr/>
        </p:nvSpPr>
        <p:spPr>
          <a:xfrm>
            <a:off x="685800" y="46177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Q3</a:t>
            </a:r>
            <a:endParaRPr lang="en-US" sz="2600" dirty="0"/>
          </a:p>
        </p:txBody>
      </p:sp>
      <p:sp>
        <p:nvSpPr>
          <p:cNvPr id="18" name="Text 15"/>
          <p:cNvSpPr/>
          <p:nvPr/>
        </p:nvSpPr>
        <p:spPr>
          <a:xfrm>
            <a:off x="1371600" y="45720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You send the same DELETE /users/42 twice. What property makes this safe to retry?</a:t>
            </a:r>
            <a:endParaRPr lang="en-US" sz="1900" dirty="0"/>
          </a:p>
        </p:txBody>
      </p:sp>
      <p:sp>
        <p:nvSpPr>
          <p:cNvPr id="19" name="Text 16"/>
          <p:cNvSpPr/>
          <p:nvPr/>
        </p:nvSpPr>
        <p:spPr>
          <a:xfrm>
            <a:off x="1371600" y="52120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Safe  B) Idempotent  C) Stateful</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Today: HTTP/1.1, 2 and 3 all run side by side</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The Web and HTTP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37</a:t>
            </a:r>
            <a:endParaRPr lang="en-US" sz="1000" dirty="0"/>
          </a:p>
        </p:txBody>
      </p:sp>
      <p:sp>
        <p:nvSpPr>
          <p:cNvPr id="8" name="Shape 5"/>
          <p:cNvSpPr/>
          <p:nvPr/>
        </p:nvSpPr>
        <p:spPr>
          <a:xfrm>
            <a:off x="502920" y="1143000"/>
            <a:ext cx="5943600" cy="3282696"/>
          </a:xfrm>
          <a:prstGeom prst="rect">
            <a:avLst/>
          </a:prstGeom>
          <a:solidFill>
            <a:srgbClr val="0B1F3A"/>
          </a:solidFill>
          <a:ln w="12700">
            <a:solidFill>
              <a:srgbClr val="0B1F3A"/>
            </a:solidFill>
            <a:prstDash val="solid"/>
          </a:ln>
        </p:spPr>
      </p:sp>
      <p:pic>
        <p:nvPicPr>
          <p:cNvPr id="9" name="Image 0" descr="images/http-evolution.png">    </p:cNvPr>
          <p:cNvPicPr>
            <a:picLocks noChangeAspect="1"/>
          </p:cNvPicPr>
          <p:nvPr/>
        </p:nvPicPr>
        <p:blipFill>
          <a:blip r:embed="rId1"/>
          <a:stretch>
            <a:fillRect/>
          </a:stretch>
        </p:blipFill>
        <p:spPr>
          <a:xfrm>
            <a:off x="548640" y="1188720"/>
            <a:ext cx="5852160" cy="3191256"/>
          </a:xfrm>
          <a:prstGeom prst="rect">
            <a:avLst/>
          </a:prstGeom>
        </p:spPr>
      </p:pic>
      <p:sp>
        <p:nvSpPr>
          <p:cNvPr id="10" name="Text 6"/>
          <p:cNvSpPr/>
          <p:nvPr/>
        </p:nvSpPr>
        <p:spPr>
          <a:xfrm>
            <a:off x="6675120" y="1143000"/>
            <a:ext cx="4937760" cy="1051560"/>
          </a:xfrm>
          <a:prstGeom prst="roundRect">
            <a:avLst>
              <a:gd name="adj" fmla="val 6957"/>
            </a:avLst>
          </a:prstGeom>
          <a:solidFill>
            <a:srgbClr val="FFFFFF"/>
          </a:solidFill>
          <a:ln w="15875">
            <a:solidFill>
              <a:srgbClr val="0F9D8F"/>
            </a:solidFill>
          </a:ln>
        </p:spPr>
        <p:txBody>
          <a:bodyPr wrap="square" lIns="1016" tIns="1016" rIns="1016" bIns="1016" rtlCol="0" anchor="ctr"/>
          <a:lstStyle/>
          <a:p>
            <a:pPr algn="ctr" indent="0" marL="0">
              <a:buNone/>
            </a:pPr>
            <a:endParaRPr lang="en-US" sz="1400" dirty="0"/>
          </a:p>
        </p:txBody>
      </p:sp>
      <p:sp>
        <p:nvSpPr>
          <p:cNvPr id="11" name="Text 7"/>
          <p:cNvSpPr/>
          <p:nvPr/>
        </p:nvSpPr>
        <p:spPr>
          <a:xfrm>
            <a:off x="6675120" y="1143000"/>
            <a:ext cx="1417320" cy="1051560"/>
          </a:xfrm>
          <a:prstGeom prst="rect">
            <a:avLst>
              <a:gd name="adj" fmla="val 6957"/>
            </a:avLst>
          </a:prstGeom>
          <a:solidFill>
            <a:srgbClr val="0F9D8F"/>
          </a:solidFill>
          <a:ln w="15875">
            <a:solidFill>
              <a:srgbClr val="0F9D8F"/>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HTTP/1.1</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Legacy fallback</a:t>
            </a:r>
            <a:endParaRPr lang="en-US" sz="1300" dirty="0"/>
          </a:p>
        </p:txBody>
      </p:sp>
      <p:sp>
        <p:nvSpPr>
          <p:cNvPr id="12" name="Text 8"/>
          <p:cNvSpPr/>
          <p:nvPr/>
        </p:nvSpPr>
        <p:spPr>
          <a:xfrm>
            <a:off x="8183880" y="1143000"/>
            <a:ext cx="3383280" cy="1051560"/>
          </a:xfrm>
          <a:prstGeom prst="rect">
            <a:avLst/>
          </a:prstGeom>
          <a:noFill/>
          <a:ln/>
        </p:spPr>
        <p:txBody>
          <a:bodyPr wrap="square" lIns="508" tIns="508" rIns="508" bIns="508" rtlCol="0" anchor="ctr"/>
          <a:lstStyle/>
          <a:p>
            <a:pPr indent="0" marL="0">
              <a:buNone/>
            </a:pPr>
            <a:r>
              <a:rPr lang="en-US" sz="1200" dirty="0">
                <a:solidFill>
                  <a:srgbClr val="1F2937"/>
                </a:solidFill>
                <a:latin typeface="Calibri" pitchFamily="34" charset="0"/>
                <a:ea typeface="Calibri" pitchFamily="34" charset="-122"/>
                <a:cs typeface="Calibri" pitchFamily="34" charset="-120"/>
              </a:rPr>
              <a:t>Universal fallback for older clients, proxies and legacy internal services.</a:t>
            </a:r>
            <a:endParaRPr lang="en-US" sz="1200" dirty="0"/>
          </a:p>
        </p:txBody>
      </p:sp>
      <p:sp>
        <p:nvSpPr>
          <p:cNvPr id="13" name="Text 9"/>
          <p:cNvSpPr/>
          <p:nvPr/>
        </p:nvSpPr>
        <p:spPr>
          <a:xfrm>
            <a:off x="6675120" y="2240280"/>
            <a:ext cx="4937760" cy="1051560"/>
          </a:xfrm>
          <a:prstGeom prst="roundRect">
            <a:avLst>
              <a:gd name="adj" fmla="val 6957"/>
            </a:avLst>
          </a:prstGeom>
          <a:solidFill>
            <a:srgbClr val="FFFFFF"/>
          </a:solidFill>
          <a:ln w="15875">
            <a:solidFill>
              <a:srgbClr val="7C5CFC"/>
            </a:solidFill>
          </a:ln>
        </p:spPr>
        <p:txBody>
          <a:bodyPr wrap="square" lIns="1016" tIns="1016" rIns="1016" bIns="1016" rtlCol="0" anchor="ctr"/>
          <a:lstStyle/>
          <a:p>
            <a:pPr algn="ctr" indent="0" marL="0">
              <a:buNone/>
            </a:pPr>
            <a:endParaRPr lang="en-US" sz="1400" dirty="0"/>
          </a:p>
        </p:txBody>
      </p:sp>
      <p:sp>
        <p:nvSpPr>
          <p:cNvPr id="14" name="Text 10"/>
          <p:cNvSpPr/>
          <p:nvPr/>
        </p:nvSpPr>
        <p:spPr>
          <a:xfrm>
            <a:off x="6675120" y="2240280"/>
            <a:ext cx="1417320" cy="1051560"/>
          </a:xfrm>
          <a:prstGeom prst="rect">
            <a:avLst>
              <a:gd name="adj" fmla="val 6957"/>
            </a:avLst>
          </a:prstGeom>
          <a:solidFill>
            <a:srgbClr val="7C5CFC"/>
          </a:solidFill>
          <a:ln w="15875">
            <a:solidFill>
              <a:srgbClr val="7C5CFC"/>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HTTP/2</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Current workhorse</a:t>
            </a:r>
            <a:endParaRPr lang="en-US" sz="1300" dirty="0"/>
          </a:p>
        </p:txBody>
      </p:sp>
      <p:sp>
        <p:nvSpPr>
          <p:cNvPr id="15" name="Text 11"/>
          <p:cNvSpPr/>
          <p:nvPr/>
        </p:nvSpPr>
        <p:spPr>
          <a:xfrm>
            <a:off x="8183880" y="2240280"/>
            <a:ext cx="3383280" cy="1051560"/>
          </a:xfrm>
          <a:prstGeom prst="rect">
            <a:avLst/>
          </a:prstGeom>
          <a:noFill/>
          <a:ln/>
        </p:spPr>
        <p:txBody>
          <a:bodyPr wrap="square" lIns="508" tIns="508" rIns="508" bIns="508" rtlCol="0" anchor="ctr"/>
          <a:lstStyle/>
          <a:p>
            <a:pPr indent="0" marL="0">
              <a:buNone/>
            </a:pPr>
            <a:r>
              <a:rPr lang="en-US" sz="1200" dirty="0">
                <a:solidFill>
                  <a:srgbClr val="1F2937"/>
                </a:solidFill>
                <a:latin typeface="Calibri" pitchFamily="34" charset="0"/>
                <a:ea typeface="Calibri" pitchFamily="34" charset="-122"/>
                <a:cs typeface="Calibri" pitchFamily="34" charset="-120"/>
              </a:rPr>
              <a:t>Most major sites, CDNs (Cloudflare, Akamai) and clouds. Carries the bulk of browsing today.</a:t>
            </a:r>
            <a:endParaRPr lang="en-US" sz="1200" dirty="0"/>
          </a:p>
        </p:txBody>
      </p:sp>
      <p:sp>
        <p:nvSpPr>
          <p:cNvPr id="16" name="Text 12"/>
          <p:cNvSpPr/>
          <p:nvPr/>
        </p:nvSpPr>
        <p:spPr>
          <a:xfrm>
            <a:off x="6675120" y="3337560"/>
            <a:ext cx="4937760" cy="1051560"/>
          </a:xfrm>
          <a:prstGeom prst="roundRect">
            <a:avLst>
              <a:gd name="adj" fmla="val 6957"/>
            </a:avLst>
          </a:prstGeom>
          <a:solidFill>
            <a:srgbClr val="FFFFFF"/>
          </a:solidFill>
          <a:ln w="15875">
            <a:solidFill>
              <a:srgbClr val="F59E0B"/>
            </a:solidFill>
          </a:ln>
        </p:spPr>
        <p:txBody>
          <a:bodyPr wrap="square" lIns="1016" tIns="1016" rIns="1016" bIns="1016" rtlCol="0" anchor="ctr"/>
          <a:lstStyle/>
          <a:p>
            <a:pPr algn="ctr" indent="0" marL="0">
              <a:buNone/>
            </a:pPr>
            <a:endParaRPr lang="en-US" sz="1400" dirty="0"/>
          </a:p>
        </p:txBody>
      </p:sp>
      <p:sp>
        <p:nvSpPr>
          <p:cNvPr id="17" name="Text 13"/>
          <p:cNvSpPr/>
          <p:nvPr/>
        </p:nvSpPr>
        <p:spPr>
          <a:xfrm>
            <a:off x="6675120" y="3337560"/>
            <a:ext cx="1417320" cy="1051560"/>
          </a:xfrm>
          <a:prstGeom prst="rect">
            <a:avLst>
              <a:gd name="adj" fmla="val 6957"/>
            </a:avLst>
          </a:prstGeom>
          <a:solidFill>
            <a:srgbClr val="F59E0B"/>
          </a:solidFill>
          <a:ln w="15875">
            <a:solidFill>
              <a:srgbClr val="F59E0B"/>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HTTP/3</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Modern standard</a:t>
            </a:r>
            <a:endParaRPr lang="en-US" sz="1300" dirty="0"/>
          </a:p>
        </p:txBody>
      </p:sp>
      <p:sp>
        <p:nvSpPr>
          <p:cNvPr id="18" name="Text 14"/>
          <p:cNvSpPr/>
          <p:nvPr/>
        </p:nvSpPr>
        <p:spPr>
          <a:xfrm>
            <a:off x="8183880" y="3337560"/>
            <a:ext cx="3383280" cy="1051560"/>
          </a:xfrm>
          <a:prstGeom prst="rect">
            <a:avLst/>
          </a:prstGeom>
          <a:noFill/>
          <a:ln/>
        </p:spPr>
        <p:txBody>
          <a:bodyPr wrap="square" lIns="508" tIns="508" rIns="508" bIns="508" rtlCol="0" anchor="ctr"/>
          <a:lstStyle/>
          <a:p>
            <a:pPr indent="0" marL="0">
              <a:buNone/>
            </a:pPr>
            <a:r>
              <a:rPr lang="en-US" sz="1200" dirty="0">
                <a:solidFill>
                  <a:srgbClr val="1F2937"/>
                </a:solidFill>
                <a:latin typeface="Calibri" pitchFamily="34" charset="0"/>
                <a:ea typeface="Calibri" pitchFamily="34" charset="-122"/>
                <a:cs typeface="Calibri" pitchFamily="34" charset="-120"/>
              </a:rPr>
              <a:t>Growing fast: Google, YouTube, Meta and Cloudflare serve a large share over QUIC/UDP. On by default in Chrome, Safari, Edge, Firefox.</a:t>
            </a:r>
            <a:endParaRPr lang="en-US" sz="1200" dirty="0"/>
          </a:p>
        </p:txBody>
      </p:sp>
      <p:sp>
        <p:nvSpPr>
          <p:cNvPr id="19" name="Text 15"/>
          <p:cNvSpPr/>
          <p:nvPr/>
        </p:nvSpPr>
        <p:spPr>
          <a:xfrm>
            <a:off x="548640" y="4572000"/>
            <a:ext cx="5486400" cy="256032"/>
          </a:xfrm>
          <a:prstGeom prst="rect">
            <a:avLst/>
          </a:prstGeom>
          <a:noFill/>
          <a:ln/>
        </p:spPr>
        <p:txBody>
          <a:bodyPr wrap="square" lIns="508" tIns="508" rIns="508" bIns="508" rtlCol="0" anchor="ctr"/>
          <a:lstStyle/>
          <a:p>
            <a:pPr indent="0" marL="0">
              <a:buNone/>
            </a:pPr>
            <a:r>
              <a:rPr lang="en-US" sz="1100" b="1" spc="300" kern="0" dirty="0">
                <a:solidFill>
                  <a:srgbClr val="E5484D"/>
                </a:solidFill>
                <a:latin typeface="Calibri" pitchFamily="34" charset="0"/>
                <a:ea typeface="Calibri" pitchFamily="34" charset="-122"/>
                <a:cs typeface="Calibri" pitchFamily="34" charset="-120"/>
              </a:rPr>
              <a:t>WHY NOT 100% HTTP/3 YET?</a:t>
            </a:r>
            <a:endParaRPr lang="en-US" sz="1100" dirty="0"/>
          </a:p>
        </p:txBody>
      </p:sp>
      <p:sp>
        <p:nvSpPr>
          <p:cNvPr id="20" name="Text 16"/>
          <p:cNvSpPr/>
          <p:nvPr/>
        </p:nvSpPr>
        <p:spPr>
          <a:xfrm>
            <a:off x="548640" y="4846320"/>
            <a:ext cx="5440680" cy="868680"/>
          </a:xfrm>
          <a:prstGeom prst="roundRect">
            <a:avLst>
              <a:gd name="adj" fmla="val 8421"/>
            </a:avLst>
          </a:prstGeom>
          <a:solidFill>
            <a:srgbClr val="FDE4E4"/>
          </a:solidFill>
          <a:ln w="15875">
            <a:solidFill>
              <a:srgbClr val="E5484D"/>
            </a:solidFill>
          </a:ln>
        </p:spPr>
        <p:txBody>
          <a:bodyPr wrap="square" lIns="1016" tIns="1016" rIns="1016" bIns="1016" rtlCol="0" anchor="ctr"/>
          <a:lstStyle/>
          <a:p>
            <a:pPr algn="ctr" indent="0" marL="0">
              <a:buNone/>
            </a:pPr>
            <a:endParaRPr lang="en-US" sz="1400" dirty="0"/>
          </a:p>
        </p:txBody>
      </p:sp>
      <p:sp>
        <p:nvSpPr>
          <p:cNvPr id="21" name="Text 17"/>
          <p:cNvSpPr/>
          <p:nvPr/>
        </p:nvSpPr>
        <p:spPr>
          <a:xfrm>
            <a:off x="685800" y="4873752"/>
            <a:ext cx="5120640" cy="320040"/>
          </a:xfrm>
          <a:prstGeom prst="rect">
            <a:avLst/>
          </a:prstGeom>
          <a:noFill/>
          <a:ln/>
        </p:spPr>
        <p:txBody>
          <a:bodyPr wrap="square" lIns="508" tIns="508" rIns="508" bIns="508"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Server &amp; network infrastructure</a:t>
            </a:r>
            <a:endParaRPr lang="en-US" sz="1400" dirty="0"/>
          </a:p>
        </p:txBody>
      </p:sp>
      <p:sp>
        <p:nvSpPr>
          <p:cNvPr id="22" name="Text 18"/>
          <p:cNvSpPr/>
          <p:nvPr/>
        </p:nvSpPr>
        <p:spPr>
          <a:xfrm>
            <a:off x="685800" y="5166360"/>
            <a:ext cx="5166360" cy="530352"/>
          </a:xfrm>
          <a:prstGeom prst="rect">
            <a:avLst/>
          </a:prstGeom>
          <a:noFill/>
          <a:ln/>
        </p:spPr>
        <p:txBody>
          <a:bodyPr wrap="square" lIns="508" tIns="508" rIns="508" bIns="508" rtlCol="0" anchor="t"/>
          <a:lstStyle/>
          <a:p>
            <a:pPr indent="0" marL="0">
              <a:buNone/>
            </a:pPr>
            <a:r>
              <a:rPr lang="en-US" sz="1200" dirty="0">
                <a:solidFill>
                  <a:srgbClr val="1F2937"/>
                </a:solidFill>
                <a:latin typeface="Calibri" pitchFamily="34" charset="0"/>
                <a:ea typeface="Calibri" pitchFamily="34" charset="-122"/>
                <a:cs typeface="Calibri" pitchFamily="34" charset="-120"/>
              </a:rPr>
              <a:t>Older servers, firewalls and enterprise networks may block or misconfigure UDP, forcing fallback to TCP (HTTP/2 or 1.1).</a:t>
            </a:r>
            <a:endParaRPr lang="en-US" sz="1200" dirty="0"/>
          </a:p>
        </p:txBody>
      </p:sp>
      <p:sp>
        <p:nvSpPr>
          <p:cNvPr id="23" name="Text 19"/>
          <p:cNvSpPr/>
          <p:nvPr/>
        </p:nvSpPr>
        <p:spPr>
          <a:xfrm>
            <a:off x="6172200" y="4846320"/>
            <a:ext cx="5440680" cy="868680"/>
          </a:xfrm>
          <a:prstGeom prst="roundRect">
            <a:avLst>
              <a:gd name="adj" fmla="val 8421"/>
            </a:avLst>
          </a:prstGeom>
          <a:solidFill>
            <a:srgbClr val="FDE4E4"/>
          </a:solidFill>
          <a:ln w="15875">
            <a:solidFill>
              <a:srgbClr val="E5484D"/>
            </a:solidFill>
          </a:ln>
        </p:spPr>
        <p:txBody>
          <a:bodyPr wrap="square" lIns="1016" tIns="1016" rIns="1016" bIns="1016" rtlCol="0" anchor="ctr"/>
          <a:lstStyle/>
          <a:p>
            <a:pPr algn="ctr" indent="0" marL="0">
              <a:buNone/>
            </a:pPr>
            <a:endParaRPr lang="en-US" sz="1400" dirty="0"/>
          </a:p>
        </p:txBody>
      </p:sp>
      <p:sp>
        <p:nvSpPr>
          <p:cNvPr id="24" name="Text 20"/>
          <p:cNvSpPr/>
          <p:nvPr/>
        </p:nvSpPr>
        <p:spPr>
          <a:xfrm>
            <a:off x="6309360" y="4873752"/>
            <a:ext cx="5120640" cy="320040"/>
          </a:xfrm>
          <a:prstGeom prst="rect">
            <a:avLst/>
          </a:prstGeom>
          <a:noFill/>
          <a:ln/>
        </p:spPr>
        <p:txBody>
          <a:bodyPr wrap="square" lIns="508" tIns="508" rIns="508" bIns="508"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CPU overhead</a:t>
            </a:r>
            <a:endParaRPr lang="en-US" sz="1400" dirty="0"/>
          </a:p>
        </p:txBody>
      </p:sp>
      <p:sp>
        <p:nvSpPr>
          <p:cNvPr id="25" name="Text 21"/>
          <p:cNvSpPr/>
          <p:nvPr/>
        </p:nvSpPr>
        <p:spPr>
          <a:xfrm>
            <a:off x="6309360" y="5166360"/>
            <a:ext cx="5166360" cy="530352"/>
          </a:xfrm>
          <a:prstGeom prst="rect">
            <a:avLst/>
          </a:prstGeom>
          <a:noFill/>
          <a:ln/>
        </p:spPr>
        <p:txBody>
          <a:bodyPr wrap="square" lIns="508" tIns="508" rIns="508" bIns="508" rtlCol="0" anchor="t"/>
          <a:lstStyle/>
          <a:p>
            <a:pPr indent="0" marL="0">
              <a:buNone/>
            </a:pPr>
            <a:r>
              <a:rPr lang="en-US" sz="1200" dirty="0">
                <a:solidFill>
                  <a:srgbClr val="1F2937"/>
                </a:solidFill>
                <a:latin typeface="Calibri" pitchFamily="34" charset="0"/>
                <a:ea typeface="Calibri" pitchFamily="34" charset="-122"/>
                <a:cs typeface="Calibri" pitchFamily="34" charset="-120"/>
              </a:rPr>
              <a:t>Processing UDP/QUIC takes slightly more server CPU than TCP. Hardware offload and optimisation are closing the gap.</a:t>
            </a:r>
            <a:endParaRPr lang="en-US" sz="1200" dirty="0"/>
          </a:p>
        </p:txBody>
      </p:sp>
      <p:sp>
        <p:nvSpPr>
          <p:cNvPr id="26" name="Shape 22"/>
          <p:cNvSpPr/>
          <p:nvPr/>
        </p:nvSpPr>
        <p:spPr>
          <a:xfrm>
            <a:off x="457200" y="5852160"/>
            <a:ext cx="82296" cy="548640"/>
          </a:xfrm>
          <a:prstGeom prst="rect">
            <a:avLst/>
          </a:prstGeom>
          <a:solidFill>
            <a:srgbClr val="0F9D8F"/>
          </a:solidFill>
          <a:ln/>
        </p:spPr>
      </p:sp>
      <p:sp>
        <p:nvSpPr>
          <p:cNvPr id="27" name="Text 23"/>
          <p:cNvSpPr/>
          <p:nvPr/>
        </p:nvSpPr>
        <p:spPr>
          <a:xfrm>
            <a:off x="594360" y="585216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Tester tip: clients fall back silently, so a test can pass over HTTP/2 while HTTP/3 is broken. Test each version where it matters.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2011680"/>
            <a:ext cx="109728" cy="2011680"/>
          </a:xfrm>
          <a:prstGeom prst="rect">
            <a:avLst/>
          </a:prstGeom>
          <a:solidFill>
            <a:srgbClr val="0F9D8F"/>
          </a:solidFill>
          <a:ln/>
        </p:spPr>
      </p:sp>
      <p:sp>
        <p:nvSpPr>
          <p:cNvPr id="3" name="Text 1"/>
          <p:cNvSpPr/>
          <p:nvPr/>
        </p:nvSpPr>
        <p:spPr>
          <a:xfrm>
            <a:off x="1005840" y="1920240"/>
            <a:ext cx="5486400" cy="457200"/>
          </a:xfrm>
          <a:prstGeom prst="rect">
            <a:avLst/>
          </a:prstGeom>
          <a:noFill/>
          <a:ln/>
        </p:spPr>
        <p:txBody>
          <a:bodyPr wrap="square" lIns="508" tIns="508" rIns="508" bIns="508" rtlCol="0" anchor="ctr"/>
          <a:lstStyle/>
          <a:p>
            <a:pPr indent="0" marL="0">
              <a:buNone/>
            </a:pPr>
            <a:r>
              <a:rPr lang="en-US" sz="1600" b="1" spc="400" kern="0" dirty="0">
                <a:solidFill>
                  <a:srgbClr val="F59E0B"/>
                </a:solidFill>
                <a:latin typeface="Calibri" pitchFamily="34" charset="0"/>
                <a:ea typeface="Calibri" pitchFamily="34" charset="-122"/>
                <a:cs typeface="Calibri" pitchFamily="34" charset="-120"/>
              </a:rPr>
              <a:t>PART 4</a:t>
            </a:r>
            <a:endParaRPr lang="en-US" sz="1600" dirty="0"/>
          </a:p>
        </p:txBody>
      </p:sp>
      <p:sp>
        <p:nvSpPr>
          <p:cNvPr id="4" name="Text 2"/>
          <p:cNvSpPr/>
          <p:nvPr/>
        </p:nvSpPr>
        <p:spPr>
          <a:xfrm>
            <a:off x="1005840" y="2377440"/>
            <a:ext cx="10058400" cy="1005840"/>
          </a:xfrm>
          <a:prstGeom prst="rect">
            <a:avLst/>
          </a:prstGeom>
          <a:noFill/>
          <a:ln/>
        </p:spPr>
        <p:txBody>
          <a:bodyPr wrap="square" lIns="508" tIns="508" rIns="508" bIns="508"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From web pages to APIs</a:t>
            </a:r>
            <a:endParaRPr lang="en-US" sz="4400" dirty="0"/>
          </a:p>
        </p:txBody>
      </p:sp>
      <p:sp>
        <p:nvSpPr>
          <p:cNvPr id="5" name="Text 3"/>
          <p:cNvSpPr/>
          <p:nvPr/>
        </p:nvSpPr>
        <p:spPr>
          <a:xfrm>
            <a:off x="1005840" y="3383280"/>
            <a:ext cx="9601200" cy="731520"/>
          </a:xfrm>
          <a:prstGeom prst="rect">
            <a:avLst/>
          </a:prstGeom>
          <a:noFill/>
          <a:ln/>
        </p:spPr>
        <p:txBody>
          <a:bodyPr wrap="square" lIns="508" tIns="508" rIns="508" bIns="508" rtlCol="0" anchor="ctr"/>
          <a:lstStyle/>
          <a:p>
            <a:pPr indent="0" marL="0">
              <a:buNone/>
            </a:pPr>
            <a:r>
              <a:rPr lang="en-US" sz="2000" dirty="0">
                <a:solidFill>
                  <a:srgbClr val="9FB3C8"/>
                </a:solidFill>
                <a:latin typeface="Calibri" pitchFamily="34" charset="0"/>
                <a:ea typeface="Calibri" pitchFamily="34" charset="-122"/>
                <a:cs typeface="Calibri" pitchFamily="34" charset="-120"/>
              </a:rPr>
              <a:t>Programs talking to programs: RPC, SOAP, REST, GraphQL, gRPC</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next leap: machines, not people, as clients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39</a:t>
            </a:r>
            <a:endParaRPr lang="en-US" sz="1000" dirty="0"/>
          </a:p>
        </p:txBody>
      </p:sp>
      <p:sp>
        <p:nvSpPr>
          <p:cNvPr id="8" name="Text 5"/>
          <p:cNvSpPr/>
          <p:nvPr/>
        </p:nvSpPr>
        <p:spPr>
          <a:xfrm>
            <a:off x="640080" y="1828800"/>
            <a:ext cx="2560320" cy="1463040"/>
          </a:xfrm>
          <a:prstGeom prst="roundRect">
            <a:avLst>
              <a:gd name="adj" fmla="val 5000"/>
            </a:avLst>
          </a:prstGeom>
          <a:solidFill>
            <a:srgbClr val="E0ECFF"/>
          </a:solidFill>
          <a:ln w="15875">
            <a:solidFill>
              <a:srgbClr val="3B82F6"/>
            </a:solidFill>
          </a:ln>
        </p:spPr>
        <p:txBody>
          <a:bodyPr wrap="square" lIns="1016" tIns="1016" rIns="1016" bIns="1016"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 Customer</a:t>
            </a:r>
            <a:endParaRPr lang="en-US" sz="1600" dirty="0"/>
          </a:p>
          <a:p>
            <a:pPr algn="ctr" indent="0" marL="0">
              <a:buNone/>
            </a:pPr>
            <a:r>
              <a:rPr lang="en-US" sz="1600" b="1" dirty="0">
                <a:solidFill>
                  <a:srgbClr val="1F2937"/>
                </a:solidFill>
                <a:latin typeface="Calibri" pitchFamily="34" charset="0"/>
                <a:ea typeface="Calibri" pitchFamily="34" charset="-122"/>
                <a:cs typeface="Calibri" pitchFamily="34" charset="-120"/>
              </a:rPr>
              <a:t>(client app)</a:t>
            </a:r>
            <a:endParaRPr lang="en-US" sz="1600" dirty="0"/>
          </a:p>
        </p:txBody>
      </p:sp>
      <p:sp>
        <p:nvSpPr>
          <p:cNvPr id="9" name="Text 6"/>
          <p:cNvSpPr/>
          <p:nvPr/>
        </p:nvSpPr>
        <p:spPr>
          <a:xfrm>
            <a:off x="4572000" y="1828800"/>
            <a:ext cx="3017520" cy="1463040"/>
          </a:xfrm>
          <a:prstGeom prst="roundRect">
            <a:avLst>
              <a:gd name="adj" fmla="val 5000"/>
            </a:avLst>
          </a:prstGeom>
          <a:solidFill>
            <a:srgbClr val="FEF3C7"/>
          </a:solidFill>
          <a:ln w="15875">
            <a:solidFill>
              <a:srgbClr val="F59E0B"/>
            </a:solidFill>
          </a:ln>
        </p:spPr>
        <p:txBody>
          <a:bodyPr wrap="square" lIns="1016" tIns="1016" rIns="1016" bIns="1016"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 Menu + 🧑‍🍳 Waiter</a:t>
            </a:r>
            <a:endParaRPr lang="en-US" sz="1600" dirty="0"/>
          </a:p>
          <a:p>
            <a:pPr algn="ctr" indent="0" marL="0">
              <a:buNone/>
            </a:pPr>
            <a:r>
              <a:rPr lang="en-US" sz="1600" b="1" dirty="0">
                <a:solidFill>
                  <a:srgbClr val="1F2937"/>
                </a:solidFill>
                <a:latin typeface="Calibri" pitchFamily="34" charset="0"/>
                <a:ea typeface="Calibri" pitchFamily="34" charset="-122"/>
                <a:cs typeface="Calibri" pitchFamily="34" charset="-120"/>
              </a:rPr>
              <a:t>= the API</a:t>
            </a:r>
            <a:endParaRPr lang="en-US" sz="1600" dirty="0"/>
          </a:p>
        </p:txBody>
      </p:sp>
      <p:sp>
        <p:nvSpPr>
          <p:cNvPr id="10" name="Text 7"/>
          <p:cNvSpPr/>
          <p:nvPr/>
        </p:nvSpPr>
        <p:spPr>
          <a:xfrm>
            <a:off x="8961120" y="1828800"/>
            <a:ext cx="2651760" cy="1463040"/>
          </a:xfrm>
          <a:prstGeom prst="roundRect">
            <a:avLst>
              <a:gd name="adj" fmla="val 5000"/>
            </a:avLst>
          </a:prstGeom>
          <a:solidFill>
            <a:srgbClr val="DDF4F0"/>
          </a:solidFill>
          <a:ln w="15875">
            <a:solidFill>
              <a:srgbClr val="0F9D8F"/>
            </a:solidFill>
          </a:ln>
        </p:spPr>
        <p:txBody>
          <a:bodyPr wrap="square" lIns="1016" tIns="1016" rIns="1016" bIns="1016"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 Kitchen</a:t>
            </a:r>
            <a:endParaRPr lang="en-US" sz="1600" dirty="0"/>
          </a:p>
          <a:p>
            <a:pPr algn="ctr" indent="0" marL="0">
              <a:buNone/>
            </a:pPr>
            <a:r>
              <a:rPr lang="en-US" sz="1600" b="1" dirty="0">
                <a:solidFill>
                  <a:srgbClr val="1F2937"/>
                </a:solidFill>
                <a:latin typeface="Calibri" pitchFamily="34" charset="0"/>
                <a:ea typeface="Calibri" pitchFamily="34" charset="-122"/>
                <a:cs typeface="Calibri" pitchFamily="34" charset="-120"/>
              </a:rPr>
              <a:t>(server, database, logic)</a:t>
            </a:r>
            <a:endParaRPr lang="en-US" sz="1600" dirty="0"/>
          </a:p>
        </p:txBody>
      </p:sp>
      <p:sp>
        <p:nvSpPr>
          <p:cNvPr id="11" name="Shape 8"/>
          <p:cNvSpPr/>
          <p:nvPr/>
        </p:nvSpPr>
        <p:spPr>
          <a:xfrm>
            <a:off x="3200400" y="2560320"/>
            <a:ext cx="1371600" cy="0"/>
          </a:xfrm>
          <a:prstGeom prst="line">
            <a:avLst/>
          </a:prstGeom>
          <a:noFill/>
          <a:ln w="25400">
            <a:solidFill>
              <a:srgbClr val="3B82F6"/>
            </a:solidFill>
            <a:prstDash val="solid"/>
            <a:tailEnd type="triangle"/>
          </a:ln>
        </p:spPr>
      </p:sp>
      <p:sp>
        <p:nvSpPr>
          <p:cNvPr id="12" name="Shape 9"/>
          <p:cNvSpPr/>
          <p:nvPr/>
        </p:nvSpPr>
        <p:spPr>
          <a:xfrm>
            <a:off x="7589520" y="2560320"/>
            <a:ext cx="1371600" cy="0"/>
          </a:xfrm>
          <a:prstGeom prst="line">
            <a:avLst/>
          </a:prstGeom>
          <a:noFill/>
          <a:ln w="25400">
            <a:solidFill>
              <a:srgbClr val="0F9D8F"/>
            </a:solidFill>
            <a:prstDash val="solid"/>
            <a:tailEnd type="triangle"/>
          </a:ln>
        </p:spPr>
      </p:sp>
      <p:sp>
        <p:nvSpPr>
          <p:cNvPr id="13" name="Text 10"/>
          <p:cNvSpPr/>
          <p:nvPr/>
        </p:nvSpPr>
        <p:spPr>
          <a:xfrm>
            <a:off x="640080" y="3566160"/>
            <a:ext cx="10972800" cy="457200"/>
          </a:xfrm>
          <a:prstGeom prst="rect">
            <a:avLst/>
          </a:prstGeom>
          <a:noFill/>
          <a:ln/>
        </p:spPr>
        <p:txBody>
          <a:bodyPr wrap="square" lIns="508" tIns="508" rIns="508" bIns="508"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You see only what the menu offers. You do not need to know how the kitchen works.</a:t>
            </a:r>
            <a:endParaRPr lang="en-US" sz="1600" dirty="0"/>
          </a:p>
        </p:txBody>
      </p:sp>
      <p:sp>
        <p:nvSpPr>
          <p:cNvPr id="14" name="Text 11"/>
          <p:cNvSpPr/>
          <p:nvPr/>
        </p:nvSpPr>
        <p:spPr>
          <a:xfrm>
            <a:off x="548640" y="3977640"/>
            <a:ext cx="5486400" cy="256032"/>
          </a:xfrm>
          <a:prstGeom prst="rect">
            <a:avLst/>
          </a:prstGeom>
          <a:noFill/>
          <a:ln/>
        </p:spPr>
        <p:txBody>
          <a:bodyPr wrap="square" lIns="508" tIns="508" rIns="508" bIns="508" rtlCol="0" anchor="ctr"/>
          <a:lstStyle/>
          <a:p>
            <a:pPr indent="0" marL="0">
              <a:buNone/>
            </a:pPr>
            <a:r>
              <a:rPr lang="en-US" sz="1100" b="1" spc="300" kern="0" dirty="0">
                <a:solidFill>
                  <a:srgbClr val="0F9D8F"/>
                </a:solidFill>
                <a:latin typeface="Calibri" pitchFamily="34" charset="0"/>
                <a:ea typeface="Calibri" pitchFamily="34" charset="-122"/>
                <a:cs typeface="Calibri" pitchFamily="34" charset="-120"/>
              </a:rPr>
              <a:t>HOW API STYLES EVOLVED</a:t>
            </a:r>
            <a:endParaRPr lang="en-US" sz="1100" dirty="0"/>
          </a:p>
        </p:txBody>
      </p:sp>
      <p:sp>
        <p:nvSpPr>
          <p:cNvPr id="15" name="Text 12"/>
          <p:cNvSpPr/>
          <p:nvPr/>
        </p:nvSpPr>
        <p:spPr>
          <a:xfrm>
            <a:off x="548640" y="4297680"/>
            <a:ext cx="15087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1980s</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RPC</a:t>
            </a:r>
            <a:endParaRPr lang="en-US" sz="1400" dirty="0"/>
          </a:p>
        </p:txBody>
      </p:sp>
      <p:sp>
        <p:nvSpPr>
          <p:cNvPr id="16" name="Text 13"/>
          <p:cNvSpPr/>
          <p:nvPr/>
        </p:nvSpPr>
        <p:spPr>
          <a:xfrm>
            <a:off x="548640" y="5212080"/>
            <a:ext cx="1508760" cy="640080"/>
          </a:xfrm>
          <a:prstGeom prst="rect">
            <a:avLst/>
          </a:prstGeom>
          <a:noFill/>
          <a:ln/>
        </p:spPr>
        <p:txBody>
          <a:bodyPr wrap="square" lIns="508" tIns="508" rIns="508" bIns="508"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call a remote function</a:t>
            </a:r>
            <a:endParaRPr lang="en-US" sz="1100" dirty="0"/>
          </a:p>
        </p:txBody>
      </p:sp>
      <p:sp>
        <p:nvSpPr>
          <p:cNvPr id="17" name="Shape 14"/>
          <p:cNvSpPr/>
          <p:nvPr/>
        </p:nvSpPr>
        <p:spPr>
          <a:xfrm>
            <a:off x="2057400" y="4727448"/>
            <a:ext cx="91440" cy="0"/>
          </a:xfrm>
          <a:prstGeom prst="line">
            <a:avLst/>
          </a:prstGeom>
          <a:noFill/>
          <a:ln w="25400">
            <a:solidFill>
              <a:srgbClr val="CBD5E1"/>
            </a:solidFill>
            <a:prstDash val="solid"/>
            <a:tailEnd type="triangle"/>
          </a:ln>
        </p:spPr>
      </p:sp>
      <p:sp>
        <p:nvSpPr>
          <p:cNvPr id="18" name="Text 15"/>
          <p:cNvSpPr/>
          <p:nvPr/>
        </p:nvSpPr>
        <p:spPr>
          <a:xfrm>
            <a:off x="2148840" y="4297680"/>
            <a:ext cx="15087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1991</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CORBA</a:t>
            </a:r>
            <a:endParaRPr lang="en-US" sz="1400" dirty="0"/>
          </a:p>
        </p:txBody>
      </p:sp>
      <p:sp>
        <p:nvSpPr>
          <p:cNvPr id="19" name="Text 16"/>
          <p:cNvSpPr/>
          <p:nvPr/>
        </p:nvSpPr>
        <p:spPr>
          <a:xfrm>
            <a:off x="2148840" y="5212080"/>
            <a:ext cx="1508760" cy="640080"/>
          </a:xfrm>
          <a:prstGeom prst="rect">
            <a:avLst/>
          </a:prstGeom>
          <a:noFill/>
          <a:ln/>
        </p:spPr>
        <p:txBody>
          <a:bodyPr wrap="square" lIns="508" tIns="508" rIns="508" bIns="508"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heavy distributed objects</a:t>
            </a:r>
            <a:endParaRPr lang="en-US" sz="1100" dirty="0"/>
          </a:p>
        </p:txBody>
      </p:sp>
      <p:sp>
        <p:nvSpPr>
          <p:cNvPr id="20" name="Shape 17"/>
          <p:cNvSpPr/>
          <p:nvPr/>
        </p:nvSpPr>
        <p:spPr>
          <a:xfrm>
            <a:off x="3657600" y="4727448"/>
            <a:ext cx="91440" cy="0"/>
          </a:xfrm>
          <a:prstGeom prst="line">
            <a:avLst/>
          </a:prstGeom>
          <a:noFill/>
          <a:ln w="25400">
            <a:solidFill>
              <a:srgbClr val="CBD5E1"/>
            </a:solidFill>
            <a:prstDash val="solid"/>
            <a:tailEnd type="triangle"/>
          </a:ln>
        </p:spPr>
      </p:sp>
      <p:sp>
        <p:nvSpPr>
          <p:cNvPr id="21" name="Text 18"/>
          <p:cNvSpPr/>
          <p:nvPr/>
        </p:nvSpPr>
        <p:spPr>
          <a:xfrm>
            <a:off x="3749040" y="4297680"/>
            <a:ext cx="15087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1998</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XML-RPC</a:t>
            </a:r>
            <a:endParaRPr lang="en-US" sz="1400" dirty="0"/>
          </a:p>
        </p:txBody>
      </p:sp>
      <p:sp>
        <p:nvSpPr>
          <p:cNvPr id="22" name="Text 19"/>
          <p:cNvSpPr/>
          <p:nvPr/>
        </p:nvSpPr>
        <p:spPr>
          <a:xfrm>
            <a:off x="3749040" y="5212080"/>
            <a:ext cx="1508760" cy="640080"/>
          </a:xfrm>
          <a:prstGeom prst="rect">
            <a:avLst/>
          </a:prstGeom>
          <a:noFill/>
          <a:ln/>
        </p:spPr>
        <p:txBody>
          <a:bodyPr wrap="square" lIns="508" tIns="508" rIns="508" bIns="508"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XML over HTTP</a:t>
            </a:r>
            <a:endParaRPr lang="en-US" sz="1100" dirty="0"/>
          </a:p>
        </p:txBody>
      </p:sp>
      <p:sp>
        <p:nvSpPr>
          <p:cNvPr id="23" name="Shape 20"/>
          <p:cNvSpPr/>
          <p:nvPr/>
        </p:nvSpPr>
        <p:spPr>
          <a:xfrm>
            <a:off x="5257800" y="4727448"/>
            <a:ext cx="91440" cy="0"/>
          </a:xfrm>
          <a:prstGeom prst="line">
            <a:avLst/>
          </a:prstGeom>
          <a:noFill/>
          <a:ln w="25400">
            <a:solidFill>
              <a:srgbClr val="CBD5E1"/>
            </a:solidFill>
            <a:prstDash val="solid"/>
            <a:tailEnd type="triangle"/>
          </a:ln>
        </p:spPr>
      </p:sp>
      <p:sp>
        <p:nvSpPr>
          <p:cNvPr id="24" name="Text 21"/>
          <p:cNvSpPr/>
          <p:nvPr/>
        </p:nvSpPr>
        <p:spPr>
          <a:xfrm>
            <a:off x="5349240" y="4297680"/>
            <a:ext cx="15087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1998-2000</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SOAP</a:t>
            </a:r>
            <a:endParaRPr lang="en-US" sz="1400" dirty="0"/>
          </a:p>
        </p:txBody>
      </p:sp>
      <p:sp>
        <p:nvSpPr>
          <p:cNvPr id="25" name="Text 22"/>
          <p:cNvSpPr/>
          <p:nvPr/>
        </p:nvSpPr>
        <p:spPr>
          <a:xfrm>
            <a:off x="5349240" y="5212080"/>
            <a:ext cx="1508760" cy="640080"/>
          </a:xfrm>
          <a:prstGeom prst="rect">
            <a:avLst/>
          </a:prstGeom>
          <a:noFill/>
          <a:ln/>
        </p:spPr>
        <p:txBody>
          <a:bodyPr wrap="square" lIns="508" tIns="508" rIns="508" bIns="508"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XML envelope + WSDL contract</a:t>
            </a:r>
            <a:endParaRPr lang="en-US" sz="1100" dirty="0"/>
          </a:p>
        </p:txBody>
      </p:sp>
      <p:sp>
        <p:nvSpPr>
          <p:cNvPr id="26" name="Shape 23"/>
          <p:cNvSpPr/>
          <p:nvPr/>
        </p:nvSpPr>
        <p:spPr>
          <a:xfrm>
            <a:off x="6858000" y="4727448"/>
            <a:ext cx="91440" cy="0"/>
          </a:xfrm>
          <a:prstGeom prst="line">
            <a:avLst/>
          </a:prstGeom>
          <a:noFill/>
          <a:ln w="25400">
            <a:solidFill>
              <a:srgbClr val="CBD5E1"/>
            </a:solidFill>
            <a:prstDash val="solid"/>
            <a:tailEnd type="triangle"/>
          </a:ln>
        </p:spPr>
      </p:sp>
      <p:sp>
        <p:nvSpPr>
          <p:cNvPr id="27" name="Text 24"/>
          <p:cNvSpPr/>
          <p:nvPr/>
        </p:nvSpPr>
        <p:spPr>
          <a:xfrm>
            <a:off x="6949440" y="4297680"/>
            <a:ext cx="1508760" cy="868680"/>
          </a:xfrm>
          <a:prstGeom prst="rect">
            <a:avLst>
              <a:gd name="adj" fmla="val 8421"/>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2000</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REST</a:t>
            </a:r>
            <a:endParaRPr lang="en-US" sz="1400" dirty="0"/>
          </a:p>
        </p:txBody>
      </p:sp>
      <p:sp>
        <p:nvSpPr>
          <p:cNvPr id="28" name="Text 25"/>
          <p:cNvSpPr/>
          <p:nvPr/>
        </p:nvSpPr>
        <p:spPr>
          <a:xfrm>
            <a:off x="6949440" y="5212080"/>
            <a:ext cx="1508760" cy="640080"/>
          </a:xfrm>
          <a:prstGeom prst="rect">
            <a:avLst/>
          </a:prstGeom>
          <a:noFill/>
          <a:ln/>
        </p:spPr>
        <p:txBody>
          <a:bodyPr wrap="square" lIns="508" tIns="508" rIns="508" bIns="508"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use HTTP as designed</a:t>
            </a:r>
            <a:endParaRPr lang="en-US" sz="1100" dirty="0"/>
          </a:p>
        </p:txBody>
      </p:sp>
      <p:sp>
        <p:nvSpPr>
          <p:cNvPr id="29" name="Shape 26"/>
          <p:cNvSpPr/>
          <p:nvPr/>
        </p:nvSpPr>
        <p:spPr>
          <a:xfrm>
            <a:off x="8458200" y="4727448"/>
            <a:ext cx="91440" cy="0"/>
          </a:xfrm>
          <a:prstGeom prst="line">
            <a:avLst/>
          </a:prstGeom>
          <a:noFill/>
          <a:ln w="25400">
            <a:solidFill>
              <a:srgbClr val="CBD5E1"/>
            </a:solidFill>
            <a:prstDash val="solid"/>
            <a:tailEnd type="triangle"/>
          </a:ln>
        </p:spPr>
      </p:sp>
      <p:sp>
        <p:nvSpPr>
          <p:cNvPr id="30" name="Text 27"/>
          <p:cNvSpPr/>
          <p:nvPr/>
        </p:nvSpPr>
        <p:spPr>
          <a:xfrm>
            <a:off x="8549640" y="4297680"/>
            <a:ext cx="1508760" cy="868680"/>
          </a:xfrm>
          <a:prstGeom prst="rect">
            <a:avLst>
              <a:gd name="adj" fmla="val 8421"/>
            </a:avLst>
          </a:prstGeom>
          <a:solidFill>
            <a:srgbClr val="7C5CFC"/>
          </a:solidFill>
          <a:ln w="15875">
            <a:solidFill>
              <a:srgbClr val="7C5CFC"/>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2015</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GraphQL</a:t>
            </a:r>
            <a:endParaRPr lang="en-US" sz="1400" dirty="0"/>
          </a:p>
        </p:txBody>
      </p:sp>
      <p:sp>
        <p:nvSpPr>
          <p:cNvPr id="31" name="Text 28"/>
          <p:cNvSpPr/>
          <p:nvPr/>
        </p:nvSpPr>
        <p:spPr>
          <a:xfrm>
            <a:off x="8549640" y="5212080"/>
            <a:ext cx="1508760" cy="640080"/>
          </a:xfrm>
          <a:prstGeom prst="rect">
            <a:avLst/>
          </a:prstGeom>
          <a:noFill/>
          <a:ln/>
        </p:spPr>
        <p:txBody>
          <a:bodyPr wrap="square" lIns="508" tIns="508" rIns="508" bIns="508"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ask for exactly the fields you need</a:t>
            </a:r>
            <a:endParaRPr lang="en-US" sz="1100" dirty="0"/>
          </a:p>
        </p:txBody>
      </p:sp>
      <p:sp>
        <p:nvSpPr>
          <p:cNvPr id="32" name="Shape 29"/>
          <p:cNvSpPr/>
          <p:nvPr/>
        </p:nvSpPr>
        <p:spPr>
          <a:xfrm>
            <a:off x="10058400" y="4727448"/>
            <a:ext cx="91440" cy="0"/>
          </a:xfrm>
          <a:prstGeom prst="line">
            <a:avLst/>
          </a:prstGeom>
          <a:noFill/>
          <a:ln w="25400">
            <a:solidFill>
              <a:srgbClr val="CBD5E1"/>
            </a:solidFill>
            <a:prstDash val="solid"/>
            <a:tailEnd type="triangle"/>
          </a:ln>
        </p:spPr>
      </p:sp>
      <p:sp>
        <p:nvSpPr>
          <p:cNvPr id="33" name="Text 30"/>
          <p:cNvSpPr/>
          <p:nvPr/>
        </p:nvSpPr>
        <p:spPr>
          <a:xfrm>
            <a:off x="10149840" y="4297680"/>
            <a:ext cx="1508760" cy="868680"/>
          </a:xfrm>
          <a:prstGeom prst="rect">
            <a:avLst>
              <a:gd name="adj" fmla="val 8421"/>
            </a:avLst>
          </a:prstGeom>
          <a:solidFill>
            <a:srgbClr val="E5484D"/>
          </a:solidFill>
          <a:ln w="15875">
            <a:solidFill>
              <a:srgbClr val="E5484D"/>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2015</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gRPC</a:t>
            </a:r>
            <a:endParaRPr lang="en-US" sz="1400" dirty="0"/>
          </a:p>
        </p:txBody>
      </p:sp>
      <p:sp>
        <p:nvSpPr>
          <p:cNvPr id="34" name="Text 31"/>
          <p:cNvSpPr/>
          <p:nvPr/>
        </p:nvSpPr>
        <p:spPr>
          <a:xfrm>
            <a:off x="10149840" y="5212080"/>
            <a:ext cx="1508760" cy="640080"/>
          </a:xfrm>
          <a:prstGeom prst="rect">
            <a:avLst/>
          </a:prstGeom>
          <a:noFill/>
          <a:ln/>
        </p:spPr>
        <p:txBody>
          <a:bodyPr wrap="square" lIns="508" tIns="508" rIns="508" bIns="508"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fast binary RPC over HTTP/2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40 years of APIs: what it was, how it worked, the catch</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40</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286000"/>
                <a:gridCol w="2743200"/>
                <a:gridCol w="3017520"/>
                <a:gridCol w="30175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Era</a:t>
                      </a:r>
                      <a:endParaRPr lang="en-US" sz="13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was</a:t>
                      </a:r>
                      <a:endParaRPr lang="en-US" sz="13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worked</a:t>
                      </a:r>
                      <a:endParaRPr lang="en-US" sz="13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catch</a:t>
                      </a:r>
                      <a:endParaRPr lang="en-US" sz="13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5484D"/>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1980s  RPC
</a:t>
                      </a:r>
                      <a:pPr indent="0" marL="0">
                        <a:buNone/>
                      </a:pPr>
                      <a:r>
                        <a:rPr lang="en-US" sz="1000" i="1" dirty="0">
                          <a:solidFill>
                            <a:srgbClr val="FFFFFF"/>
                          </a:solidFill>
                          <a:latin typeface="Calibri" pitchFamily="34" charset="0"/>
                          <a:ea typeface="Calibri" pitchFamily="34" charset="-122"/>
                          <a:cs typeface="Calibri" pitchFamily="34" charset="-120"/>
                        </a:rPr>
                        <a:t>"Pretend the remote server is local"</a:t>
                      </a:r>
                      <a:endParaRPr lang="en-US" sz="12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64748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Remote Procedure Call: the first attempt to run code on another computer.</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Call a function as if it lived on your machine, though it ran across the network.</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Locked to specific languages and hardware. C server + Fortran client = broken.</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4E4"/>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1991  CORBA
</a:t>
                      </a:r>
                      <a:pPr indent="0" marL="0">
                        <a:buNone/>
                      </a:pPr>
                      <a:r>
                        <a:rPr lang="en-US" sz="1000" i="1" dirty="0">
                          <a:solidFill>
                            <a:srgbClr val="FFFFFF"/>
                          </a:solidFill>
                          <a:latin typeface="Calibri" pitchFamily="34" charset="0"/>
                          <a:ea typeface="Calibri" pitchFamily="34" charset="-122"/>
                          <a:cs typeface="Calibri" pitchFamily="34" charset="-120"/>
                        </a:rPr>
                        <a:t>"Universal enterprise heavyweight"</a:t>
                      </a:r>
                      <a:endParaRPr lang="en-US" sz="12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3B82F6"/>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Common Object Request Broker Architecture: one standard so any language talks to any language.</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 central broker plus rigid interface files translate calls between systems.</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Bloated, hard to set up, a nightmare through firewalls. Buckled under its own weight.</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4E4"/>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1998  XML-RPC
</a:t>
                      </a:r>
                      <a:pPr indent="0" marL="0">
                        <a:buNone/>
                      </a:pPr>
                      <a:r>
                        <a:rPr lang="en-US" sz="1000" i="1" dirty="0">
                          <a:solidFill>
                            <a:srgbClr val="FFFFFF"/>
                          </a:solidFill>
                          <a:latin typeface="Calibri" pitchFamily="34" charset="0"/>
                          <a:ea typeface="Calibri" pitchFamily="34" charset="-122"/>
                          <a:cs typeface="Calibri" pitchFamily="34" charset="-120"/>
                        </a:rPr>
                        <a:t>"Let's use the web instead"</a:t>
                      </a:r>
                      <a:endParaRPr lang="en-US" sz="12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9D8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CORBA stripped down to standard HTTP plus XML text.</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Wrap the function call in an XML document and send it as an HTTP POST.</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XML is verbose and heavy. Proved HTTP was the right transport; needed a sturdier framework.</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4E4"/>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1998-2000  SOAP
</a:t>
                      </a:r>
                      <a:pPr indent="0" marL="0">
                        <a:buNone/>
                      </a:pPr>
                      <a:r>
                        <a:rPr lang="en-US" sz="1000" i="1" dirty="0">
                          <a:solidFill>
                            <a:srgbClr val="FFFFFF"/>
                          </a:solidFill>
                          <a:latin typeface="Calibri" pitchFamily="34" charset="0"/>
                          <a:ea typeface="Calibri" pitchFamily="34" charset="-122"/>
                          <a:cs typeface="Calibri" pitchFamily="34" charset="-120"/>
                        </a:rPr>
                        <a:t>"Corporate enterprise standard"</a:t>
                      </a:r>
                      <a:endParaRPr lang="en-US" sz="12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7C5C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Simple Object Access Protocol (neither simple nor object-based): XML-RPC plus thousands of pages of rules.</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Built-in security, transaction guarantees and auto-generated contracts (WSDL).</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Bureaucratic: a simple lookup needs a block of boilerplate XML. Symbol of over-engineering.</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4E4"/>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2000  REST
</a:t>
                      </a:r>
                      <a:pPr indent="0" marL="0">
                        <a:buNone/>
                      </a:pPr>
                      <a:r>
                        <a:rPr lang="en-US" sz="1000" i="1" dirty="0">
                          <a:solidFill>
                            <a:srgbClr val="FFFFFF"/>
                          </a:solidFill>
                          <a:latin typeface="Calibri" pitchFamily="34" charset="0"/>
                          <a:ea typeface="Calibri" pitchFamily="34" charset="-122"/>
                          <a:cs typeface="Calibri" pitchFamily="34" charset="-120"/>
                        </a:rPr>
                        <a:t>"Back to simplicity"</a:t>
                      </a:r>
                      <a:endParaRPr lang="en-US" sz="12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9E0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Roy Fielding's style: copy how the real World Wide Web works.</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Everything is a resource (noun). Use HTTP verbs: GET reads, POST creates, DELETE removes. Light JSON or XML.</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WHY IT WON: intuitive, human-readable, scales easily. Backbone of public web and mobile APIs.</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2015  GraphQL
</a:t>
                      </a:r>
                      <a:pPr indent="0" marL="0">
                        <a:buNone/>
                      </a:pPr>
                      <a:r>
                        <a:rPr lang="en-US" sz="1000" i="1" dirty="0">
                          <a:solidFill>
                            <a:srgbClr val="FFFFFF"/>
                          </a:solidFill>
                          <a:latin typeface="Calibri" pitchFamily="34" charset="0"/>
                          <a:ea typeface="Calibri" pitchFamily="34" charset="-122"/>
                          <a:cs typeface="Calibri" pitchFamily="34" charset="-120"/>
                        </a:rPr>
                        <a:t>"Ask for exactly what you want"</a:t>
                      </a:r>
                      <a:endParaRPr lang="en-US" sz="12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5484D"/>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Facebook's fix for REST over-fetching (too much data) and under-fetching (too little).</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Client sends a query describing the exact JSON shape it wants. Server returns only that.</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Pushes query parsing and optimisation onto the server. Caching is trickier than REST.</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4E4"/>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2015  gRPC
</a:t>
                      </a:r>
                      <a:pPr indent="0" marL="0">
                        <a:buNone/>
                      </a:pPr>
                      <a:r>
                        <a:rPr lang="en-US" sz="1000" i="1" dirty="0">
                          <a:solidFill>
                            <a:srgbClr val="FFFFFF"/>
                          </a:solidFill>
                          <a:latin typeface="Calibri" pitchFamily="34" charset="0"/>
                          <a:ea typeface="Calibri" pitchFamily="34" charset="-122"/>
                          <a:cs typeface="Calibri" pitchFamily="34" charset="-120"/>
                        </a:rPr>
                        <a:t>"High-speed internal microservices"</a:t>
                      </a:r>
                      <a:endParaRPr lang="en-US" sz="12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Google's modern RPC, built for speed and backend systems.</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Compact binary Protocol Buffers over HTTP/2. No human-readable text at all.</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WHERE IT SHINES: internal microservices. Rarely used where humans must read the traffic.</a:t>
                      </a:r>
                      <a:endParaRPr lang="en-US" sz="1100" dirty="0">
                        <a:latin typeface="Calibri" charset="0"/>
                        <a:ea typeface="Calibri" charset="0"/>
                        <a:cs typeface="Calibri" charset="0"/>
                      </a:endParaRPr>
                    </a:p>
                  </a:txBody>
                  <a:tcPr marL="63500" marR="635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r>
            </a:tbl>
          </a:graphicData>
        </a:graphic>
      </p:graphicFrame>
      <p:sp>
        <p:nvSpPr>
          <p:cNvPr id="9" name="Shape 5"/>
          <p:cNvSpPr/>
          <p:nvPr/>
        </p:nvSpPr>
        <p:spPr>
          <a:xfrm>
            <a:off x="457200" y="6053328"/>
            <a:ext cx="82296" cy="548640"/>
          </a:xfrm>
          <a:prstGeom prst="rect">
            <a:avLst/>
          </a:prstGeom>
          <a:solidFill>
            <a:srgbClr val="0F9D8F"/>
          </a:solidFill>
          <a:ln/>
        </p:spPr>
      </p:sp>
      <p:sp>
        <p:nvSpPr>
          <p:cNvPr id="10" name="Text 6"/>
          <p:cNvSpPr/>
          <p:nvPr/>
        </p:nvSpPr>
        <p:spPr>
          <a:xfrm>
            <a:off x="594360" y="6053328"/>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Each step fixed the pain of the one before it. The pendulum swings between powerful-but-heavy and simple-but-limited.</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SOAP: powerful, but heavy (1998-2000s)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41</a:t>
            </a:r>
            <a:endParaRPr lang="en-US" sz="1000" dirty="0"/>
          </a:p>
        </p:txBody>
      </p:sp>
      <p:sp>
        <p:nvSpPr>
          <p:cNvPr id="8" name="Text 5"/>
          <p:cNvSpPr/>
          <p:nvPr/>
        </p:nvSpPr>
        <p:spPr>
          <a:xfrm>
            <a:off x="548640" y="1143000"/>
            <a:ext cx="5486400" cy="365760"/>
          </a:xfrm>
          <a:prstGeom prst="rect">
            <a:avLst/>
          </a:prstGeom>
          <a:noFill/>
          <a:ln/>
        </p:spPr>
        <p:txBody>
          <a:bodyPr wrap="square" lIns="508" tIns="508" rIns="508" bIns="508" rtlCol="0" anchor="ctr"/>
          <a:lstStyle/>
          <a:p>
            <a:pPr indent="0" marL="0">
              <a:buNone/>
            </a:pPr>
            <a:r>
              <a:rPr lang="en-US" sz="1800" b="1" dirty="0">
                <a:solidFill>
                  <a:srgbClr val="7C5CFC"/>
                </a:solidFill>
                <a:latin typeface="Calibri" pitchFamily="34" charset="0"/>
                <a:ea typeface="Calibri" pitchFamily="34" charset="-122"/>
                <a:cs typeface="Calibri" pitchFamily="34" charset="-120"/>
              </a:rPr>
              <a:t>A SOAP request to get a user</a:t>
            </a:r>
            <a:endParaRPr lang="en-US" sz="1800" dirty="0"/>
          </a:p>
        </p:txBody>
      </p:sp>
      <p:sp>
        <p:nvSpPr>
          <p:cNvPr id="9" name="Text 6"/>
          <p:cNvSpPr/>
          <p:nvPr/>
        </p:nvSpPr>
        <p:spPr>
          <a:xfrm>
            <a:off x="548640" y="1554480"/>
            <a:ext cx="6035040" cy="3931920"/>
          </a:xfrm>
          <a:prstGeom prst="roundRect">
            <a:avLst>
              <a:gd name="adj" fmla="val 1395"/>
            </a:avLst>
          </a:prstGeom>
          <a:solidFill>
            <a:srgbClr val="111827"/>
          </a:solidFill>
          <a:ln/>
        </p:spPr>
        <p:txBody>
          <a:bodyPr wrap="square" lIns="1905" tIns="1905" rIns="1905" bIns="1905"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POST /UserService HTTP/1.1</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Content-Type: text/xml</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SOAPAction: "GetUser"</a:t>
            </a:r>
            <a:endParaRPr lang="en-US" sz="1400" dirty="0"/>
          </a:p>
          <a:p>
            <a:pPr indent="0" marL="0">
              <a:buNone/>
            </a:pP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&lt;soap:Envelope xmlns:soap="..."&gt;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&lt;soap:Header&gt;...&lt;/soap:Header&gt;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&lt;soap:Body&gt;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&lt;GetUser&gt;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&lt;UserId&gt;42&lt;/UserId&gt;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&lt;/GetUser&gt;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&lt;/soap:Body&gt;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&lt;/soap:Envelope&gt;</a:t>
            </a:r>
            <a:endParaRPr lang="en-US" sz="1400" dirty="0"/>
          </a:p>
        </p:txBody>
      </p:sp>
      <p:sp>
        <p:nvSpPr>
          <p:cNvPr id="10" name="Text 7"/>
          <p:cNvSpPr/>
          <p:nvPr/>
        </p:nvSpPr>
        <p:spPr>
          <a:xfrm>
            <a:off x="6949440" y="1143000"/>
            <a:ext cx="4572000" cy="365760"/>
          </a:xfrm>
          <a:prstGeom prst="rect">
            <a:avLst/>
          </a:prstGeom>
          <a:noFill/>
          <a:ln/>
        </p:spPr>
        <p:txBody>
          <a:bodyPr wrap="square" lIns="508" tIns="508" rIns="508" bIns="508" rtlCol="0" anchor="ctr"/>
          <a:lstStyle/>
          <a:p>
            <a:pPr indent="0" marL="0">
              <a:buNone/>
            </a:pPr>
            <a:r>
              <a:rPr lang="en-US" sz="1800" b="1" dirty="0">
                <a:solidFill>
                  <a:srgbClr val="0F9D8F"/>
                </a:solidFill>
                <a:latin typeface="Calibri" pitchFamily="34" charset="0"/>
                <a:ea typeface="Calibri" pitchFamily="34" charset="-122"/>
                <a:cs typeface="Calibri" pitchFamily="34" charset="-120"/>
              </a:rPr>
              <a:t>The same idea in REST</a:t>
            </a:r>
            <a:endParaRPr lang="en-US" sz="1800" dirty="0"/>
          </a:p>
        </p:txBody>
      </p:sp>
      <p:sp>
        <p:nvSpPr>
          <p:cNvPr id="11" name="Text 8"/>
          <p:cNvSpPr/>
          <p:nvPr/>
        </p:nvSpPr>
        <p:spPr>
          <a:xfrm>
            <a:off x="6949440" y="1554480"/>
            <a:ext cx="4663440" cy="1005840"/>
          </a:xfrm>
          <a:prstGeom prst="roundRect">
            <a:avLst>
              <a:gd name="adj" fmla="val 5455"/>
            </a:avLst>
          </a:prstGeom>
          <a:solidFill>
            <a:srgbClr val="111827"/>
          </a:solidFill>
          <a:ln/>
        </p:spPr>
        <p:txBody>
          <a:bodyPr wrap="square" lIns="1905" tIns="1905" rIns="1905" bIns="1905"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GET /users/42 HTTP/1.1</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Accept: application/json</a:t>
            </a:r>
            <a:endParaRPr lang="en-US" sz="1400" dirty="0"/>
          </a:p>
        </p:txBody>
      </p:sp>
      <p:sp>
        <p:nvSpPr>
          <p:cNvPr id="12" name="Text 9"/>
          <p:cNvSpPr/>
          <p:nvPr/>
        </p:nvSpPr>
        <p:spPr>
          <a:xfrm>
            <a:off x="6949440" y="2743200"/>
            <a:ext cx="4663440" cy="2834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Strict WSDL contract</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XML only, verbose</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Always POST to one endpoint</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Great for enterprise security &amp; transactions</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Still alive in banking, insurance, government</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REST: Roy Fielding's idea (2000)</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42</a:t>
            </a:r>
            <a:endParaRPr lang="en-US" sz="1000" dirty="0"/>
          </a:p>
        </p:txBody>
      </p:sp>
      <p:sp>
        <p:nvSpPr>
          <p:cNvPr id="8" name="Text 5"/>
          <p:cNvSpPr/>
          <p:nvPr/>
        </p:nvSpPr>
        <p:spPr>
          <a:xfrm>
            <a:off x="548640" y="1280160"/>
            <a:ext cx="3566160" cy="640080"/>
          </a:xfrm>
          <a:prstGeom prst="rect">
            <a:avLst>
              <a:gd name="adj" fmla="val 11429"/>
            </a:avLst>
          </a:prstGeom>
          <a:solidFill>
            <a:srgbClr val="3B82F6"/>
          </a:solidFill>
          <a:ln w="15875">
            <a:solidFill>
              <a:srgbClr val="3B82F6"/>
            </a:solidFill>
          </a:ln>
        </p:spPr>
        <p:txBody>
          <a:bodyPr wrap="square" lIns="1016" tIns="1016" rIns="1016" bIns="1016"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Client–Server</a:t>
            </a:r>
            <a:endParaRPr lang="en-US" sz="1900" dirty="0"/>
          </a:p>
        </p:txBody>
      </p:sp>
      <p:sp>
        <p:nvSpPr>
          <p:cNvPr id="9" name="Text 6"/>
          <p:cNvSpPr/>
          <p:nvPr/>
        </p:nvSpPr>
        <p:spPr>
          <a:xfrm>
            <a:off x="548640" y="1920240"/>
            <a:ext cx="35661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UI and data are separate; evolve independently</a:t>
            </a:r>
            <a:endParaRPr lang="en-US" sz="1500" dirty="0"/>
          </a:p>
        </p:txBody>
      </p:sp>
      <p:sp>
        <p:nvSpPr>
          <p:cNvPr id="10" name="Text 7"/>
          <p:cNvSpPr/>
          <p:nvPr/>
        </p:nvSpPr>
        <p:spPr>
          <a:xfrm>
            <a:off x="4343400" y="1280160"/>
            <a:ext cx="3566160" cy="640080"/>
          </a:xfrm>
          <a:prstGeom prst="rect">
            <a:avLst>
              <a:gd name="adj" fmla="val 11429"/>
            </a:avLst>
          </a:prstGeom>
          <a:solidFill>
            <a:srgbClr val="0F9D8F"/>
          </a:solidFill>
          <a:ln w="15875">
            <a:solidFill>
              <a:srgbClr val="0F9D8F"/>
            </a:solidFill>
          </a:ln>
        </p:spPr>
        <p:txBody>
          <a:bodyPr wrap="square" lIns="1016" tIns="1016" rIns="1016" bIns="1016"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Stateless</a:t>
            </a:r>
            <a:endParaRPr lang="en-US" sz="1900" dirty="0"/>
          </a:p>
        </p:txBody>
      </p:sp>
      <p:sp>
        <p:nvSpPr>
          <p:cNvPr id="11" name="Text 8"/>
          <p:cNvSpPr/>
          <p:nvPr/>
        </p:nvSpPr>
        <p:spPr>
          <a:xfrm>
            <a:off x="4343400" y="1920240"/>
            <a:ext cx="35661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Every request carries everything the server needs</a:t>
            </a:r>
            <a:endParaRPr lang="en-US" sz="1500" dirty="0"/>
          </a:p>
        </p:txBody>
      </p:sp>
      <p:sp>
        <p:nvSpPr>
          <p:cNvPr id="12" name="Text 9"/>
          <p:cNvSpPr/>
          <p:nvPr/>
        </p:nvSpPr>
        <p:spPr>
          <a:xfrm>
            <a:off x="8138160" y="1280160"/>
            <a:ext cx="3566160" cy="640080"/>
          </a:xfrm>
          <a:prstGeom prst="rect">
            <a:avLst>
              <a:gd name="adj" fmla="val 11429"/>
            </a:avLst>
          </a:prstGeom>
          <a:solidFill>
            <a:srgbClr val="7C5CFC"/>
          </a:solidFill>
          <a:ln w="15875">
            <a:solidFill>
              <a:srgbClr val="7C5CFC"/>
            </a:solidFill>
          </a:ln>
        </p:spPr>
        <p:txBody>
          <a:bodyPr wrap="square" lIns="1016" tIns="1016" rIns="1016" bIns="1016"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Cacheable</a:t>
            </a:r>
            <a:endParaRPr lang="en-US" sz="1900" dirty="0"/>
          </a:p>
        </p:txBody>
      </p:sp>
      <p:sp>
        <p:nvSpPr>
          <p:cNvPr id="13" name="Text 10"/>
          <p:cNvSpPr/>
          <p:nvPr/>
        </p:nvSpPr>
        <p:spPr>
          <a:xfrm>
            <a:off x="8138160" y="1920240"/>
            <a:ext cx="35661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Responses say if they can be reused</a:t>
            </a:r>
            <a:endParaRPr lang="en-US" sz="1500" dirty="0"/>
          </a:p>
        </p:txBody>
      </p:sp>
      <p:sp>
        <p:nvSpPr>
          <p:cNvPr id="14" name="Text 11"/>
          <p:cNvSpPr/>
          <p:nvPr/>
        </p:nvSpPr>
        <p:spPr>
          <a:xfrm>
            <a:off x="548640" y="3337560"/>
            <a:ext cx="3566160" cy="640080"/>
          </a:xfrm>
          <a:prstGeom prst="rect">
            <a:avLst>
              <a:gd name="adj" fmla="val 11429"/>
            </a:avLst>
          </a:prstGeom>
          <a:solidFill>
            <a:srgbClr val="F59E0B"/>
          </a:solidFill>
          <a:ln w="15875">
            <a:solidFill>
              <a:srgbClr val="F59E0B"/>
            </a:solidFill>
          </a:ln>
        </p:spPr>
        <p:txBody>
          <a:bodyPr wrap="square" lIns="1016" tIns="1016" rIns="1016" bIns="1016"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Uniform interface</a:t>
            </a:r>
            <a:endParaRPr lang="en-US" sz="1900" dirty="0"/>
          </a:p>
        </p:txBody>
      </p:sp>
      <p:sp>
        <p:nvSpPr>
          <p:cNvPr id="15" name="Text 12"/>
          <p:cNvSpPr/>
          <p:nvPr/>
        </p:nvSpPr>
        <p:spPr>
          <a:xfrm>
            <a:off x="548640" y="3977640"/>
            <a:ext cx="35661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Same verbs and URLs, resources as nouns</a:t>
            </a:r>
            <a:endParaRPr lang="en-US" sz="1500" dirty="0"/>
          </a:p>
        </p:txBody>
      </p:sp>
      <p:sp>
        <p:nvSpPr>
          <p:cNvPr id="16" name="Text 13"/>
          <p:cNvSpPr/>
          <p:nvPr/>
        </p:nvSpPr>
        <p:spPr>
          <a:xfrm>
            <a:off x="4343400" y="3337560"/>
            <a:ext cx="3566160" cy="640080"/>
          </a:xfrm>
          <a:prstGeom prst="rect">
            <a:avLst>
              <a:gd name="adj" fmla="val 11429"/>
            </a:avLst>
          </a:prstGeom>
          <a:solidFill>
            <a:srgbClr val="E5484D"/>
          </a:solidFill>
          <a:ln w="15875">
            <a:solidFill>
              <a:srgbClr val="E5484D"/>
            </a:solidFill>
          </a:ln>
        </p:spPr>
        <p:txBody>
          <a:bodyPr wrap="square" lIns="1016" tIns="1016" rIns="1016" bIns="1016"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Layered system</a:t>
            </a:r>
            <a:endParaRPr lang="en-US" sz="1900" dirty="0"/>
          </a:p>
        </p:txBody>
      </p:sp>
      <p:sp>
        <p:nvSpPr>
          <p:cNvPr id="17" name="Text 14"/>
          <p:cNvSpPr/>
          <p:nvPr/>
        </p:nvSpPr>
        <p:spPr>
          <a:xfrm>
            <a:off x="4343400" y="3977640"/>
            <a:ext cx="35661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Proxies, gateways, load balancers in between</a:t>
            </a:r>
            <a:endParaRPr lang="en-US" sz="1500" dirty="0"/>
          </a:p>
        </p:txBody>
      </p:sp>
      <p:sp>
        <p:nvSpPr>
          <p:cNvPr id="18" name="Text 15"/>
          <p:cNvSpPr/>
          <p:nvPr/>
        </p:nvSpPr>
        <p:spPr>
          <a:xfrm>
            <a:off x="8138160" y="3337560"/>
            <a:ext cx="3566160" cy="640080"/>
          </a:xfrm>
          <a:prstGeom prst="rect">
            <a:avLst>
              <a:gd name="adj" fmla="val 11429"/>
            </a:avLst>
          </a:prstGeom>
          <a:solidFill>
            <a:srgbClr val="64748B"/>
          </a:solidFill>
          <a:ln w="15875">
            <a:solidFill>
              <a:srgbClr val="64748B"/>
            </a:solidFill>
          </a:ln>
        </p:spPr>
        <p:txBody>
          <a:bodyPr wrap="square" lIns="1016" tIns="1016" rIns="1016" bIns="1016"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Code on demand</a:t>
            </a:r>
            <a:endParaRPr lang="en-US" sz="1900" dirty="0"/>
          </a:p>
        </p:txBody>
      </p:sp>
      <p:sp>
        <p:nvSpPr>
          <p:cNvPr id="19" name="Text 16"/>
          <p:cNvSpPr/>
          <p:nvPr/>
        </p:nvSpPr>
        <p:spPr>
          <a:xfrm>
            <a:off x="8138160" y="3977640"/>
            <a:ext cx="3566160" cy="1097280"/>
          </a:xfrm>
          <a:prstGeom prst="rect">
            <a:avLst>
              <a:gd name="adj" fmla="val 6667"/>
            </a:avLst>
          </a:prstGeom>
          <a:solidFill>
            <a:srgbClr val="FFFFFF"/>
          </a:solidFill>
          <a:ln w="15875">
            <a:solidFill>
              <a:srgbClr val="FFFFFF"/>
            </a:solidFill>
          </a:ln>
        </p:spPr>
        <p:txBody>
          <a:bodyPr wrap="square" lIns="1016" tIns="1016" rIns="1016" bIns="1016" rtlCol="0" anchor="ctr"/>
          <a:lstStyle/>
          <a:p>
            <a:pPr algn="ctr" indent="0" marL="0">
              <a:buNone/>
            </a:pPr>
            <a:r>
              <a:rPr lang="en-US" sz="1500" dirty="0">
                <a:solidFill>
                  <a:srgbClr val="1F2937"/>
                </a:solidFill>
                <a:latin typeface="Calibri" pitchFamily="34" charset="0"/>
                <a:ea typeface="Calibri" pitchFamily="34" charset="-122"/>
                <a:cs typeface="Calibri" pitchFamily="34" charset="-120"/>
              </a:rPr>
              <a:t>(optional) Server can send executable code</a:t>
            </a:r>
            <a:endParaRPr lang="en-US" sz="1500" dirty="0"/>
          </a:p>
        </p:txBody>
      </p:sp>
      <p:sp>
        <p:nvSpPr>
          <p:cNvPr id="20" name="Shape 17"/>
          <p:cNvSpPr/>
          <p:nvPr/>
        </p:nvSpPr>
        <p:spPr>
          <a:xfrm>
            <a:off x="457200" y="5440680"/>
            <a:ext cx="82296" cy="548640"/>
          </a:xfrm>
          <a:prstGeom prst="rect">
            <a:avLst/>
          </a:prstGeom>
          <a:solidFill>
            <a:srgbClr val="0F9D8F"/>
          </a:solidFill>
          <a:ln/>
        </p:spPr>
      </p:sp>
      <p:sp>
        <p:nvSpPr>
          <p:cNvPr id="21" name="Text 18"/>
          <p:cNvSpPr/>
          <p:nvPr/>
        </p:nvSpPr>
        <p:spPr>
          <a:xfrm>
            <a:off x="594360" y="544068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REST is a style, not a standard. An API that follows these constraints is called RESTful.</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REST in practice: resources are nouns, HTTP methods are verbs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43</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194560"/>
                <a:gridCol w="4754880"/>
                <a:gridCol w="411480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Request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Success response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r>
              <a:tr h="45720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List users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GET /users</a:t>
                      </a:r>
                      <a:endParaRPr lang="en-US" sz="15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200 + array of users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Read one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GET /users/42</a:t>
                      </a:r>
                      <a:endParaRPr lang="en-US" sz="15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200 + user (or 404)</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45720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Create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POST /users  + JSON body</a:t>
                      </a:r>
                      <a:endParaRPr lang="en-US" sz="15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201 + Location header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Replace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PUT /users/42  + JSON body</a:t>
                      </a:r>
                      <a:endParaRPr lang="en-US" sz="15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200 or 204</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45720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Partial update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PATCH /users/42</a:t>
                      </a:r>
                      <a:endParaRPr lang="en-US" sz="15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Delete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DELETE /users/42</a:t>
                      </a:r>
                      <a:endParaRPr lang="en-US" sz="15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204 No Content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45720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Related data</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GET /users/42/orders</a:t>
                      </a:r>
                      <a:endParaRPr lang="en-US" sz="15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200 + orders of user 42</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5166360"/>
            <a:ext cx="82296" cy="548640"/>
          </a:xfrm>
          <a:prstGeom prst="rect">
            <a:avLst/>
          </a:prstGeom>
          <a:solidFill>
            <a:srgbClr val="F59E0B"/>
          </a:solidFill>
          <a:ln/>
        </p:spPr>
      </p:sp>
      <p:sp>
        <p:nvSpPr>
          <p:cNvPr id="10" name="Text 6"/>
          <p:cNvSpPr/>
          <p:nvPr/>
        </p:nvSpPr>
        <p:spPr>
          <a:xfrm>
            <a:off x="594360" y="516636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Naming rule: URLs are nouns (/users), never verbs (/getUser, /deleteUser). The HTTP method carries the verb.</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2000-2014: how REST quietly took over</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44</a:t>
            </a:r>
            <a:endParaRPr lang="en-US" sz="1000" dirty="0"/>
          </a:p>
        </p:txBody>
      </p:sp>
      <p:sp>
        <p:nvSpPr>
          <p:cNvPr id="8" name="Text 5"/>
          <p:cNvSpPr/>
          <p:nvPr/>
        </p:nvSpPr>
        <p:spPr>
          <a:xfrm>
            <a:off x="548640" y="1280160"/>
            <a:ext cx="2651760" cy="548640"/>
          </a:xfrm>
          <a:prstGeom prst="rect">
            <a:avLst>
              <a:gd name="adj" fmla="val 13333"/>
            </a:avLst>
          </a:prstGeom>
          <a:solidFill>
            <a:srgbClr val="64748B"/>
          </a:solidFill>
          <a:ln w="15875">
            <a:solidFill>
              <a:srgbClr val="64748B"/>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2000</a:t>
            </a:r>
            <a:endParaRPr lang="en-US" sz="2000" dirty="0"/>
          </a:p>
        </p:txBody>
      </p:sp>
      <p:sp>
        <p:nvSpPr>
          <p:cNvPr id="9" name="Text 6"/>
          <p:cNvSpPr/>
          <p:nvPr/>
        </p:nvSpPr>
        <p:spPr>
          <a:xfrm>
            <a:off x="548640" y="182880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Salesforce &amp; eBay launch early web APIs</a:t>
            </a:r>
            <a:endParaRPr lang="en-US" sz="1400" dirty="0"/>
          </a:p>
        </p:txBody>
      </p:sp>
      <p:sp>
        <p:nvSpPr>
          <p:cNvPr id="10" name="Text 7"/>
          <p:cNvSpPr/>
          <p:nvPr/>
        </p:nvSpPr>
        <p:spPr>
          <a:xfrm>
            <a:off x="548640" y="256032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mostly XML / SOAP</a:t>
            </a:r>
            <a:endParaRPr lang="en-US" sz="1200" dirty="0"/>
          </a:p>
        </p:txBody>
      </p:sp>
      <p:sp>
        <p:nvSpPr>
          <p:cNvPr id="11" name="Text 8"/>
          <p:cNvSpPr/>
          <p:nvPr/>
        </p:nvSpPr>
        <p:spPr>
          <a:xfrm>
            <a:off x="3383280" y="1280160"/>
            <a:ext cx="2651760" cy="548640"/>
          </a:xfrm>
          <a:prstGeom prst="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2002</a:t>
            </a:r>
            <a:endParaRPr lang="en-US" sz="2000" dirty="0"/>
          </a:p>
        </p:txBody>
      </p:sp>
      <p:sp>
        <p:nvSpPr>
          <p:cNvPr id="12" name="Text 9"/>
          <p:cNvSpPr/>
          <p:nvPr/>
        </p:nvSpPr>
        <p:spPr>
          <a:xfrm>
            <a:off x="3383280" y="182880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Amazon Web Services</a:t>
            </a:r>
            <a:endParaRPr lang="en-US" sz="1400" dirty="0"/>
          </a:p>
        </p:txBody>
      </p:sp>
      <p:sp>
        <p:nvSpPr>
          <p:cNvPr id="13" name="Text 10"/>
          <p:cNvSpPr/>
          <p:nvPr/>
        </p:nvSpPr>
        <p:spPr>
          <a:xfrm>
            <a:off x="3383280" y="256032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APIs as a product</a:t>
            </a:r>
            <a:endParaRPr lang="en-US" sz="1200" dirty="0"/>
          </a:p>
        </p:txBody>
      </p:sp>
      <p:sp>
        <p:nvSpPr>
          <p:cNvPr id="14" name="Text 11"/>
          <p:cNvSpPr/>
          <p:nvPr/>
        </p:nvSpPr>
        <p:spPr>
          <a:xfrm>
            <a:off x="6217920" y="1280160"/>
            <a:ext cx="265176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2004-06</a:t>
            </a:r>
            <a:endParaRPr lang="en-US" sz="2000" dirty="0"/>
          </a:p>
        </p:txBody>
      </p:sp>
      <p:sp>
        <p:nvSpPr>
          <p:cNvPr id="15" name="Text 12"/>
          <p:cNvSpPr/>
          <p:nvPr/>
        </p:nvSpPr>
        <p:spPr>
          <a:xfrm>
            <a:off x="6217920" y="182880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Flickr, then Twitter APIs</a:t>
            </a:r>
            <a:endParaRPr lang="en-US" sz="1400" dirty="0"/>
          </a:p>
        </p:txBody>
      </p:sp>
      <p:sp>
        <p:nvSpPr>
          <p:cNvPr id="16" name="Text 13"/>
          <p:cNvSpPr/>
          <p:nvPr/>
        </p:nvSpPr>
        <p:spPr>
          <a:xfrm>
            <a:off x="6217920" y="256032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simple URLs + data</a:t>
            </a:r>
            <a:endParaRPr lang="en-US" sz="1200" dirty="0"/>
          </a:p>
        </p:txBody>
      </p:sp>
      <p:sp>
        <p:nvSpPr>
          <p:cNvPr id="17" name="Text 14"/>
          <p:cNvSpPr/>
          <p:nvPr/>
        </p:nvSpPr>
        <p:spPr>
          <a:xfrm>
            <a:off x="9052560" y="1280160"/>
            <a:ext cx="265176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2006</a:t>
            </a:r>
            <a:endParaRPr lang="en-US" sz="2000" dirty="0"/>
          </a:p>
        </p:txBody>
      </p:sp>
      <p:sp>
        <p:nvSpPr>
          <p:cNvPr id="18" name="Text 15"/>
          <p:cNvSpPr/>
          <p:nvPr/>
        </p:nvSpPr>
        <p:spPr>
          <a:xfrm>
            <a:off x="9052560" y="182880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Amazon S3</a:t>
            </a:r>
            <a:endParaRPr lang="en-US" sz="1400" dirty="0"/>
          </a:p>
        </p:txBody>
      </p:sp>
      <p:sp>
        <p:nvSpPr>
          <p:cNvPr id="19" name="Text 16"/>
          <p:cNvSpPr/>
          <p:nvPr/>
        </p:nvSpPr>
        <p:spPr>
          <a:xfrm>
            <a:off x="9052560" y="256032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REST over HTTP in the cloud</a:t>
            </a:r>
            <a:endParaRPr lang="en-US" sz="1200" dirty="0"/>
          </a:p>
        </p:txBody>
      </p:sp>
      <p:sp>
        <p:nvSpPr>
          <p:cNvPr id="20" name="Text 17"/>
          <p:cNvSpPr/>
          <p:nvPr/>
        </p:nvSpPr>
        <p:spPr>
          <a:xfrm>
            <a:off x="548640" y="3200400"/>
            <a:ext cx="2651760" cy="548640"/>
          </a:xfrm>
          <a:prstGeom prst="rect">
            <a:avLst>
              <a:gd name="adj" fmla="val 13333"/>
            </a:avLst>
          </a:prstGeom>
          <a:solidFill>
            <a:srgbClr val="7C5CFC"/>
          </a:solidFill>
          <a:ln w="15875">
            <a:solidFill>
              <a:srgbClr val="7C5CFC"/>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~2006</a:t>
            </a:r>
            <a:endParaRPr lang="en-US" sz="2000" dirty="0"/>
          </a:p>
        </p:txBody>
      </p:sp>
      <p:sp>
        <p:nvSpPr>
          <p:cNvPr id="21" name="Text 18"/>
          <p:cNvSpPr/>
          <p:nvPr/>
        </p:nvSpPr>
        <p:spPr>
          <a:xfrm>
            <a:off x="548640" y="374904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JSON overtakes XML</a:t>
            </a:r>
            <a:endParaRPr lang="en-US" sz="1400" dirty="0"/>
          </a:p>
        </p:txBody>
      </p:sp>
      <p:sp>
        <p:nvSpPr>
          <p:cNvPr id="22" name="Text 19"/>
          <p:cNvSpPr/>
          <p:nvPr/>
        </p:nvSpPr>
        <p:spPr>
          <a:xfrm>
            <a:off x="548640" y="448056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lighter, readable</a:t>
            </a:r>
            <a:endParaRPr lang="en-US" sz="1200" dirty="0"/>
          </a:p>
        </p:txBody>
      </p:sp>
      <p:sp>
        <p:nvSpPr>
          <p:cNvPr id="23" name="Text 20"/>
          <p:cNvSpPr/>
          <p:nvPr/>
        </p:nvSpPr>
        <p:spPr>
          <a:xfrm>
            <a:off x="3383280" y="3200400"/>
            <a:ext cx="2651760" cy="548640"/>
          </a:xfrm>
          <a:prstGeom prst="rect">
            <a:avLst>
              <a:gd name="adj" fmla="val 13333"/>
            </a:avLst>
          </a:prstGeom>
          <a:solidFill>
            <a:srgbClr val="F59E0B"/>
          </a:solidFill>
          <a:ln w="15875">
            <a:solidFill>
              <a:srgbClr val="F59E0B"/>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2007</a:t>
            </a:r>
            <a:endParaRPr lang="en-US" sz="2000" dirty="0"/>
          </a:p>
        </p:txBody>
      </p:sp>
      <p:sp>
        <p:nvSpPr>
          <p:cNvPr id="24" name="Text 21"/>
          <p:cNvSpPr/>
          <p:nvPr/>
        </p:nvSpPr>
        <p:spPr>
          <a:xfrm>
            <a:off x="3383280" y="374904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iPhone</a:t>
            </a:r>
            <a:endParaRPr lang="en-US" sz="1400" dirty="0"/>
          </a:p>
        </p:txBody>
      </p:sp>
      <p:sp>
        <p:nvSpPr>
          <p:cNvPr id="25" name="Text 22"/>
          <p:cNvSpPr/>
          <p:nvPr/>
        </p:nvSpPr>
        <p:spPr>
          <a:xfrm>
            <a:off x="3383280" y="448056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mobile apps need light APIs</a:t>
            </a:r>
            <a:endParaRPr lang="en-US" sz="1200" dirty="0"/>
          </a:p>
        </p:txBody>
      </p:sp>
      <p:sp>
        <p:nvSpPr>
          <p:cNvPr id="26" name="Text 23"/>
          <p:cNvSpPr/>
          <p:nvPr/>
        </p:nvSpPr>
        <p:spPr>
          <a:xfrm>
            <a:off x="6217920" y="3200400"/>
            <a:ext cx="2651760" cy="548640"/>
          </a:xfrm>
          <a:prstGeom prst="rect">
            <a:avLst>
              <a:gd name="adj" fmla="val 13333"/>
            </a:avLst>
          </a:prstGeom>
          <a:solidFill>
            <a:srgbClr val="E5484D"/>
          </a:solidFill>
          <a:ln w="15875">
            <a:solidFill>
              <a:srgbClr val="E5484D"/>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2011-14</a:t>
            </a:r>
            <a:endParaRPr lang="en-US" sz="2000" dirty="0"/>
          </a:p>
        </p:txBody>
      </p:sp>
      <p:sp>
        <p:nvSpPr>
          <p:cNvPr id="27" name="Text 24"/>
          <p:cNvSpPr/>
          <p:nvPr/>
        </p:nvSpPr>
        <p:spPr>
          <a:xfrm>
            <a:off x="6217920" y="374904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Netflix &amp; co. split monoliths</a:t>
            </a:r>
            <a:endParaRPr lang="en-US" sz="1400" dirty="0"/>
          </a:p>
        </p:txBody>
      </p:sp>
      <p:sp>
        <p:nvSpPr>
          <p:cNvPr id="28" name="Text 25"/>
          <p:cNvSpPr/>
          <p:nvPr/>
        </p:nvSpPr>
        <p:spPr>
          <a:xfrm>
            <a:off x="6217920" y="448056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"Microservices" named (2014)</a:t>
            </a:r>
            <a:endParaRPr lang="en-US" sz="1200" dirty="0"/>
          </a:p>
        </p:txBody>
      </p:sp>
      <p:sp>
        <p:nvSpPr>
          <p:cNvPr id="29" name="Text 26"/>
          <p:cNvSpPr/>
          <p:nvPr/>
        </p:nvSpPr>
        <p:spPr>
          <a:xfrm>
            <a:off x="9052560" y="3200400"/>
            <a:ext cx="2651760" cy="548640"/>
          </a:xfrm>
          <a:prstGeom prst="rect">
            <a:avLst>
              <a:gd name="adj" fmla="val 13333"/>
            </a:avLst>
          </a:prstGeom>
          <a:solidFill>
            <a:srgbClr val="0B1F3A"/>
          </a:solidFill>
          <a:ln w="15875">
            <a:solidFill>
              <a:srgbClr val="0B1F3A"/>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2015</a:t>
            </a:r>
            <a:endParaRPr lang="en-US" sz="2000" dirty="0"/>
          </a:p>
        </p:txBody>
      </p:sp>
      <p:sp>
        <p:nvSpPr>
          <p:cNvPr id="30" name="Text 27"/>
          <p:cNvSpPr/>
          <p:nvPr/>
        </p:nvSpPr>
        <p:spPr>
          <a:xfrm>
            <a:off x="9052560" y="3749040"/>
            <a:ext cx="2651760" cy="731520"/>
          </a:xfrm>
          <a:prstGeom prst="rect">
            <a:avLst>
              <a:gd name="adj" fmla="val 10000"/>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Swagger becomes OpenAPI</a:t>
            </a:r>
            <a:endParaRPr lang="en-US" sz="1400" dirty="0"/>
          </a:p>
        </p:txBody>
      </p:sp>
      <p:sp>
        <p:nvSpPr>
          <p:cNvPr id="31" name="Text 28"/>
          <p:cNvSpPr/>
          <p:nvPr/>
        </p:nvSpPr>
        <p:spPr>
          <a:xfrm>
            <a:off x="9052560" y="4480560"/>
            <a:ext cx="2651760" cy="457200"/>
          </a:xfrm>
          <a:prstGeom prst="rect">
            <a:avLst>
              <a:gd name="adj" fmla="val 16000"/>
            </a:avLst>
          </a:prstGeom>
          <a:solidFill>
            <a:srgbClr val="F7F9FC"/>
          </a:solidFill>
          <a:ln w="15875">
            <a:solidFill>
              <a:srgbClr val="CBD5E1"/>
            </a:solidFill>
          </a:ln>
        </p:spPr>
        <p:txBody>
          <a:bodyPr wrap="square" lIns="1016" tIns="1016" rIns="1016" bIns="1016"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a standard contract for REST</a:t>
            </a:r>
            <a:endParaRPr lang="en-US" sz="1200" dirty="0"/>
          </a:p>
        </p:txBody>
      </p:sp>
      <p:sp>
        <p:nvSpPr>
          <p:cNvPr id="32" name="Shape 29"/>
          <p:cNvSpPr/>
          <p:nvPr/>
        </p:nvSpPr>
        <p:spPr>
          <a:xfrm>
            <a:off x="457200" y="5257800"/>
            <a:ext cx="82296" cy="548640"/>
          </a:xfrm>
          <a:prstGeom prst="rect">
            <a:avLst/>
          </a:prstGeom>
          <a:solidFill>
            <a:srgbClr val="0F9D8F"/>
          </a:solidFill>
          <a:ln/>
        </p:spPr>
      </p:sp>
      <p:sp>
        <p:nvSpPr>
          <p:cNvPr id="33" name="Text 30"/>
          <p:cNvSpPr/>
          <p:nvPr/>
        </p:nvSpPr>
        <p:spPr>
          <a:xfrm>
            <a:off x="594360" y="525780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The recipe that made REST win: simple HTTP + JSON + mobile + cloud. Testers: this is why almost every API you test today looks like this.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Why REST won: the advantages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45</a:t>
            </a:r>
            <a:endParaRPr lang="en-US" sz="1000" dirty="0"/>
          </a:p>
        </p:txBody>
      </p:sp>
      <p:sp>
        <p:nvSpPr>
          <p:cNvPr id="8" name="Text 5"/>
          <p:cNvSpPr/>
          <p:nvPr/>
        </p:nvSpPr>
        <p:spPr>
          <a:xfrm>
            <a:off x="548640" y="1280160"/>
            <a:ext cx="3566160" cy="1691640"/>
          </a:xfrm>
          <a:prstGeom prst="roundRect">
            <a:avLst>
              <a:gd name="adj" fmla="val 4324"/>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9" name="Text 6"/>
          <p:cNvSpPr/>
          <p:nvPr/>
        </p:nvSpPr>
        <p:spPr>
          <a:xfrm>
            <a:off x="685800" y="1417320"/>
            <a:ext cx="822960" cy="822960"/>
          </a:xfrm>
          <a:prstGeom prst="rect">
            <a:avLst/>
          </a:prstGeom>
          <a:noFill/>
          <a:ln/>
        </p:spPr>
        <p:txBody>
          <a:bodyPr wrap="square" lIns="508" tIns="508" rIns="508" bIns="508" rtlCol="0" anchor="ctr"/>
          <a:lstStyle/>
          <a:p>
            <a:pPr indent="0" marL="0">
              <a:buNone/>
            </a:pPr>
            <a:r>
              <a:rPr lang="en-US" sz="3600" dirty="0">
                <a:solidFill>
                  <a:srgbClr val="1F2937"/>
                </a:solidFill>
                <a:latin typeface="Calibri" pitchFamily="34" charset="0"/>
                <a:ea typeface="Calibri" pitchFamily="34" charset="-122"/>
                <a:cs typeface="Calibri" pitchFamily="34" charset="-120"/>
              </a:rPr>
              <a:t>🧩</a:t>
            </a:r>
            <a:endParaRPr lang="en-US" sz="3600" dirty="0"/>
          </a:p>
        </p:txBody>
      </p:sp>
      <p:sp>
        <p:nvSpPr>
          <p:cNvPr id="10" name="Text 7"/>
          <p:cNvSpPr/>
          <p:nvPr/>
        </p:nvSpPr>
        <p:spPr>
          <a:xfrm>
            <a:off x="1508760" y="1417320"/>
            <a:ext cx="2560320" cy="731520"/>
          </a:xfrm>
          <a:prstGeom prst="rect">
            <a:avLst/>
          </a:prstGeom>
          <a:noFill/>
          <a:ln/>
        </p:spPr>
        <p:txBody>
          <a:bodyPr wrap="square" lIns="508" tIns="508" rIns="508" bIns="508"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Simple &amp; familiar</a:t>
            </a:r>
            <a:endParaRPr lang="en-US" sz="1800" dirty="0"/>
          </a:p>
        </p:txBody>
      </p:sp>
      <p:sp>
        <p:nvSpPr>
          <p:cNvPr id="11" name="Text 8"/>
          <p:cNvSpPr/>
          <p:nvPr/>
        </p:nvSpPr>
        <p:spPr>
          <a:xfrm>
            <a:off x="685800" y="2194560"/>
            <a:ext cx="3291840" cy="731520"/>
          </a:xfrm>
          <a:prstGeom prst="rect">
            <a:avLst/>
          </a:prstGeom>
          <a:noFill/>
          <a:ln/>
        </p:spPr>
        <p:txBody>
          <a:bodyPr wrap="square" lIns="508" tIns="508" rIns="508" bIns="508" rtlCol="0" anchor="t"/>
          <a:lstStyle/>
          <a:p>
            <a:pPr indent="0" marL="0">
              <a:buNone/>
            </a:pPr>
            <a:r>
              <a:rPr lang="en-US" sz="1400" dirty="0">
                <a:solidFill>
                  <a:srgbClr val="64748B"/>
                </a:solidFill>
                <a:latin typeface="Calibri" pitchFamily="34" charset="0"/>
                <a:ea typeface="Calibri" pitchFamily="34" charset="-122"/>
                <a:cs typeface="Calibri" pitchFamily="34" charset="-120"/>
              </a:rPr>
              <a:t>Uses plain HTTP verbs and URLs everyone already knows</a:t>
            </a:r>
            <a:endParaRPr lang="en-US" sz="1400" dirty="0"/>
          </a:p>
        </p:txBody>
      </p:sp>
      <p:sp>
        <p:nvSpPr>
          <p:cNvPr id="12" name="Text 9"/>
          <p:cNvSpPr/>
          <p:nvPr/>
        </p:nvSpPr>
        <p:spPr>
          <a:xfrm>
            <a:off x="4343400" y="1280160"/>
            <a:ext cx="3566160" cy="1691640"/>
          </a:xfrm>
          <a:prstGeom prst="roundRect">
            <a:avLst>
              <a:gd name="adj" fmla="val 4324"/>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3" name="Text 10"/>
          <p:cNvSpPr/>
          <p:nvPr/>
        </p:nvSpPr>
        <p:spPr>
          <a:xfrm>
            <a:off x="4480560" y="1417320"/>
            <a:ext cx="822960" cy="822960"/>
          </a:xfrm>
          <a:prstGeom prst="rect">
            <a:avLst/>
          </a:prstGeom>
          <a:noFill/>
          <a:ln/>
        </p:spPr>
        <p:txBody>
          <a:bodyPr wrap="square" lIns="508" tIns="508" rIns="508" bIns="508" rtlCol="0" anchor="ctr"/>
          <a:lstStyle/>
          <a:p>
            <a:pPr indent="0" marL="0">
              <a:buNone/>
            </a:pPr>
            <a:r>
              <a:rPr lang="en-US" sz="3600" dirty="0">
                <a:solidFill>
                  <a:srgbClr val="1F2937"/>
                </a:solidFill>
                <a:latin typeface="Calibri" pitchFamily="34" charset="0"/>
                <a:ea typeface="Calibri" pitchFamily="34" charset="-122"/>
                <a:cs typeface="Calibri" pitchFamily="34" charset="-120"/>
              </a:rPr>
              <a:t>📖</a:t>
            </a:r>
            <a:endParaRPr lang="en-US" sz="3600" dirty="0"/>
          </a:p>
        </p:txBody>
      </p:sp>
      <p:sp>
        <p:nvSpPr>
          <p:cNvPr id="14" name="Text 11"/>
          <p:cNvSpPr/>
          <p:nvPr/>
        </p:nvSpPr>
        <p:spPr>
          <a:xfrm>
            <a:off x="5303520" y="1417320"/>
            <a:ext cx="2560320" cy="731520"/>
          </a:xfrm>
          <a:prstGeom prst="rect">
            <a:avLst/>
          </a:prstGeom>
          <a:noFill/>
          <a:ln/>
        </p:spPr>
        <p:txBody>
          <a:bodyPr wrap="square" lIns="508" tIns="508" rIns="508" bIns="508"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Human readable</a:t>
            </a:r>
            <a:endParaRPr lang="en-US" sz="1800" dirty="0"/>
          </a:p>
        </p:txBody>
      </p:sp>
      <p:sp>
        <p:nvSpPr>
          <p:cNvPr id="15" name="Text 12"/>
          <p:cNvSpPr/>
          <p:nvPr/>
        </p:nvSpPr>
        <p:spPr>
          <a:xfrm>
            <a:off x="4480560" y="2194560"/>
            <a:ext cx="3291840" cy="731520"/>
          </a:xfrm>
          <a:prstGeom prst="rect">
            <a:avLst/>
          </a:prstGeom>
          <a:noFill/>
          <a:ln/>
        </p:spPr>
        <p:txBody>
          <a:bodyPr wrap="square" lIns="508" tIns="508" rIns="508" bIns="508" rtlCol="0" anchor="t"/>
          <a:lstStyle/>
          <a:p>
            <a:pPr indent="0" marL="0">
              <a:buNone/>
            </a:pPr>
            <a:r>
              <a:rPr lang="en-US" sz="1400" dirty="0">
                <a:solidFill>
                  <a:srgbClr val="64748B"/>
                </a:solidFill>
                <a:latin typeface="Calibri" pitchFamily="34" charset="0"/>
                <a:ea typeface="Calibri" pitchFamily="34" charset="-122"/>
                <a:cs typeface="Calibri" pitchFamily="34" charset="-120"/>
              </a:rPr>
              <a:t>JSON, easily tested with a browser or a tool</a:t>
            </a:r>
            <a:endParaRPr lang="en-US" sz="1400" dirty="0"/>
          </a:p>
        </p:txBody>
      </p:sp>
      <p:sp>
        <p:nvSpPr>
          <p:cNvPr id="16" name="Text 13"/>
          <p:cNvSpPr/>
          <p:nvPr/>
        </p:nvSpPr>
        <p:spPr>
          <a:xfrm>
            <a:off x="8138160" y="1280160"/>
            <a:ext cx="3566160" cy="1691640"/>
          </a:xfrm>
          <a:prstGeom prst="roundRect">
            <a:avLst>
              <a:gd name="adj" fmla="val 4324"/>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7" name="Text 14"/>
          <p:cNvSpPr/>
          <p:nvPr/>
        </p:nvSpPr>
        <p:spPr>
          <a:xfrm>
            <a:off x="8275320" y="1417320"/>
            <a:ext cx="822960" cy="822960"/>
          </a:xfrm>
          <a:prstGeom prst="rect">
            <a:avLst/>
          </a:prstGeom>
          <a:noFill/>
          <a:ln/>
        </p:spPr>
        <p:txBody>
          <a:bodyPr wrap="square" lIns="508" tIns="508" rIns="508" bIns="508" rtlCol="0" anchor="ctr"/>
          <a:lstStyle/>
          <a:p>
            <a:pPr indent="0" marL="0">
              <a:buNone/>
            </a:pPr>
            <a:r>
              <a:rPr lang="en-US" sz="3600" dirty="0">
                <a:solidFill>
                  <a:srgbClr val="1F2937"/>
                </a:solidFill>
                <a:latin typeface="Calibri" pitchFamily="34" charset="0"/>
                <a:ea typeface="Calibri" pitchFamily="34" charset="-122"/>
                <a:cs typeface="Calibri" pitchFamily="34" charset="-120"/>
              </a:rPr>
              <a:t>📈</a:t>
            </a:r>
            <a:endParaRPr lang="en-US" sz="3600" dirty="0"/>
          </a:p>
        </p:txBody>
      </p:sp>
      <p:sp>
        <p:nvSpPr>
          <p:cNvPr id="18" name="Text 15"/>
          <p:cNvSpPr/>
          <p:nvPr/>
        </p:nvSpPr>
        <p:spPr>
          <a:xfrm>
            <a:off x="9098280" y="1417320"/>
            <a:ext cx="2560320" cy="731520"/>
          </a:xfrm>
          <a:prstGeom prst="rect">
            <a:avLst/>
          </a:prstGeom>
          <a:noFill/>
          <a:ln/>
        </p:spPr>
        <p:txBody>
          <a:bodyPr wrap="square" lIns="508" tIns="508" rIns="508" bIns="508"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Scales easily</a:t>
            </a:r>
            <a:endParaRPr lang="en-US" sz="1800" dirty="0"/>
          </a:p>
        </p:txBody>
      </p:sp>
      <p:sp>
        <p:nvSpPr>
          <p:cNvPr id="19" name="Text 16"/>
          <p:cNvSpPr/>
          <p:nvPr/>
        </p:nvSpPr>
        <p:spPr>
          <a:xfrm>
            <a:off x="8275320" y="2194560"/>
            <a:ext cx="3291840" cy="731520"/>
          </a:xfrm>
          <a:prstGeom prst="rect">
            <a:avLst/>
          </a:prstGeom>
          <a:noFill/>
          <a:ln/>
        </p:spPr>
        <p:txBody>
          <a:bodyPr wrap="square" lIns="508" tIns="508" rIns="508" bIns="508" rtlCol="0" anchor="t"/>
          <a:lstStyle/>
          <a:p>
            <a:pPr indent="0" marL="0">
              <a:buNone/>
            </a:pPr>
            <a:r>
              <a:rPr lang="en-US" sz="1400" dirty="0">
                <a:solidFill>
                  <a:srgbClr val="64748B"/>
                </a:solidFill>
                <a:latin typeface="Calibri" pitchFamily="34" charset="0"/>
                <a:ea typeface="Calibri" pitchFamily="34" charset="-122"/>
                <a:cs typeface="Calibri" pitchFamily="34" charset="-120"/>
              </a:rPr>
              <a:t>Stateless: add more servers behind a load balancer</a:t>
            </a:r>
            <a:endParaRPr lang="en-US" sz="1400" dirty="0"/>
          </a:p>
        </p:txBody>
      </p:sp>
      <p:sp>
        <p:nvSpPr>
          <p:cNvPr id="20" name="Text 17"/>
          <p:cNvSpPr/>
          <p:nvPr/>
        </p:nvSpPr>
        <p:spPr>
          <a:xfrm>
            <a:off x="548640" y="3154680"/>
            <a:ext cx="3566160" cy="1691640"/>
          </a:xfrm>
          <a:prstGeom prst="roundRect">
            <a:avLst>
              <a:gd name="adj" fmla="val 4324"/>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21" name="Text 18"/>
          <p:cNvSpPr/>
          <p:nvPr/>
        </p:nvSpPr>
        <p:spPr>
          <a:xfrm>
            <a:off x="685800" y="3291840"/>
            <a:ext cx="822960" cy="822960"/>
          </a:xfrm>
          <a:prstGeom prst="rect">
            <a:avLst/>
          </a:prstGeom>
          <a:noFill/>
          <a:ln/>
        </p:spPr>
        <p:txBody>
          <a:bodyPr wrap="square" lIns="508" tIns="508" rIns="508" bIns="508" rtlCol="0" anchor="ctr"/>
          <a:lstStyle/>
          <a:p>
            <a:pPr indent="0" marL="0">
              <a:buNone/>
            </a:pPr>
            <a:r>
              <a:rPr lang="en-US" sz="3600" dirty="0">
                <a:solidFill>
                  <a:srgbClr val="1F2937"/>
                </a:solidFill>
                <a:latin typeface="Calibri" pitchFamily="34" charset="0"/>
                <a:ea typeface="Calibri" pitchFamily="34" charset="-122"/>
                <a:cs typeface="Calibri" pitchFamily="34" charset="-120"/>
              </a:rPr>
              <a:t>⚡</a:t>
            </a:r>
            <a:endParaRPr lang="en-US" sz="3600" dirty="0"/>
          </a:p>
        </p:txBody>
      </p:sp>
      <p:sp>
        <p:nvSpPr>
          <p:cNvPr id="22" name="Text 19"/>
          <p:cNvSpPr/>
          <p:nvPr/>
        </p:nvSpPr>
        <p:spPr>
          <a:xfrm>
            <a:off x="1508760" y="3291840"/>
            <a:ext cx="2560320" cy="731520"/>
          </a:xfrm>
          <a:prstGeom prst="rect">
            <a:avLst/>
          </a:prstGeom>
          <a:noFill/>
          <a:ln/>
        </p:spPr>
        <p:txBody>
          <a:bodyPr wrap="square" lIns="508" tIns="508" rIns="508" bIns="508"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Cacheable</a:t>
            </a:r>
            <a:endParaRPr lang="en-US" sz="1800" dirty="0"/>
          </a:p>
        </p:txBody>
      </p:sp>
      <p:sp>
        <p:nvSpPr>
          <p:cNvPr id="23" name="Text 20"/>
          <p:cNvSpPr/>
          <p:nvPr/>
        </p:nvSpPr>
        <p:spPr>
          <a:xfrm>
            <a:off x="685800" y="4069080"/>
            <a:ext cx="3291840" cy="731520"/>
          </a:xfrm>
          <a:prstGeom prst="rect">
            <a:avLst/>
          </a:prstGeom>
          <a:noFill/>
          <a:ln/>
        </p:spPr>
        <p:txBody>
          <a:bodyPr wrap="square" lIns="508" tIns="508" rIns="508" bIns="508" rtlCol="0" anchor="t"/>
          <a:lstStyle/>
          <a:p>
            <a:pPr indent="0" marL="0">
              <a:buNone/>
            </a:pPr>
            <a:r>
              <a:rPr lang="en-US" sz="1400" dirty="0">
                <a:solidFill>
                  <a:srgbClr val="64748B"/>
                </a:solidFill>
                <a:latin typeface="Calibri" pitchFamily="34" charset="0"/>
                <a:ea typeface="Calibri" pitchFamily="34" charset="-122"/>
                <a:cs typeface="Calibri" pitchFamily="34" charset="-120"/>
              </a:rPr>
              <a:t>Reuse responses; less load, faster</a:t>
            </a:r>
            <a:endParaRPr lang="en-US" sz="1400" dirty="0"/>
          </a:p>
        </p:txBody>
      </p:sp>
      <p:sp>
        <p:nvSpPr>
          <p:cNvPr id="24" name="Text 21"/>
          <p:cNvSpPr/>
          <p:nvPr/>
        </p:nvSpPr>
        <p:spPr>
          <a:xfrm>
            <a:off x="4343400" y="3154680"/>
            <a:ext cx="3566160" cy="1691640"/>
          </a:xfrm>
          <a:prstGeom prst="roundRect">
            <a:avLst>
              <a:gd name="adj" fmla="val 4324"/>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25" name="Text 22"/>
          <p:cNvSpPr/>
          <p:nvPr/>
        </p:nvSpPr>
        <p:spPr>
          <a:xfrm>
            <a:off x="4480560" y="3291840"/>
            <a:ext cx="822960" cy="822960"/>
          </a:xfrm>
          <a:prstGeom prst="rect">
            <a:avLst/>
          </a:prstGeom>
          <a:noFill/>
          <a:ln/>
        </p:spPr>
        <p:txBody>
          <a:bodyPr wrap="square" lIns="508" tIns="508" rIns="508" bIns="508" rtlCol="0" anchor="ctr"/>
          <a:lstStyle/>
          <a:p>
            <a:pPr indent="0" marL="0">
              <a:buNone/>
            </a:pPr>
            <a:r>
              <a:rPr lang="en-US" sz="3600" dirty="0">
                <a:solidFill>
                  <a:srgbClr val="1F2937"/>
                </a:solidFill>
                <a:latin typeface="Calibri" pitchFamily="34" charset="0"/>
                <a:ea typeface="Calibri" pitchFamily="34" charset="-122"/>
                <a:cs typeface="Calibri" pitchFamily="34" charset="-120"/>
              </a:rPr>
              <a:t>🌍</a:t>
            </a:r>
            <a:endParaRPr lang="en-US" sz="3600" dirty="0"/>
          </a:p>
        </p:txBody>
      </p:sp>
      <p:sp>
        <p:nvSpPr>
          <p:cNvPr id="26" name="Text 23"/>
          <p:cNvSpPr/>
          <p:nvPr/>
        </p:nvSpPr>
        <p:spPr>
          <a:xfrm>
            <a:off x="5303520" y="3291840"/>
            <a:ext cx="2560320" cy="731520"/>
          </a:xfrm>
          <a:prstGeom prst="rect">
            <a:avLst/>
          </a:prstGeom>
          <a:noFill/>
          <a:ln/>
        </p:spPr>
        <p:txBody>
          <a:bodyPr wrap="square" lIns="508" tIns="508" rIns="508" bIns="508"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Language neutral</a:t>
            </a:r>
            <a:endParaRPr lang="en-US" sz="1800" dirty="0"/>
          </a:p>
        </p:txBody>
      </p:sp>
      <p:sp>
        <p:nvSpPr>
          <p:cNvPr id="27" name="Text 24"/>
          <p:cNvSpPr/>
          <p:nvPr/>
        </p:nvSpPr>
        <p:spPr>
          <a:xfrm>
            <a:off x="4480560" y="4069080"/>
            <a:ext cx="3291840" cy="731520"/>
          </a:xfrm>
          <a:prstGeom prst="rect">
            <a:avLst/>
          </a:prstGeom>
          <a:noFill/>
          <a:ln/>
        </p:spPr>
        <p:txBody>
          <a:bodyPr wrap="square" lIns="508" tIns="508" rIns="508" bIns="508" rtlCol="0" anchor="t"/>
          <a:lstStyle/>
          <a:p>
            <a:pPr indent="0" marL="0">
              <a:buNone/>
            </a:pPr>
            <a:r>
              <a:rPr lang="en-US" sz="1400" dirty="0">
                <a:solidFill>
                  <a:srgbClr val="64748B"/>
                </a:solidFill>
                <a:latin typeface="Calibri" pitchFamily="34" charset="0"/>
                <a:ea typeface="Calibri" pitchFamily="34" charset="-122"/>
                <a:cs typeface="Calibri" pitchFamily="34" charset="-120"/>
              </a:rPr>
              <a:t>Java, .NET, JS, Python, mobile: all speak HTTP</a:t>
            </a:r>
            <a:endParaRPr lang="en-US" sz="1400" dirty="0"/>
          </a:p>
        </p:txBody>
      </p:sp>
      <p:sp>
        <p:nvSpPr>
          <p:cNvPr id="28" name="Text 25"/>
          <p:cNvSpPr/>
          <p:nvPr/>
        </p:nvSpPr>
        <p:spPr>
          <a:xfrm>
            <a:off x="8138160" y="3154680"/>
            <a:ext cx="3566160" cy="1691640"/>
          </a:xfrm>
          <a:prstGeom prst="roundRect">
            <a:avLst>
              <a:gd name="adj" fmla="val 4324"/>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29" name="Text 26"/>
          <p:cNvSpPr/>
          <p:nvPr/>
        </p:nvSpPr>
        <p:spPr>
          <a:xfrm>
            <a:off x="8275320" y="3291840"/>
            <a:ext cx="822960" cy="822960"/>
          </a:xfrm>
          <a:prstGeom prst="rect">
            <a:avLst/>
          </a:prstGeom>
          <a:noFill/>
          <a:ln/>
        </p:spPr>
        <p:txBody>
          <a:bodyPr wrap="square" lIns="508" tIns="508" rIns="508" bIns="508" rtlCol="0" anchor="ctr"/>
          <a:lstStyle/>
          <a:p>
            <a:pPr indent="0" marL="0">
              <a:buNone/>
            </a:pPr>
            <a:r>
              <a:rPr lang="en-US" sz="3600" dirty="0">
                <a:solidFill>
                  <a:srgbClr val="1F2937"/>
                </a:solidFill>
                <a:latin typeface="Calibri" pitchFamily="34" charset="0"/>
                <a:ea typeface="Calibri" pitchFamily="34" charset="-122"/>
                <a:cs typeface="Calibri" pitchFamily="34" charset="-120"/>
              </a:rPr>
              <a:t>🔌</a:t>
            </a:r>
            <a:endParaRPr lang="en-US" sz="3600" dirty="0"/>
          </a:p>
        </p:txBody>
      </p:sp>
      <p:sp>
        <p:nvSpPr>
          <p:cNvPr id="30" name="Text 27"/>
          <p:cNvSpPr/>
          <p:nvPr/>
        </p:nvSpPr>
        <p:spPr>
          <a:xfrm>
            <a:off x="9098280" y="3291840"/>
            <a:ext cx="2560320" cy="731520"/>
          </a:xfrm>
          <a:prstGeom prst="rect">
            <a:avLst/>
          </a:prstGeom>
          <a:noFill/>
          <a:ln/>
        </p:spPr>
        <p:txBody>
          <a:bodyPr wrap="square" lIns="508" tIns="508" rIns="508" bIns="508"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Loosely coupled</a:t>
            </a:r>
            <a:endParaRPr lang="en-US" sz="1800" dirty="0"/>
          </a:p>
        </p:txBody>
      </p:sp>
      <p:sp>
        <p:nvSpPr>
          <p:cNvPr id="31" name="Text 28"/>
          <p:cNvSpPr/>
          <p:nvPr/>
        </p:nvSpPr>
        <p:spPr>
          <a:xfrm>
            <a:off x="8275320" y="4069080"/>
            <a:ext cx="3291840" cy="731520"/>
          </a:xfrm>
          <a:prstGeom prst="rect">
            <a:avLst/>
          </a:prstGeom>
          <a:noFill/>
          <a:ln/>
        </p:spPr>
        <p:txBody>
          <a:bodyPr wrap="square" lIns="508" tIns="508" rIns="508" bIns="508" rtlCol="0" anchor="t"/>
          <a:lstStyle/>
          <a:p>
            <a:pPr indent="0" marL="0">
              <a:buNone/>
            </a:pPr>
            <a:r>
              <a:rPr lang="en-US" sz="1400" dirty="0">
                <a:solidFill>
                  <a:srgbClr val="64748B"/>
                </a:solidFill>
                <a:latin typeface="Calibri" pitchFamily="34" charset="0"/>
                <a:ea typeface="Calibri" pitchFamily="34" charset="-122"/>
                <a:cs typeface="Calibri" pitchFamily="34" charset="-120"/>
              </a:rPr>
              <a:t>Client and server evolve independently</a:t>
            </a:r>
            <a:endParaRPr lang="en-US" sz="1400" dirty="0"/>
          </a:p>
        </p:txBody>
      </p:sp>
      <p:sp>
        <p:nvSpPr>
          <p:cNvPr id="32" name="Shape 29"/>
          <p:cNvSpPr/>
          <p:nvPr/>
        </p:nvSpPr>
        <p:spPr>
          <a:xfrm>
            <a:off x="457200" y="5303520"/>
            <a:ext cx="82296" cy="548640"/>
          </a:xfrm>
          <a:prstGeom prst="rect">
            <a:avLst/>
          </a:prstGeom>
          <a:solidFill>
            <a:srgbClr val="E5484D"/>
          </a:solidFill>
          <a:ln/>
        </p:spPr>
      </p:sp>
      <p:sp>
        <p:nvSpPr>
          <p:cNvPr id="33" name="Text 30"/>
          <p:cNvSpPr/>
          <p:nvPr/>
        </p:nvSpPr>
        <p:spPr>
          <a:xfrm>
            <a:off x="594360" y="5303520"/>
            <a:ext cx="11064240" cy="548640"/>
          </a:xfrm>
          <a:prstGeom prst="rect">
            <a:avLst/>
          </a:prstGeom>
          <a:solidFill>
            <a:srgbClr val="FDE4E4"/>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Honest trade-offs: no built-in strict contract (use OpenAPI), can be chatty, over- and under-fetching of data.</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Richardson Maturity Model: how RESTful is your API?</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46</a:t>
            </a:r>
            <a:endParaRPr lang="en-US" sz="1000" dirty="0"/>
          </a:p>
        </p:txBody>
      </p:sp>
      <p:sp>
        <p:nvSpPr>
          <p:cNvPr id="8" name="Text 5"/>
          <p:cNvSpPr/>
          <p:nvPr/>
        </p:nvSpPr>
        <p:spPr>
          <a:xfrm>
            <a:off x="640080" y="1280160"/>
            <a:ext cx="1463040" cy="868680"/>
          </a:xfrm>
          <a:prstGeom prst="rect">
            <a:avLst>
              <a:gd name="adj" fmla="val 8421"/>
            </a:avLst>
          </a:prstGeom>
          <a:solidFill>
            <a:srgbClr val="7C5CFC"/>
          </a:solidFill>
          <a:ln w="15875">
            <a:solidFill>
              <a:srgbClr val="7C5CFC"/>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Level 3</a:t>
            </a:r>
            <a:endParaRPr lang="en-US" sz="1800" dirty="0"/>
          </a:p>
        </p:txBody>
      </p:sp>
      <p:sp>
        <p:nvSpPr>
          <p:cNvPr id="9" name="Text 6"/>
          <p:cNvSpPr/>
          <p:nvPr/>
        </p:nvSpPr>
        <p:spPr>
          <a:xfrm>
            <a:off x="2103120" y="1280160"/>
            <a:ext cx="31089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Hypermedia (HATEOAS)</a:t>
            </a:r>
            <a:endParaRPr lang="en-US" sz="1400" dirty="0"/>
          </a:p>
        </p:txBody>
      </p:sp>
      <p:sp>
        <p:nvSpPr>
          <p:cNvPr id="10" name="Text 7"/>
          <p:cNvSpPr/>
          <p:nvPr/>
        </p:nvSpPr>
        <p:spPr>
          <a:xfrm>
            <a:off x="5212080" y="1280160"/>
            <a:ext cx="6400800" cy="868680"/>
          </a:xfrm>
          <a:prstGeom prst="rect">
            <a:avLst>
              <a:gd name="adj" fmla="val 8421"/>
            </a:avLst>
          </a:prstGeom>
          <a:solidFill>
            <a:srgbClr val="F7F9FC"/>
          </a:solidFill>
          <a:ln w="15875">
            <a:solidFill>
              <a:srgbClr val="CBD5E1"/>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Responses include links to next actions</a:t>
            </a:r>
            <a:endParaRPr lang="en-US" sz="1400" dirty="0"/>
          </a:p>
        </p:txBody>
      </p:sp>
      <p:sp>
        <p:nvSpPr>
          <p:cNvPr id="11" name="Text 8"/>
          <p:cNvSpPr/>
          <p:nvPr/>
        </p:nvSpPr>
        <p:spPr>
          <a:xfrm>
            <a:off x="640080" y="2331720"/>
            <a:ext cx="1463040" cy="868680"/>
          </a:xfrm>
          <a:prstGeom prst="rect">
            <a:avLst>
              <a:gd name="adj" fmla="val 8421"/>
            </a:avLst>
          </a:prstGeom>
          <a:solidFill>
            <a:srgbClr val="0F9D8F"/>
          </a:solidFill>
          <a:ln w="15875">
            <a:solidFill>
              <a:srgbClr val="0F9D8F"/>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Level 2</a:t>
            </a:r>
            <a:endParaRPr lang="en-US" sz="1800" dirty="0"/>
          </a:p>
        </p:txBody>
      </p:sp>
      <p:sp>
        <p:nvSpPr>
          <p:cNvPr id="12" name="Text 9"/>
          <p:cNvSpPr/>
          <p:nvPr/>
        </p:nvSpPr>
        <p:spPr>
          <a:xfrm>
            <a:off x="2103120" y="2331720"/>
            <a:ext cx="31089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HTTP verbs + status codes</a:t>
            </a:r>
            <a:endParaRPr lang="en-US" sz="1400" dirty="0"/>
          </a:p>
        </p:txBody>
      </p:sp>
      <p:sp>
        <p:nvSpPr>
          <p:cNvPr id="13" name="Text 10"/>
          <p:cNvSpPr/>
          <p:nvPr/>
        </p:nvSpPr>
        <p:spPr>
          <a:xfrm>
            <a:off x="5212080" y="2331720"/>
            <a:ext cx="6400800" cy="868680"/>
          </a:xfrm>
          <a:prstGeom prst="rect">
            <a:avLst>
              <a:gd name="adj" fmla="val 8421"/>
            </a:avLst>
          </a:prstGeom>
          <a:solidFill>
            <a:srgbClr val="F7F9FC"/>
          </a:solidFill>
          <a:ln w="15875">
            <a:solidFill>
              <a:srgbClr val="CBD5E1"/>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GET/POST/PUT/DELETE and 200/201/404 (most real APIs)</a:t>
            </a:r>
            <a:endParaRPr lang="en-US" sz="1400" dirty="0"/>
          </a:p>
        </p:txBody>
      </p:sp>
      <p:sp>
        <p:nvSpPr>
          <p:cNvPr id="14" name="Text 11"/>
          <p:cNvSpPr/>
          <p:nvPr/>
        </p:nvSpPr>
        <p:spPr>
          <a:xfrm>
            <a:off x="640080" y="3383280"/>
            <a:ext cx="1463040" cy="868680"/>
          </a:xfrm>
          <a:prstGeom prst="rect">
            <a:avLst>
              <a:gd name="adj" fmla="val 8421"/>
            </a:avLst>
          </a:prstGeom>
          <a:solidFill>
            <a:srgbClr val="3B82F6"/>
          </a:solidFill>
          <a:ln w="15875">
            <a:solidFill>
              <a:srgbClr val="3B82F6"/>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Level 1</a:t>
            </a:r>
            <a:endParaRPr lang="en-US" sz="1800" dirty="0"/>
          </a:p>
        </p:txBody>
      </p:sp>
      <p:sp>
        <p:nvSpPr>
          <p:cNvPr id="15" name="Text 12"/>
          <p:cNvSpPr/>
          <p:nvPr/>
        </p:nvSpPr>
        <p:spPr>
          <a:xfrm>
            <a:off x="2103120" y="3383280"/>
            <a:ext cx="31089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Resources</a:t>
            </a:r>
            <a:endParaRPr lang="en-US" sz="1400" dirty="0"/>
          </a:p>
        </p:txBody>
      </p:sp>
      <p:sp>
        <p:nvSpPr>
          <p:cNvPr id="16" name="Text 13"/>
          <p:cNvSpPr/>
          <p:nvPr/>
        </p:nvSpPr>
        <p:spPr>
          <a:xfrm>
            <a:off x="5212080" y="3383280"/>
            <a:ext cx="6400800" cy="868680"/>
          </a:xfrm>
          <a:prstGeom prst="rect">
            <a:avLst>
              <a:gd name="adj" fmla="val 8421"/>
            </a:avLst>
          </a:prstGeom>
          <a:solidFill>
            <a:srgbClr val="F7F9FC"/>
          </a:solidFill>
          <a:ln w="15875">
            <a:solidFill>
              <a:srgbClr val="CBD5E1"/>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Many URLs: /users/42, /orders/7</a:t>
            </a:r>
            <a:endParaRPr lang="en-US" sz="1400" dirty="0"/>
          </a:p>
        </p:txBody>
      </p:sp>
      <p:sp>
        <p:nvSpPr>
          <p:cNvPr id="17" name="Text 14"/>
          <p:cNvSpPr/>
          <p:nvPr/>
        </p:nvSpPr>
        <p:spPr>
          <a:xfrm>
            <a:off x="640080" y="4434840"/>
            <a:ext cx="1463040" cy="868680"/>
          </a:xfrm>
          <a:prstGeom prst="rect">
            <a:avLst>
              <a:gd name="adj" fmla="val 8421"/>
            </a:avLst>
          </a:prstGeom>
          <a:solidFill>
            <a:srgbClr val="64748B"/>
          </a:solidFill>
          <a:ln w="15875">
            <a:solidFill>
              <a:srgbClr val="64748B"/>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Level 0</a:t>
            </a:r>
            <a:endParaRPr lang="en-US" sz="1800" dirty="0"/>
          </a:p>
        </p:txBody>
      </p:sp>
      <p:sp>
        <p:nvSpPr>
          <p:cNvPr id="18" name="Text 15"/>
          <p:cNvSpPr/>
          <p:nvPr/>
        </p:nvSpPr>
        <p:spPr>
          <a:xfrm>
            <a:off x="2103120" y="4434840"/>
            <a:ext cx="3108960" cy="868680"/>
          </a:xfrm>
          <a:prstGeom prst="rect">
            <a:avLst>
              <a:gd name="adj" fmla="val 8421"/>
            </a:avLst>
          </a:prstGeom>
          <a:solidFill>
            <a:srgbClr val="FFFFFF"/>
          </a:solidFill>
          <a:ln w="15875">
            <a:solidFill>
              <a:srgbClr val="FFFFF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One endpoint (RPC)</a:t>
            </a:r>
            <a:endParaRPr lang="en-US" sz="1400" dirty="0"/>
          </a:p>
        </p:txBody>
      </p:sp>
      <p:sp>
        <p:nvSpPr>
          <p:cNvPr id="19" name="Text 16"/>
          <p:cNvSpPr/>
          <p:nvPr/>
        </p:nvSpPr>
        <p:spPr>
          <a:xfrm>
            <a:off x="5212080" y="4434840"/>
            <a:ext cx="6400800" cy="868680"/>
          </a:xfrm>
          <a:prstGeom prst="rect">
            <a:avLst>
              <a:gd name="adj" fmla="val 8421"/>
            </a:avLst>
          </a:prstGeom>
          <a:solidFill>
            <a:srgbClr val="F7F9FC"/>
          </a:solidFill>
          <a:ln w="15875">
            <a:solidFill>
              <a:srgbClr val="CBD5E1"/>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Everything is POST /service</a:t>
            </a:r>
            <a:endParaRPr lang="en-US" sz="1400" dirty="0"/>
          </a:p>
        </p:txBody>
      </p:sp>
      <p:sp>
        <p:nvSpPr>
          <p:cNvPr id="20" name="Text 17"/>
          <p:cNvSpPr/>
          <p:nvPr/>
        </p:nvSpPr>
        <p:spPr>
          <a:xfrm>
            <a:off x="640080" y="5532120"/>
            <a:ext cx="10972800" cy="685800"/>
          </a:xfrm>
          <a:prstGeom prst="roundRect">
            <a:avLst>
              <a:gd name="adj" fmla="val 8000"/>
            </a:avLst>
          </a:prstGeom>
          <a:solidFill>
            <a:srgbClr val="111827"/>
          </a:solidFill>
          <a:ln/>
        </p:spPr>
        <p:txBody>
          <a:bodyPr wrap="square" lIns="1905" tIns="1905" rIns="1905" bIns="1905"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 "id": 42, "name": "Asha",</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"links": { "self": "/users/42", "orders": "/users/42/orders" } }</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OpenAPI: the contract for a REST API</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47</a:t>
            </a:r>
            <a:endParaRPr lang="en-US" sz="1000" dirty="0"/>
          </a:p>
        </p:txBody>
      </p:sp>
      <p:sp>
        <p:nvSpPr>
          <p:cNvPr id="8" name="Text 5"/>
          <p:cNvSpPr/>
          <p:nvPr/>
        </p:nvSpPr>
        <p:spPr>
          <a:xfrm>
            <a:off x="548640" y="1188720"/>
            <a:ext cx="5394960" cy="4023360"/>
          </a:xfrm>
          <a:prstGeom prst="roundRect">
            <a:avLst>
              <a:gd name="adj" fmla="val 1364"/>
            </a:avLst>
          </a:prstGeom>
          <a:solidFill>
            <a:srgbClr val="111827"/>
          </a:solidFill>
          <a:ln/>
        </p:spPr>
        <p:txBody>
          <a:bodyPr wrap="square" lIns="1905" tIns="1905" rIns="1905" bIns="1905"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openapi: 3.0.3</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info: { title: User API, version: 1.0.0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paths:</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/users/{id}:</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get: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summary: Get one user</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parameters:</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 { name: id, in: path,</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required: true,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schema: { type: integer }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responses:</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'200': { description: OK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'404': { description: Not found }</a:t>
            </a:r>
            <a:endParaRPr lang="en-US" sz="1300" dirty="0"/>
          </a:p>
        </p:txBody>
      </p:sp>
      <p:sp>
        <p:nvSpPr>
          <p:cNvPr id="9" name="Text 6"/>
          <p:cNvSpPr/>
          <p:nvPr/>
        </p:nvSpPr>
        <p:spPr>
          <a:xfrm>
            <a:off x="6217920" y="1188720"/>
            <a:ext cx="1737360" cy="713232"/>
          </a:xfrm>
          <a:prstGeom prst="rect">
            <a:avLst>
              <a:gd name="adj" fmla="val 10256"/>
            </a:avLst>
          </a:prstGeom>
          <a:solidFill>
            <a:srgbClr val="3B82F6"/>
          </a:solidFill>
          <a:ln w="15875">
            <a:solidFill>
              <a:srgbClr val="3B82F6"/>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Documentation</a:t>
            </a:r>
            <a:endParaRPr lang="en-US" sz="1300" dirty="0"/>
          </a:p>
        </p:txBody>
      </p:sp>
      <p:sp>
        <p:nvSpPr>
          <p:cNvPr id="10" name="Text 7"/>
          <p:cNvSpPr/>
          <p:nvPr/>
        </p:nvSpPr>
        <p:spPr>
          <a:xfrm>
            <a:off x="7955280" y="1188720"/>
            <a:ext cx="3657600" cy="713232"/>
          </a:xfrm>
          <a:prstGeom prst="rect">
            <a:avLst>
              <a:gd name="adj" fmla="val 10256"/>
            </a:avLst>
          </a:prstGeom>
          <a:solidFill>
            <a:srgbClr val="FFFFFF"/>
          </a:solidFill>
          <a:ln w="15875">
            <a:solidFill>
              <a:srgbClr val="FFFFFF"/>
            </a:solidFill>
          </a:ln>
        </p:spPr>
        <p:txBody>
          <a:bodyPr wrap="square" lIns="101600" tIns="101600" rIns="101600" bIns="1016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Interactive docs (Swagger UI) that always match the API</a:t>
            </a:r>
            <a:endParaRPr lang="en-US" sz="1200" dirty="0"/>
          </a:p>
        </p:txBody>
      </p:sp>
      <p:sp>
        <p:nvSpPr>
          <p:cNvPr id="11" name="Text 8"/>
          <p:cNvSpPr/>
          <p:nvPr/>
        </p:nvSpPr>
        <p:spPr>
          <a:xfrm>
            <a:off x="6217920" y="1993392"/>
            <a:ext cx="1737360" cy="713232"/>
          </a:xfrm>
          <a:prstGeom prst="rect">
            <a:avLst>
              <a:gd name="adj" fmla="val 10256"/>
            </a:avLst>
          </a:prstGeom>
          <a:solidFill>
            <a:srgbClr val="0F9D8F"/>
          </a:solidFill>
          <a:ln w="15875">
            <a:solidFill>
              <a:srgbClr val="0F9D8F"/>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Mock server</a:t>
            </a:r>
            <a:endParaRPr lang="en-US" sz="1300" dirty="0"/>
          </a:p>
        </p:txBody>
      </p:sp>
      <p:sp>
        <p:nvSpPr>
          <p:cNvPr id="12" name="Text 9"/>
          <p:cNvSpPr/>
          <p:nvPr/>
        </p:nvSpPr>
        <p:spPr>
          <a:xfrm>
            <a:off x="7955280" y="1993392"/>
            <a:ext cx="3657600" cy="713232"/>
          </a:xfrm>
          <a:prstGeom prst="rect">
            <a:avLst>
              <a:gd name="adj" fmla="val 10256"/>
            </a:avLst>
          </a:prstGeom>
          <a:solidFill>
            <a:srgbClr val="FFFFFF"/>
          </a:solidFill>
          <a:ln w="15875">
            <a:solidFill>
              <a:srgbClr val="FFFFFF"/>
            </a:solidFill>
          </a:ln>
        </p:spPr>
        <p:txBody>
          <a:bodyPr wrap="square" lIns="101600" tIns="101600" rIns="101600" bIns="1016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Frontend and testers start before the backend exists</a:t>
            </a:r>
            <a:endParaRPr lang="en-US" sz="1200" dirty="0"/>
          </a:p>
        </p:txBody>
      </p:sp>
      <p:sp>
        <p:nvSpPr>
          <p:cNvPr id="13" name="Text 10"/>
          <p:cNvSpPr/>
          <p:nvPr/>
        </p:nvSpPr>
        <p:spPr>
          <a:xfrm>
            <a:off x="6217920" y="2798064"/>
            <a:ext cx="1737360" cy="713232"/>
          </a:xfrm>
          <a:prstGeom prst="rect">
            <a:avLst>
              <a:gd name="adj" fmla="val 10256"/>
            </a:avLst>
          </a:prstGeom>
          <a:solidFill>
            <a:srgbClr val="7C5CFC"/>
          </a:solidFill>
          <a:ln w="15875">
            <a:solidFill>
              <a:srgbClr val="7C5CFC"/>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Code generation</a:t>
            </a:r>
            <a:endParaRPr lang="en-US" sz="1300" dirty="0"/>
          </a:p>
        </p:txBody>
      </p:sp>
      <p:sp>
        <p:nvSpPr>
          <p:cNvPr id="14" name="Text 11"/>
          <p:cNvSpPr/>
          <p:nvPr/>
        </p:nvSpPr>
        <p:spPr>
          <a:xfrm>
            <a:off x="7955280" y="2798064"/>
            <a:ext cx="3657600" cy="713232"/>
          </a:xfrm>
          <a:prstGeom prst="rect">
            <a:avLst>
              <a:gd name="adj" fmla="val 10256"/>
            </a:avLst>
          </a:prstGeom>
          <a:solidFill>
            <a:srgbClr val="FFFFFF"/>
          </a:solidFill>
          <a:ln w="15875">
            <a:solidFill>
              <a:srgbClr val="FFFFFF"/>
            </a:solidFill>
          </a:ln>
        </p:spPr>
        <p:txBody>
          <a:bodyPr wrap="square" lIns="101600" tIns="101600" rIns="101600" bIns="1016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Client and server stubs in many languages</a:t>
            </a:r>
            <a:endParaRPr lang="en-US" sz="1200" dirty="0"/>
          </a:p>
        </p:txBody>
      </p:sp>
      <p:sp>
        <p:nvSpPr>
          <p:cNvPr id="15" name="Text 12"/>
          <p:cNvSpPr/>
          <p:nvPr/>
        </p:nvSpPr>
        <p:spPr>
          <a:xfrm>
            <a:off x="6217920" y="3602736"/>
            <a:ext cx="1737360" cy="713232"/>
          </a:xfrm>
          <a:prstGeom prst="rect">
            <a:avLst>
              <a:gd name="adj" fmla="val 10256"/>
            </a:avLst>
          </a:prstGeom>
          <a:solidFill>
            <a:srgbClr val="F59E0B"/>
          </a:solidFill>
          <a:ln w="15875">
            <a:solidFill>
              <a:srgbClr val="F59E0B"/>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Validation</a:t>
            </a:r>
            <a:endParaRPr lang="en-US" sz="1300" dirty="0"/>
          </a:p>
        </p:txBody>
      </p:sp>
      <p:sp>
        <p:nvSpPr>
          <p:cNvPr id="16" name="Text 13"/>
          <p:cNvSpPr/>
          <p:nvPr/>
        </p:nvSpPr>
        <p:spPr>
          <a:xfrm>
            <a:off x="7955280" y="3602736"/>
            <a:ext cx="3657600" cy="713232"/>
          </a:xfrm>
          <a:prstGeom prst="rect">
            <a:avLst>
              <a:gd name="adj" fmla="val 10256"/>
            </a:avLst>
          </a:prstGeom>
          <a:solidFill>
            <a:srgbClr val="FFFFFF"/>
          </a:solidFill>
          <a:ln w="15875">
            <a:solidFill>
              <a:srgbClr val="FFFFFF"/>
            </a:solidFill>
          </a:ln>
        </p:spPr>
        <p:txBody>
          <a:bodyPr wrap="square" lIns="101600" tIns="101600" rIns="101600" bIns="1016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Check real requests and responses against the contract</a:t>
            </a:r>
            <a:endParaRPr lang="en-US" sz="1200" dirty="0"/>
          </a:p>
        </p:txBody>
      </p:sp>
      <p:sp>
        <p:nvSpPr>
          <p:cNvPr id="17" name="Text 14"/>
          <p:cNvSpPr/>
          <p:nvPr/>
        </p:nvSpPr>
        <p:spPr>
          <a:xfrm>
            <a:off x="6217920" y="4407408"/>
            <a:ext cx="1737360" cy="713232"/>
          </a:xfrm>
          <a:prstGeom prst="rect">
            <a:avLst>
              <a:gd name="adj" fmla="val 10256"/>
            </a:avLst>
          </a:prstGeom>
          <a:solidFill>
            <a:srgbClr val="E5484D"/>
          </a:solidFill>
          <a:ln w="15875">
            <a:solidFill>
              <a:srgbClr val="E5484D"/>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Contract-first</a:t>
            </a:r>
            <a:endParaRPr lang="en-US" sz="1300" dirty="0"/>
          </a:p>
        </p:txBody>
      </p:sp>
      <p:sp>
        <p:nvSpPr>
          <p:cNvPr id="18" name="Text 15"/>
          <p:cNvSpPr/>
          <p:nvPr/>
        </p:nvSpPr>
        <p:spPr>
          <a:xfrm>
            <a:off x="7955280" y="4407408"/>
            <a:ext cx="3657600" cy="713232"/>
          </a:xfrm>
          <a:prstGeom prst="rect">
            <a:avLst>
              <a:gd name="adj" fmla="val 10256"/>
            </a:avLst>
          </a:prstGeom>
          <a:solidFill>
            <a:srgbClr val="FFFFFF"/>
          </a:solidFill>
          <a:ln w="15875">
            <a:solidFill>
              <a:srgbClr val="FFFFFF"/>
            </a:solidFill>
          </a:ln>
        </p:spPr>
        <p:txBody>
          <a:bodyPr wrap="square" lIns="101600" tIns="101600" rIns="101600" bIns="10160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BA, dev and QA agree the file before code is written</a:t>
            </a:r>
            <a:endParaRPr lang="en-US" sz="1200" dirty="0"/>
          </a:p>
        </p:txBody>
      </p:sp>
      <p:sp>
        <p:nvSpPr>
          <p:cNvPr id="19" name="Shape 16"/>
          <p:cNvSpPr/>
          <p:nvPr/>
        </p:nvSpPr>
        <p:spPr>
          <a:xfrm>
            <a:off x="457200" y="5440680"/>
            <a:ext cx="82296" cy="548640"/>
          </a:xfrm>
          <a:prstGeom prst="rect">
            <a:avLst/>
          </a:prstGeom>
          <a:solidFill>
            <a:srgbClr val="0F9D8F"/>
          </a:solidFill>
          <a:ln/>
        </p:spPr>
      </p:sp>
      <p:sp>
        <p:nvSpPr>
          <p:cNvPr id="20" name="Text 17"/>
          <p:cNvSpPr/>
          <p:nvPr/>
        </p:nvSpPr>
        <p:spPr>
          <a:xfrm>
            <a:off x="594360" y="544068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History: Swagger (2011) → OpenAPI Initiative (2015) → OpenAPI 3.0 (2017) → 3.1 (2021). Ask for the OpenAPI file before you start testing.</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REST in the real world: what testers hit first</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48</a:t>
            </a:r>
            <a:endParaRPr lang="en-US" sz="1000" dirty="0"/>
          </a:p>
        </p:txBody>
      </p:sp>
      <p:sp>
        <p:nvSpPr>
          <p:cNvPr id="8" name="Text 5"/>
          <p:cNvSpPr/>
          <p:nvPr/>
        </p:nvSpPr>
        <p:spPr>
          <a:xfrm>
            <a:off x="548640" y="1188720"/>
            <a:ext cx="5440680" cy="548640"/>
          </a:xfrm>
          <a:prstGeom prst="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Versioning</a:t>
            </a:r>
            <a:endParaRPr lang="en-US" sz="1800" dirty="0"/>
          </a:p>
        </p:txBody>
      </p:sp>
      <p:sp>
        <p:nvSpPr>
          <p:cNvPr id="9" name="Text 6"/>
          <p:cNvSpPr/>
          <p:nvPr/>
        </p:nvSpPr>
        <p:spPr>
          <a:xfrm>
            <a:off x="548640" y="1783080"/>
            <a:ext cx="5440680" cy="777240"/>
          </a:xfrm>
          <a:prstGeom prst="roundRect">
            <a:avLst>
              <a:gd name="adj" fmla="val 7059"/>
            </a:avLst>
          </a:prstGeom>
          <a:solidFill>
            <a:srgbClr val="111827"/>
          </a:solidFill>
          <a:ln/>
        </p:spPr>
        <p:txBody>
          <a:bodyPr wrap="square" lIns="1905" tIns="1905" rIns="1905" bIns="1905"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/v1/users   vs   /v2/users</a:t>
            </a:r>
            <a:endParaRPr lang="en-US" sz="1300" dirty="0"/>
          </a:p>
        </p:txBody>
      </p:sp>
      <p:sp>
        <p:nvSpPr>
          <p:cNvPr id="10" name="Text 7"/>
          <p:cNvSpPr/>
          <p:nvPr/>
        </p:nvSpPr>
        <p:spPr>
          <a:xfrm>
            <a:off x="548640" y="2606040"/>
            <a:ext cx="5440680" cy="594360"/>
          </a:xfrm>
          <a:prstGeom prst="rect">
            <a:avLst>
              <a:gd name="adj" fmla="val 12308"/>
            </a:avLst>
          </a:prstGeom>
          <a:solidFill>
            <a:srgbClr val="FFFFFF"/>
          </a:solidFill>
          <a:ln w="15875">
            <a:solidFill>
              <a:srgbClr val="3B82F6"/>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TEST: Old version must keep working. Check breaking changes.</a:t>
            </a:r>
            <a:endParaRPr lang="en-US" sz="1300" dirty="0"/>
          </a:p>
        </p:txBody>
      </p:sp>
      <p:sp>
        <p:nvSpPr>
          <p:cNvPr id="11" name="Text 8"/>
          <p:cNvSpPr/>
          <p:nvPr/>
        </p:nvSpPr>
        <p:spPr>
          <a:xfrm>
            <a:off x="6172200" y="1188720"/>
            <a:ext cx="544068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Pagination</a:t>
            </a:r>
            <a:endParaRPr lang="en-US" sz="1800" dirty="0"/>
          </a:p>
        </p:txBody>
      </p:sp>
      <p:sp>
        <p:nvSpPr>
          <p:cNvPr id="12" name="Text 9"/>
          <p:cNvSpPr/>
          <p:nvPr/>
        </p:nvSpPr>
        <p:spPr>
          <a:xfrm>
            <a:off x="6172200" y="1783080"/>
            <a:ext cx="5440680" cy="777240"/>
          </a:xfrm>
          <a:prstGeom prst="roundRect">
            <a:avLst>
              <a:gd name="adj" fmla="val 7059"/>
            </a:avLst>
          </a:prstGeom>
          <a:solidFill>
            <a:srgbClr val="111827"/>
          </a:solidFill>
          <a:ln/>
        </p:spPr>
        <p:txBody>
          <a:bodyPr wrap="square" lIns="1905" tIns="1905" rIns="1905" bIns="1905"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GET /users?page=2&amp;size=20</a:t>
            </a:r>
            <a:endParaRPr lang="en-US" sz="1300" dirty="0"/>
          </a:p>
        </p:txBody>
      </p:sp>
      <p:sp>
        <p:nvSpPr>
          <p:cNvPr id="13" name="Text 10"/>
          <p:cNvSpPr/>
          <p:nvPr/>
        </p:nvSpPr>
        <p:spPr>
          <a:xfrm>
            <a:off x="6172200" y="2606040"/>
            <a:ext cx="5440680" cy="594360"/>
          </a:xfrm>
          <a:prstGeom prst="rect">
            <a:avLst>
              <a:gd name="adj" fmla="val 12308"/>
            </a:avLst>
          </a:prstGeom>
          <a:solidFill>
            <a:srgbClr val="FFFFFF"/>
          </a:solidFill>
          <a:ln w="15875">
            <a:solidFill>
              <a:srgbClr val="0F9D8F"/>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TEST: Test first, last, empty and out-of-range page; max size.</a:t>
            </a:r>
            <a:endParaRPr lang="en-US" sz="1300" dirty="0"/>
          </a:p>
        </p:txBody>
      </p:sp>
      <p:sp>
        <p:nvSpPr>
          <p:cNvPr id="14" name="Text 11"/>
          <p:cNvSpPr/>
          <p:nvPr/>
        </p:nvSpPr>
        <p:spPr>
          <a:xfrm>
            <a:off x="548640" y="3429000"/>
            <a:ext cx="5440680" cy="548640"/>
          </a:xfrm>
          <a:prstGeom prst="rect">
            <a:avLst>
              <a:gd name="adj" fmla="val 13333"/>
            </a:avLst>
          </a:prstGeom>
          <a:solidFill>
            <a:srgbClr val="E5484D"/>
          </a:solidFill>
          <a:ln w="15875">
            <a:solidFill>
              <a:srgbClr val="E5484D"/>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Rate limiting</a:t>
            </a:r>
            <a:endParaRPr lang="en-US" sz="1800" dirty="0"/>
          </a:p>
        </p:txBody>
      </p:sp>
      <p:sp>
        <p:nvSpPr>
          <p:cNvPr id="15" name="Text 12"/>
          <p:cNvSpPr/>
          <p:nvPr/>
        </p:nvSpPr>
        <p:spPr>
          <a:xfrm>
            <a:off x="548640" y="4023360"/>
            <a:ext cx="5440680" cy="777240"/>
          </a:xfrm>
          <a:prstGeom prst="roundRect">
            <a:avLst>
              <a:gd name="adj" fmla="val 7059"/>
            </a:avLst>
          </a:prstGeom>
          <a:solidFill>
            <a:srgbClr val="111827"/>
          </a:solidFill>
          <a:ln/>
        </p:spPr>
        <p:txBody>
          <a:bodyPr wrap="square" lIns="1905" tIns="1905" rIns="1905" bIns="1905"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429 Too Many Requests</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Retry-After: 30</a:t>
            </a:r>
            <a:endParaRPr lang="en-US" sz="1300" dirty="0"/>
          </a:p>
        </p:txBody>
      </p:sp>
      <p:sp>
        <p:nvSpPr>
          <p:cNvPr id="16" name="Text 13"/>
          <p:cNvSpPr/>
          <p:nvPr/>
        </p:nvSpPr>
        <p:spPr>
          <a:xfrm>
            <a:off x="548640" y="4846320"/>
            <a:ext cx="5440680" cy="594360"/>
          </a:xfrm>
          <a:prstGeom prst="rect">
            <a:avLst>
              <a:gd name="adj" fmla="val 12308"/>
            </a:avLst>
          </a:prstGeom>
          <a:solidFill>
            <a:srgbClr val="FFFFFF"/>
          </a:solidFill>
          <a:ln w="15875">
            <a:solidFill>
              <a:srgbClr val="E5484D"/>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TEST: Exceed the limit, then confirm the reset and the header.</a:t>
            </a:r>
            <a:endParaRPr lang="en-US" sz="1300" dirty="0"/>
          </a:p>
        </p:txBody>
      </p:sp>
      <p:sp>
        <p:nvSpPr>
          <p:cNvPr id="17" name="Text 14"/>
          <p:cNvSpPr/>
          <p:nvPr/>
        </p:nvSpPr>
        <p:spPr>
          <a:xfrm>
            <a:off x="6172200" y="3429000"/>
            <a:ext cx="5440680" cy="548640"/>
          </a:xfrm>
          <a:prstGeom prst="rect">
            <a:avLst>
              <a:gd name="adj" fmla="val 13333"/>
            </a:avLst>
          </a:prstGeom>
          <a:solidFill>
            <a:srgbClr val="7C5CFC"/>
          </a:solidFill>
          <a:ln w="15875">
            <a:solidFill>
              <a:srgbClr val="7C5CFC"/>
            </a:solidFill>
          </a:ln>
        </p:spPr>
        <p:txBody>
          <a:bodyPr wrap="square" lIns="1016" tIns="1016" rIns="1016" bIns="1016"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Idempotency</a:t>
            </a:r>
            <a:endParaRPr lang="en-US" sz="1800" dirty="0"/>
          </a:p>
        </p:txBody>
      </p:sp>
      <p:sp>
        <p:nvSpPr>
          <p:cNvPr id="18" name="Text 15"/>
          <p:cNvSpPr/>
          <p:nvPr/>
        </p:nvSpPr>
        <p:spPr>
          <a:xfrm>
            <a:off x="6172200" y="4023360"/>
            <a:ext cx="5440680" cy="777240"/>
          </a:xfrm>
          <a:prstGeom prst="roundRect">
            <a:avLst>
              <a:gd name="adj" fmla="val 7059"/>
            </a:avLst>
          </a:prstGeom>
          <a:solidFill>
            <a:srgbClr val="111827"/>
          </a:solidFill>
          <a:ln/>
        </p:spPr>
        <p:txBody>
          <a:bodyPr wrap="square" lIns="1905" tIns="1905" rIns="1905" bIns="1905"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POST /payments</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Idempotency-Key: 9b1c...</a:t>
            </a:r>
            <a:endParaRPr lang="en-US" sz="1300" dirty="0"/>
          </a:p>
        </p:txBody>
      </p:sp>
      <p:sp>
        <p:nvSpPr>
          <p:cNvPr id="19" name="Text 16"/>
          <p:cNvSpPr/>
          <p:nvPr/>
        </p:nvSpPr>
        <p:spPr>
          <a:xfrm>
            <a:off x="6172200" y="4846320"/>
            <a:ext cx="5440680" cy="594360"/>
          </a:xfrm>
          <a:prstGeom prst="rect">
            <a:avLst>
              <a:gd name="adj" fmla="val 12308"/>
            </a:avLst>
          </a:prstGeom>
          <a:solidFill>
            <a:srgbClr val="FFFFFF"/>
          </a:solidFill>
          <a:ln w="15875">
            <a:solidFill>
              <a:srgbClr val="7C5CFC"/>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TEST: Retry the same call: one charge, not two.</a:t>
            </a:r>
            <a:endParaRPr lang="en-US" sz="1300" dirty="0"/>
          </a:p>
        </p:txBody>
      </p:sp>
      <p:sp>
        <p:nvSpPr>
          <p:cNvPr id="20" name="Shape 17"/>
          <p:cNvSpPr/>
          <p:nvPr/>
        </p:nvSpPr>
        <p:spPr>
          <a:xfrm>
            <a:off x="457200" y="5760720"/>
            <a:ext cx="82296" cy="548640"/>
          </a:xfrm>
          <a:prstGeom prst="rect">
            <a:avLst/>
          </a:prstGeom>
          <a:solidFill>
            <a:srgbClr val="F59E0B"/>
          </a:solidFill>
          <a:ln/>
        </p:spPr>
      </p:sp>
      <p:sp>
        <p:nvSpPr>
          <p:cNvPr id="21" name="Text 18"/>
          <p:cNvSpPr/>
          <p:nvPr/>
        </p:nvSpPr>
        <p:spPr>
          <a:xfrm>
            <a:off x="594360" y="576072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Quick win: add 429 Too Many Requests and 401/403 checks to every API test pack, not only 200 and 404.</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REST's pain points led to GraphQL (2015)</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49</a:t>
            </a:r>
            <a:endParaRPr lang="en-US" sz="1000" dirty="0"/>
          </a:p>
        </p:txBody>
      </p:sp>
      <p:sp>
        <p:nvSpPr>
          <p:cNvPr id="8" name="Text 5"/>
          <p:cNvSpPr/>
          <p:nvPr/>
        </p:nvSpPr>
        <p:spPr>
          <a:xfrm>
            <a:off x="548640" y="1143000"/>
            <a:ext cx="5486400" cy="365760"/>
          </a:xfrm>
          <a:prstGeom prst="rect">
            <a:avLst/>
          </a:prstGeom>
          <a:noFill/>
          <a:ln/>
        </p:spPr>
        <p:txBody>
          <a:bodyPr wrap="square" lIns="508" tIns="508" rIns="508" bIns="508" rtlCol="0" anchor="ctr"/>
          <a:lstStyle/>
          <a:p>
            <a:pPr indent="0" marL="0">
              <a:buNone/>
            </a:pPr>
            <a:r>
              <a:rPr lang="en-US" sz="1700" b="1" dirty="0">
                <a:solidFill>
                  <a:srgbClr val="E5484D"/>
                </a:solidFill>
                <a:latin typeface="Calibri" pitchFamily="34" charset="0"/>
                <a:ea typeface="Calibri" pitchFamily="34" charset="-122"/>
                <a:cs typeface="Calibri" pitchFamily="34" charset="-120"/>
              </a:rPr>
              <a:t>REST: 3 calls, lots of unused data</a:t>
            </a:r>
            <a:endParaRPr lang="en-US" sz="1700" dirty="0"/>
          </a:p>
        </p:txBody>
      </p:sp>
      <p:sp>
        <p:nvSpPr>
          <p:cNvPr id="9" name="Text 6"/>
          <p:cNvSpPr/>
          <p:nvPr/>
        </p:nvSpPr>
        <p:spPr>
          <a:xfrm>
            <a:off x="548640" y="2011680"/>
            <a:ext cx="1463040" cy="1005840"/>
          </a:xfrm>
          <a:prstGeom prst="roundRect">
            <a:avLst>
              <a:gd name="adj" fmla="val 7273"/>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 App</a:t>
            </a:r>
            <a:endParaRPr lang="en-US" sz="1400" dirty="0"/>
          </a:p>
        </p:txBody>
      </p:sp>
      <p:sp>
        <p:nvSpPr>
          <p:cNvPr id="10" name="Text 7"/>
          <p:cNvSpPr/>
          <p:nvPr/>
        </p:nvSpPr>
        <p:spPr>
          <a:xfrm>
            <a:off x="2743200" y="1645920"/>
            <a:ext cx="2651760" cy="548640"/>
          </a:xfrm>
          <a:prstGeom prst="roundRect">
            <a:avLst>
              <a:gd name="adj" fmla="val 13333"/>
            </a:avLst>
          </a:prstGeom>
          <a:solidFill>
            <a:srgbClr val="FDE4E4"/>
          </a:solidFill>
          <a:ln w="15875">
            <a:solidFill>
              <a:srgbClr val="E5484D"/>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GET /users/42</a:t>
            </a:r>
            <a:endParaRPr lang="en-US" sz="1200" dirty="0"/>
          </a:p>
        </p:txBody>
      </p:sp>
      <p:sp>
        <p:nvSpPr>
          <p:cNvPr id="11" name="Shape 8"/>
          <p:cNvSpPr/>
          <p:nvPr/>
        </p:nvSpPr>
        <p:spPr>
          <a:xfrm flipV="1">
            <a:off x="2011680" y="1920240"/>
            <a:ext cx="731520" cy="594360"/>
          </a:xfrm>
          <a:prstGeom prst="line">
            <a:avLst/>
          </a:prstGeom>
          <a:noFill/>
          <a:ln w="25400">
            <a:solidFill>
              <a:srgbClr val="E5484D"/>
            </a:solidFill>
            <a:prstDash val="solid"/>
            <a:tailEnd type="triangle"/>
          </a:ln>
        </p:spPr>
      </p:sp>
      <p:sp>
        <p:nvSpPr>
          <p:cNvPr id="12" name="Text 9"/>
          <p:cNvSpPr/>
          <p:nvPr/>
        </p:nvSpPr>
        <p:spPr>
          <a:xfrm>
            <a:off x="2743200" y="2423160"/>
            <a:ext cx="2651760" cy="548640"/>
          </a:xfrm>
          <a:prstGeom prst="roundRect">
            <a:avLst>
              <a:gd name="adj" fmla="val 13333"/>
            </a:avLst>
          </a:prstGeom>
          <a:solidFill>
            <a:srgbClr val="FDE4E4"/>
          </a:solidFill>
          <a:ln w="15875">
            <a:solidFill>
              <a:srgbClr val="E5484D"/>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GET /users/42/orders</a:t>
            </a:r>
            <a:endParaRPr lang="en-US" sz="1200" dirty="0"/>
          </a:p>
        </p:txBody>
      </p:sp>
      <p:sp>
        <p:nvSpPr>
          <p:cNvPr id="13" name="Shape 10"/>
          <p:cNvSpPr/>
          <p:nvPr/>
        </p:nvSpPr>
        <p:spPr>
          <a:xfrm>
            <a:off x="2011680" y="2514600"/>
            <a:ext cx="731520" cy="182880"/>
          </a:xfrm>
          <a:prstGeom prst="line">
            <a:avLst/>
          </a:prstGeom>
          <a:noFill/>
          <a:ln w="25400">
            <a:solidFill>
              <a:srgbClr val="E5484D"/>
            </a:solidFill>
            <a:prstDash val="solid"/>
            <a:tailEnd type="triangle"/>
          </a:ln>
        </p:spPr>
      </p:sp>
      <p:sp>
        <p:nvSpPr>
          <p:cNvPr id="14" name="Text 11"/>
          <p:cNvSpPr/>
          <p:nvPr/>
        </p:nvSpPr>
        <p:spPr>
          <a:xfrm>
            <a:off x="2743200" y="3200400"/>
            <a:ext cx="2651760" cy="548640"/>
          </a:xfrm>
          <a:prstGeom prst="roundRect">
            <a:avLst>
              <a:gd name="adj" fmla="val 13333"/>
            </a:avLst>
          </a:prstGeom>
          <a:solidFill>
            <a:srgbClr val="FDE4E4"/>
          </a:solidFill>
          <a:ln w="15875">
            <a:solidFill>
              <a:srgbClr val="E5484D"/>
            </a:solidFill>
          </a:ln>
        </p:spPr>
        <p:txBody>
          <a:bodyPr wrap="square" lIns="1016" tIns="1016" rIns="1016" bIns="1016" rtlCol="0" anchor="ctr"/>
          <a:lstStyle/>
          <a:p>
            <a:pPr algn="ctr" indent="0" marL="0">
              <a:buNone/>
            </a:pPr>
            <a:r>
              <a:rPr lang="en-US" sz="1200" dirty="0">
                <a:solidFill>
                  <a:srgbClr val="1F2937"/>
                </a:solidFill>
                <a:latin typeface="Consolas" pitchFamily="34" charset="0"/>
                <a:ea typeface="Consolas" pitchFamily="34" charset="-122"/>
                <a:cs typeface="Consolas" pitchFamily="34" charset="-120"/>
              </a:rPr>
              <a:t>GET /orders/7/items</a:t>
            </a:r>
            <a:endParaRPr lang="en-US" sz="1200" dirty="0"/>
          </a:p>
        </p:txBody>
      </p:sp>
      <p:sp>
        <p:nvSpPr>
          <p:cNvPr id="15" name="Shape 12"/>
          <p:cNvSpPr/>
          <p:nvPr/>
        </p:nvSpPr>
        <p:spPr>
          <a:xfrm>
            <a:off x="2011680" y="2514600"/>
            <a:ext cx="731520" cy="960120"/>
          </a:xfrm>
          <a:prstGeom prst="line">
            <a:avLst/>
          </a:prstGeom>
          <a:noFill/>
          <a:ln w="25400">
            <a:solidFill>
              <a:srgbClr val="E5484D"/>
            </a:solidFill>
            <a:prstDash val="solid"/>
            <a:tailEnd type="triangle"/>
          </a:ln>
        </p:spPr>
      </p:sp>
      <p:sp>
        <p:nvSpPr>
          <p:cNvPr id="16" name="Text 13"/>
          <p:cNvSpPr/>
          <p:nvPr/>
        </p:nvSpPr>
        <p:spPr>
          <a:xfrm>
            <a:off x="6309360" y="1143000"/>
            <a:ext cx="5486400" cy="365760"/>
          </a:xfrm>
          <a:prstGeom prst="rect">
            <a:avLst/>
          </a:prstGeom>
          <a:noFill/>
          <a:ln/>
        </p:spPr>
        <p:txBody>
          <a:bodyPr wrap="square" lIns="508" tIns="508" rIns="508" bIns="508" rtlCol="0" anchor="ctr"/>
          <a:lstStyle/>
          <a:p>
            <a:pPr indent="0" marL="0">
              <a:buNone/>
            </a:pPr>
            <a:r>
              <a:rPr lang="en-US" sz="1700" b="1" dirty="0">
                <a:solidFill>
                  <a:srgbClr val="0F9D8F"/>
                </a:solidFill>
                <a:latin typeface="Calibri" pitchFamily="34" charset="0"/>
                <a:ea typeface="Calibri" pitchFamily="34" charset="-122"/>
                <a:cs typeface="Calibri" pitchFamily="34" charset="-120"/>
              </a:rPr>
              <a:t>GraphQL: 1 call, ask only for what you need</a:t>
            </a:r>
            <a:endParaRPr lang="en-US" sz="1700" dirty="0"/>
          </a:p>
        </p:txBody>
      </p:sp>
      <p:sp>
        <p:nvSpPr>
          <p:cNvPr id="17" name="Text 14"/>
          <p:cNvSpPr/>
          <p:nvPr/>
        </p:nvSpPr>
        <p:spPr>
          <a:xfrm>
            <a:off x="6309360" y="2011680"/>
            <a:ext cx="1463040" cy="1005840"/>
          </a:xfrm>
          <a:prstGeom prst="roundRect">
            <a:avLst>
              <a:gd name="adj" fmla="val 7273"/>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 App</a:t>
            </a:r>
            <a:endParaRPr lang="en-US" sz="1400" dirty="0"/>
          </a:p>
        </p:txBody>
      </p:sp>
      <p:sp>
        <p:nvSpPr>
          <p:cNvPr id="18" name="Shape 15"/>
          <p:cNvSpPr/>
          <p:nvPr/>
        </p:nvSpPr>
        <p:spPr>
          <a:xfrm>
            <a:off x="7772400" y="2514600"/>
            <a:ext cx="640080" cy="0"/>
          </a:xfrm>
          <a:prstGeom prst="line">
            <a:avLst/>
          </a:prstGeom>
          <a:noFill/>
          <a:ln w="25400">
            <a:solidFill>
              <a:srgbClr val="0F9D8F"/>
            </a:solidFill>
            <a:prstDash val="solid"/>
            <a:tailEnd type="triangle"/>
          </a:ln>
        </p:spPr>
      </p:sp>
      <p:sp>
        <p:nvSpPr>
          <p:cNvPr id="19" name="Text 16"/>
          <p:cNvSpPr/>
          <p:nvPr/>
        </p:nvSpPr>
        <p:spPr>
          <a:xfrm>
            <a:off x="8412480" y="1645920"/>
            <a:ext cx="3291840" cy="1645920"/>
          </a:xfrm>
          <a:prstGeom prst="roundRect">
            <a:avLst>
              <a:gd name="adj" fmla="val 3333"/>
            </a:avLst>
          </a:prstGeom>
          <a:solidFill>
            <a:srgbClr val="111827"/>
          </a:solidFill>
          <a:ln/>
        </p:spPr>
        <p:txBody>
          <a:bodyPr wrap="square" lIns="1905" tIns="1905" rIns="1905" bIns="1905"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POST /graphql</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user(id: 42)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name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orders { id total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p:txBody>
      </p:sp>
      <p:sp>
        <p:nvSpPr>
          <p:cNvPr id="20" name="Text 17"/>
          <p:cNvSpPr/>
          <p:nvPr/>
        </p:nvSpPr>
        <p:spPr>
          <a:xfrm>
            <a:off x="6309360" y="3474720"/>
            <a:ext cx="5394960" cy="822960"/>
          </a:xfrm>
          <a:prstGeom prst="roundRect">
            <a:avLst>
              <a:gd name="adj" fmla="val 6667"/>
            </a:avLst>
          </a:prstGeom>
          <a:solidFill>
            <a:srgbClr val="111827"/>
          </a:solidFill>
          <a:ln/>
        </p:spPr>
        <p:txBody>
          <a:bodyPr wrap="square" lIns="1905" tIns="1905" rIns="1905" bIns="1905"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 "data": { "user": { "name": "Asha",</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"orders": [ {"id":7,"total":99} ] } } }</a:t>
            </a:r>
            <a:endParaRPr lang="en-US" sz="1200" dirty="0"/>
          </a:p>
        </p:txBody>
      </p:sp>
      <p:sp>
        <p:nvSpPr>
          <p:cNvPr id="21" name="Text 18"/>
          <p:cNvSpPr/>
          <p:nvPr/>
        </p:nvSpPr>
        <p:spPr>
          <a:xfrm>
            <a:off x="548640" y="4572000"/>
            <a:ext cx="10972800" cy="12801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Pros: no over/under-fetching, one endpoint, strongly typed schema</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Cons: harder caching, server complexity, often 200 even on errors (check the "errors" field)</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gRPC (2015): fast, typed, service-to-service</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50</a:t>
            </a:r>
            <a:endParaRPr lang="en-US" sz="1000" dirty="0"/>
          </a:p>
        </p:txBody>
      </p:sp>
      <p:sp>
        <p:nvSpPr>
          <p:cNvPr id="8" name="Text 5"/>
          <p:cNvSpPr/>
          <p:nvPr/>
        </p:nvSpPr>
        <p:spPr>
          <a:xfrm>
            <a:off x="548640" y="1280160"/>
            <a:ext cx="5303520" cy="3108960"/>
          </a:xfrm>
          <a:prstGeom prst="roundRect">
            <a:avLst>
              <a:gd name="adj" fmla="val 1765"/>
            </a:avLst>
          </a:prstGeom>
          <a:solidFill>
            <a:srgbClr val="111827"/>
          </a:solidFill>
          <a:ln/>
        </p:spPr>
        <p:txBody>
          <a:bodyPr wrap="square" lIns="1905" tIns="1905" rIns="1905" bIns="1905"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 user.proto (the contract)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service UserService {</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rpc GetUser (UserRequest) returns (User);</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message UserRequest { int32 id = 1; }</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message User {</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int32 id = 1;</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string name = 2;</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9" name="Text 6"/>
          <p:cNvSpPr/>
          <p:nvPr/>
        </p:nvSpPr>
        <p:spPr>
          <a:xfrm>
            <a:off x="6583680" y="1371600"/>
            <a:ext cx="2103120" cy="1005840"/>
          </a:xfrm>
          <a:prstGeom prst="roundRect">
            <a:avLst>
              <a:gd name="adj" fmla="val 7273"/>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Service A</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(Java)</a:t>
            </a:r>
            <a:endParaRPr lang="en-US" sz="1400" dirty="0"/>
          </a:p>
        </p:txBody>
      </p:sp>
      <p:sp>
        <p:nvSpPr>
          <p:cNvPr id="10" name="Text 7"/>
          <p:cNvSpPr/>
          <p:nvPr/>
        </p:nvSpPr>
        <p:spPr>
          <a:xfrm>
            <a:off x="9601200" y="1371600"/>
            <a:ext cx="2103120" cy="1005840"/>
          </a:xfrm>
          <a:prstGeom prst="roundRect">
            <a:avLst>
              <a:gd name="adj" fmla="val 7273"/>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Service B</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(Go)</a:t>
            </a:r>
            <a:endParaRPr lang="en-US" sz="1400" dirty="0"/>
          </a:p>
        </p:txBody>
      </p:sp>
      <p:sp>
        <p:nvSpPr>
          <p:cNvPr id="11" name="Shape 8"/>
          <p:cNvSpPr/>
          <p:nvPr/>
        </p:nvSpPr>
        <p:spPr>
          <a:xfrm>
            <a:off x="8686800" y="1737360"/>
            <a:ext cx="914400" cy="0"/>
          </a:xfrm>
          <a:prstGeom prst="line">
            <a:avLst/>
          </a:prstGeom>
          <a:noFill/>
          <a:ln w="25400">
            <a:solidFill>
              <a:srgbClr val="7C5CFC"/>
            </a:solidFill>
            <a:prstDash val="solid"/>
            <a:tailEnd type="triangle"/>
          </a:ln>
        </p:spPr>
      </p:sp>
      <p:sp>
        <p:nvSpPr>
          <p:cNvPr id="12" name="Shape 9"/>
          <p:cNvSpPr/>
          <p:nvPr/>
        </p:nvSpPr>
        <p:spPr>
          <a:xfrm flipH="1">
            <a:off x="8686800" y="2103120"/>
            <a:ext cx="914400" cy="0"/>
          </a:xfrm>
          <a:prstGeom prst="line">
            <a:avLst/>
          </a:prstGeom>
          <a:noFill/>
          <a:ln w="25400">
            <a:solidFill>
              <a:srgbClr val="7C5CFC"/>
            </a:solidFill>
            <a:prstDash val="solid"/>
            <a:tailEnd type="triangle"/>
          </a:ln>
        </p:spPr>
      </p:sp>
      <p:sp>
        <p:nvSpPr>
          <p:cNvPr id="13" name="Text 10"/>
          <p:cNvSpPr/>
          <p:nvPr/>
        </p:nvSpPr>
        <p:spPr>
          <a:xfrm>
            <a:off x="6583680" y="2468880"/>
            <a:ext cx="5120640" cy="365760"/>
          </a:xfrm>
          <a:prstGeom prst="rect">
            <a:avLst/>
          </a:prstGeom>
          <a:noFill/>
          <a:ln/>
        </p:spPr>
        <p:txBody>
          <a:bodyPr wrap="square" lIns="508" tIns="508" rIns="508" bIns="508" rtlCol="0" anchor="ctr"/>
          <a:lstStyle/>
          <a:p>
            <a:pPr algn="ctr" indent="0" marL="0">
              <a:buNone/>
            </a:pPr>
            <a:r>
              <a:rPr lang="en-US" sz="1400" b="1" dirty="0">
                <a:solidFill>
                  <a:srgbClr val="7C5CFC"/>
                </a:solidFill>
                <a:latin typeface="Calibri" pitchFamily="34" charset="0"/>
                <a:ea typeface="Calibri" pitchFamily="34" charset="-122"/>
                <a:cs typeface="Calibri" pitchFamily="34" charset="-120"/>
              </a:rPr>
              <a:t>binary messages over HTTP/2</a:t>
            </a:r>
            <a:endParaRPr lang="en-US" sz="1400" dirty="0"/>
          </a:p>
        </p:txBody>
      </p:sp>
      <p:sp>
        <p:nvSpPr>
          <p:cNvPr id="14" name="Text 11"/>
          <p:cNvSpPr/>
          <p:nvPr/>
        </p:nvSpPr>
        <p:spPr>
          <a:xfrm>
            <a:off x="6583680" y="3017520"/>
            <a:ext cx="5120640" cy="2194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Contract first (.proto), code generated</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 smaller and faster than JSON</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Streaming both ways</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Weak in browsers; hard to read by eye</a:t>
            </a:r>
            <a:endParaRPr lang="en-US" sz="1600" dirty="0"/>
          </a:p>
        </p:txBody>
      </p:sp>
      <p:sp>
        <p:nvSpPr>
          <p:cNvPr id="15" name="Shape 12"/>
          <p:cNvSpPr/>
          <p:nvPr/>
        </p:nvSpPr>
        <p:spPr>
          <a:xfrm>
            <a:off x="457200" y="5029200"/>
            <a:ext cx="82296" cy="548640"/>
          </a:xfrm>
          <a:prstGeom prst="rect">
            <a:avLst/>
          </a:prstGeom>
          <a:solidFill>
            <a:srgbClr val="0F9D8F"/>
          </a:solidFill>
          <a:ln/>
        </p:spPr>
      </p:sp>
      <p:sp>
        <p:nvSpPr>
          <p:cNvPr id="16" name="Text 13"/>
          <p:cNvSpPr/>
          <p:nvPr/>
        </p:nvSpPr>
        <p:spPr>
          <a:xfrm>
            <a:off x="594360" y="502920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Rule of thumb: REST for public/partner APIs, gRPC for fast internal calls, GraphQL for flexible client-driven UIs.</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After gRPC: the evolution went sideways, not forward</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51</a:t>
            </a:r>
            <a:endParaRPr lang="en-US" sz="1000" dirty="0"/>
          </a:p>
        </p:txBody>
      </p:sp>
      <p:sp>
        <p:nvSpPr>
          <p:cNvPr id="8" name="Text 5"/>
          <p:cNvSpPr/>
          <p:nvPr/>
        </p:nvSpPr>
        <p:spPr>
          <a:xfrm>
            <a:off x="548640" y="1143000"/>
            <a:ext cx="3611880" cy="594360"/>
          </a:xfrm>
          <a:prstGeom prst="rect">
            <a:avLst>
              <a:gd name="adj" fmla="val 12308"/>
            </a:avLst>
          </a:prstGeom>
          <a:solidFill>
            <a:srgbClr val="3B82F6"/>
          </a:solidFill>
          <a:ln w="15875">
            <a:solidFill>
              <a:srgbClr val="3B82F6"/>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Connect-RPC</a:t>
            </a:r>
            <a:endParaRPr lang="en-US" sz="1600" dirty="0"/>
          </a:p>
        </p:txBody>
      </p:sp>
      <p:sp>
        <p:nvSpPr>
          <p:cNvPr id="9" name="Text 6"/>
          <p:cNvSpPr/>
          <p:nvPr/>
        </p:nvSpPr>
        <p:spPr>
          <a:xfrm>
            <a:off x="548640" y="1755648"/>
            <a:ext cx="3611880" cy="274320"/>
          </a:xfrm>
          <a:prstGeom prst="rect">
            <a:avLst/>
          </a:prstGeom>
          <a:noFill/>
          <a:ln/>
        </p:spPr>
        <p:txBody>
          <a:bodyPr wrap="square" lIns="508" tIns="508" rIns="508" bIns="508"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gRPC for the browser</a:t>
            </a:r>
            <a:endParaRPr lang="en-US" sz="1200" dirty="0"/>
          </a:p>
        </p:txBody>
      </p:sp>
      <p:sp>
        <p:nvSpPr>
          <p:cNvPr id="10" name="Text 7"/>
          <p:cNvSpPr/>
          <p:nvPr/>
        </p:nvSpPr>
        <p:spPr>
          <a:xfrm>
            <a:off x="548640" y="2084832"/>
            <a:ext cx="3611880" cy="237744"/>
          </a:xfrm>
          <a:prstGeom prst="rect">
            <a:avLst>
              <a:gd name="adj" fmla="val 30769"/>
            </a:avLst>
          </a:prstGeom>
          <a:solidFill>
            <a:srgbClr val="FDE4E4"/>
          </a:solidFill>
          <a:ln w="15875">
            <a:solidFill>
              <a:srgbClr val="E5484D"/>
            </a:solidFill>
          </a:ln>
        </p:spPr>
        <p:txBody>
          <a:bodyPr wrap="square" lIns="1016" tIns="1016" rIns="1016" bIns="1016" rtlCol="0" anchor="ctr"/>
          <a:lstStyle/>
          <a:p>
            <a:pPr algn="ctr" indent="0" marL="0">
              <a:buNone/>
            </a:pPr>
            <a:r>
              <a:rPr lang="en-US" sz="1000" b="1" dirty="0">
                <a:solidFill>
                  <a:srgbClr val="E5484D"/>
                </a:solidFill>
                <a:latin typeface="Calibri" pitchFamily="34" charset="0"/>
                <a:ea typeface="Calibri" pitchFamily="34" charset="-122"/>
                <a:cs typeface="Calibri" pitchFamily="34" charset="-120"/>
              </a:rPr>
              <a:t>THE PROBLEM</a:t>
            </a:r>
            <a:endParaRPr lang="en-US" sz="1000" dirty="0"/>
          </a:p>
        </p:txBody>
      </p:sp>
      <p:sp>
        <p:nvSpPr>
          <p:cNvPr id="11" name="Text 8"/>
          <p:cNvSpPr/>
          <p:nvPr/>
        </p:nvSpPr>
        <p:spPr>
          <a:xfrm>
            <a:off x="548640" y="2322576"/>
            <a:ext cx="3611880" cy="731520"/>
          </a:xfrm>
          <a:prstGeom prst="rect">
            <a:avLst>
              <a:gd name="adj" fmla="val 10000"/>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Browsers cannot speak full gRPC without a heavy proxy (Envoy): no low-level HTTP/2 control.</a:t>
            </a:r>
            <a:endParaRPr lang="en-US" sz="1200" dirty="0"/>
          </a:p>
        </p:txBody>
      </p:sp>
      <p:sp>
        <p:nvSpPr>
          <p:cNvPr id="12" name="Text 9"/>
          <p:cNvSpPr/>
          <p:nvPr/>
        </p:nvSpPr>
        <p:spPr>
          <a:xfrm>
            <a:off x="548640" y="3108960"/>
            <a:ext cx="3611880" cy="237744"/>
          </a:xfrm>
          <a:prstGeom prst="rect">
            <a:avLst>
              <a:gd name="adj" fmla="val 30769"/>
            </a:avLst>
          </a:prstGeom>
          <a:solidFill>
            <a:srgbClr val="DDF4F0"/>
          </a:solidFill>
          <a:ln w="15875">
            <a:solidFill>
              <a:srgbClr val="0F9D8F"/>
            </a:solidFill>
          </a:ln>
        </p:spPr>
        <p:txBody>
          <a:bodyPr wrap="square" lIns="1016" tIns="1016" rIns="1016" bIns="1016" rtlCol="0" anchor="ctr"/>
          <a:lstStyle/>
          <a:p>
            <a:pPr algn="ctr" indent="0" marL="0">
              <a:buNone/>
            </a:pPr>
            <a:r>
              <a:rPr lang="en-US" sz="1000" b="1" dirty="0">
                <a:solidFill>
                  <a:srgbClr val="0F9D8F"/>
                </a:solidFill>
                <a:latin typeface="Calibri" pitchFamily="34" charset="0"/>
                <a:ea typeface="Calibri" pitchFamily="34" charset="-122"/>
                <a:cs typeface="Calibri" pitchFamily="34" charset="-120"/>
              </a:rPr>
              <a:t>WHAT IT IS</a:t>
            </a:r>
            <a:endParaRPr lang="en-US" sz="1000" dirty="0"/>
          </a:p>
        </p:txBody>
      </p:sp>
      <p:sp>
        <p:nvSpPr>
          <p:cNvPr id="13" name="Text 10"/>
          <p:cNvSpPr/>
          <p:nvPr/>
        </p:nvSpPr>
        <p:spPr>
          <a:xfrm>
            <a:off x="548640" y="3346704"/>
            <a:ext cx="3611880" cy="960120"/>
          </a:xfrm>
          <a:prstGeom prst="rect">
            <a:avLst>
              <a:gd name="adj" fmla="val 7619"/>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gRPC-style code with Protocol Buffers over plain HTTP/1.1, 2 or 3 as normal fetch calls (JSON or binary). Popular 2022-24.</a:t>
            </a:r>
            <a:endParaRPr lang="en-US" sz="1200" dirty="0"/>
          </a:p>
        </p:txBody>
      </p:sp>
      <p:sp>
        <p:nvSpPr>
          <p:cNvPr id="14" name="Text 11"/>
          <p:cNvSpPr/>
          <p:nvPr/>
        </p:nvSpPr>
        <p:spPr>
          <a:xfrm>
            <a:off x="548640" y="4389120"/>
            <a:ext cx="3611880" cy="411480"/>
          </a:xfrm>
          <a:prstGeom prst="roundRect">
            <a:avLst>
              <a:gd name="adj" fmla="val 13333"/>
            </a:avLst>
          </a:prstGeom>
          <a:solidFill>
            <a:srgbClr val="111827"/>
          </a:solidFill>
          <a:ln/>
        </p:spPr>
        <p:txBody>
          <a:bodyPr wrap="square" lIns="1905" tIns="1905" rIns="1905" bIns="1905"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Browser  →  Connect  →  gRPC backend</a:t>
            </a:r>
            <a:endParaRPr lang="en-US" sz="1100" dirty="0"/>
          </a:p>
        </p:txBody>
      </p:sp>
      <p:sp>
        <p:nvSpPr>
          <p:cNvPr id="15" name="Text 12"/>
          <p:cNvSpPr/>
          <p:nvPr/>
        </p:nvSpPr>
        <p:spPr>
          <a:xfrm>
            <a:off x="4343400" y="1143000"/>
            <a:ext cx="3611880" cy="594360"/>
          </a:xfrm>
          <a:prstGeom prst="rect">
            <a:avLst>
              <a:gd name="adj" fmla="val 12308"/>
            </a:avLst>
          </a:prstGeom>
          <a:solidFill>
            <a:srgbClr val="7C5CFC"/>
          </a:solidFill>
          <a:ln w="15875">
            <a:solidFill>
              <a:srgbClr val="7C5CFC"/>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WebTransport</a:t>
            </a:r>
            <a:endParaRPr lang="en-US" sz="1600" dirty="0"/>
          </a:p>
        </p:txBody>
      </p:sp>
      <p:sp>
        <p:nvSpPr>
          <p:cNvPr id="16" name="Text 13"/>
          <p:cNvSpPr/>
          <p:nvPr/>
        </p:nvSpPr>
        <p:spPr>
          <a:xfrm>
            <a:off x="4343400" y="1755648"/>
            <a:ext cx="3611880" cy="274320"/>
          </a:xfrm>
          <a:prstGeom prst="rect">
            <a:avLst/>
          </a:prstGeom>
          <a:noFill/>
          <a:ln/>
        </p:spPr>
        <p:txBody>
          <a:bodyPr wrap="square" lIns="508" tIns="508" rIns="508" bIns="508"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WebSockets' successor</a:t>
            </a:r>
            <a:endParaRPr lang="en-US" sz="1200" dirty="0"/>
          </a:p>
        </p:txBody>
      </p:sp>
      <p:sp>
        <p:nvSpPr>
          <p:cNvPr id="17" name="Text 14"/>
          <p:cNvSpPr/>
          <p:nvPr/>
        </p:nvSpPr>
        <p:spPr>
          <a:xfrm>
            <a:off x="4343400" y="2084832"/>
            <a:ext cx="3611880" cy="237744"/>
          </a:xfrm>
          <a:prstGeom prst="rect">
            <a:avLst>
              <a:gd name="adj" fmla="val 30769"/>
            </a:avLst>
          </a:prstGeom>
          <a:solidFill>
            <a:srgbClr val="FDE4E4"/>
          </a:solidFill>
          <a:ln w="15875">
            <a:solidFill>
              <a:srgbClr val="E5484D"/>
            </a:solidFill>
          </a:ln>
        </p:spPr>
        <p:txBody>
          <a:bodyPr wrap="square" lIns="1016" tIns="1016" rIns="1016" bIns="1016" rtlCol="0" anchor="ctr"/>
          <a:lstStyle/>
          <a:p>
            <a:pPr algn="ctr" indent="0" marL="0">
              <a:buNone/>
            </a:pPr>
            <a:r>
              <a:rPr lang="en-US" sz="1000" b="1" dirty="0">
                <a:solidFill>
                  <a:srgbClr val="E5484D"/>
                </a:solidFill>
                <a:latin typeface="Calibri" pitchFamily="34" charset="0"/>
                <a:ea typeface="Calibri" pitchFamily="34" charset="-122"/>
                <a:cs typeface="Calibri" pitchFamily="34" charset="-120"/>
              </a:rPr>
              <a:t>THE PROBLEM</a:t>
            </a:r>
            <a:endParaRPr lang="en-US" sz="1000" dirty="0"/>
          </a:p>
        </p:txBody>
      </p:sp>
      <p:sp>
        <p:nvSpPr>
          <p:cNvPr id="18" name="Text 15"/>
          <p:cNvSpPr/>
          <p:nvPr/>
        </p:nvSpPr>
        <p:spPr>
          <a:xfrm>
            <a:off x="4343400" y="2322576"/>
            <a:ext cx="3611880" cy="731520"/>
          </a:xfrm>
          <a:prstGeom prst="rect">
            <a:avLst>
              <a:gd name="adj" fmla="val 10000"/>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WebSockets suffer TCP head-of-line blocking, a poor fit for real-time media and games.</a:t>
            </a:r>
            <a:endParaRPr lang="en-US" sz="1200" dirty="0"/>
          </a:p>
        </p:txBody>
      </p:sp>
      <p:sp>
        <p:nvSpPr>
          <p:cNvPr id="19" name="Text 16"/>
          <p:cNvSpPr/>
          <p:nvPr/>
        </p:nvSpPr>
        <p:spPr>
          <a:xfrm>
            <a:off x="4343400" y="3108960"/>
            <a:ext cx="3611880" cy="237744"/>
          </a:xfrm>
          <a:prstGeom prst="rect">
            <a:avLst>
              <a:gd name="adj" fmla="val 30769"/>
            </a:avLst>
          </a:prstGeom>
          <a:solidFill>
            <a:srgbClr val="DDF4F0"/>
          </a:solidFill>
          <a:ln w="15875">
            <a:solidFill>
              <a:srgbClr val="0F9D8F"/>
            </a:solidFill>
          </a:ln>
        </p:spPr>
        <p:txBody>
          <a:bodyPr wrap="square" lIns="1016" tIns="1016" rIns="1016" bIns="1016" rtlCol="0" anchor="ctr"/>
          <a:lstStyle/>
          <a:p>
            <a:pPr algn="ctr" indent="0" marL="0">
              <a:buNone/>
            </a:pPr>
            <a:r>
              <a:rPr lang="en-US" sz="1000" b="1" dirty="0">
                <a:solidFill>
                  <a:srgbClr val="0F9D8F"/>
                </a:solidFill>
                <a:latin typeface="Calibri" pitchFamily="34" charset="0"/>
                <a:ea typeface="Calibri" pitchFamily="34" charset="-122"/>
                <a:cs typeface="Calibri" pitchFamily="34" charset="-120"/>
              </a:rPr>
              <a:t>WHAT IT IS</a:t>
            </a:r>
            <a:endParaRPr lang="en-US" sz="1000" dirty="0"/>
          </a:p>
        </p:txBody>
      </p:sp>
      <p:sp>
        <p:nvSpPr>
          <p:cNvPr id="20" name="Text 17"/>
          <p:cNvSpPr/>
          <p:nvPr/>
        </p:nvSpPr>
        <p:spPr>
          <a:xfrm>
            <a:off x="4343400" y="3346704"/>
            <a:ext cx="3611880" cy="960120"/>
          </a:xfrm>
          <a:prstGeom prst="rect">
            <a:avLst>
              <a:gd name="adj" fmla="val 7619"/>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Browser API on HTTP/3 + QUIC: two-way, multi-stream, low-latency. Gaming, live audio/video, collaborative canvases.</a:t>
            </a:r>
            <a:endParaRPr lang="en-US" sz="1200" dirty="0"/>
          </a:p>
        </p:txBody>
      </p:sp>
      <p:sp>
        <p:nvSpPr>
          <p:cNvPr id="21" name="Text 18"/>
          <p:cNvSpPr/>
          <p:nvPr/>
        </p:nvSpPr>
        <p:spPr>
          <a:xfrm>
            <a:off x="4343400" y="4389120"/>
            <a:ext cx="3611880" cy="411480"/>
          </a:xfrm>
          <a:prstGeom prst="roundRect">
            <a:avLst>
              <a:gd name="adj" fmla="val 13333"/>
            </a:avLst>
          </a:prstGeom>
          <a:solidFill>
            <a:srgbClr val="111827"/>
          </a:solidFill>
          <a:ln/>
        </p:spPr>
        <p:txBody>
          <a:bodyPr wrap="square" lIns="1905" tIns="1905" rIns="1905" bIns="1905"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Browser  ⇄  HTTP/3 (QUIC) streams</a:t>
            </a:r>
            <a:endParaRPr lang="en-US" sz="1100" dirty="0"/>
          </a:p>
        </p:txBody>
      </p:sp>
      <p:sp>
        <p:nvSpPr>
          <p:cNvPr id="22" name="Text 19"/>
          <p:cNvSpPr/>
          <p:nvPr/>
        </p:nvSpPr>
        <p:spPr>
          <a:xfrm>
            <a:off x="8138160" y="1143000"/>
            <a:ext cx="3611880" cy="594360"/>
          </a:xfrm>
          <a:prstGeom prst="rect">
            <a:avLst>
              <a:gd name="adj" fmla="val 12308"/>
            </a:avLst>
          </a:prstGeom>
          <a:solidFill>
            <a:srgbClr val="E5484D"/>
          </a:solidFill>
          <a:ln w="15875">
            <a:solidFill>
              <a:srgbClr val="E5484D"/>
            </a:solid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GraphQL Subscriptions &amp; Federation</a:t>
            </a:r>
            <a:endParaRPr lang="en-US" sz="1600" dirty="0"/>
          </a:p>
        </p:txBody>
      </p:sp>
      <p:sp>
        <p:nvSpPr>
          <p:cNvPr id="23" name="Text 20"/>
          <p:cNvSpPr/>
          <p:nvPr/>
        </p:nvSpPr>
        <p:spPr>
          <a:xfrm>
            <a:off x="8138160" y="1755648"/>
            <a:ext cx="3611880" cy="274320"/>
          </a:xfrm>
          <a:prstGeom prst="rect">
            <a:avLst/>
          </a:prstGeom>
          <a:noFill/>
          <a:ln/>
        </p:spPr>
        <p:txBody>
          <a:bodyPr wrap="square" lIns="508" tIns="508" rIns="508" bIns="508"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the graph grows up</a:t>
            </a:r>
            <a:endParaRPr lang="en-US" sz="1200" dirty="0"/>
          </a:p>
        </p:txBody>
      </p:sp>
      <p:sp>
        <p:nvSpPr>
          <p:cNvPr id="24" name="Text 21"/>
          <p:cNvSpPr/>
          <p:nvPr/>
        </p:nvSpPr>
        <p:spPr>
          <a:xfrm>
            <a:off x="8138160" y="2084832"/>
            <a:ext cx="3611880" cy="237744"/>
          </a:xfrm>
          <a:prstGeom prst="rect">
            <a:avLst>
              <a:gd name="adj" fmla="val 30769"/>
            </a:avLst>
          </a:prstGeom>
          <a:solidFill>
            <a:srgbClr val="FDE4E4"/>
          </a:solidFill>
          <a:ln w="15875">
            <a:solidFill>
              <a:srgbClr val="E5484D"/>
            </a:solidFill>
          </a:ln>
        </p:spPr>
        <p:txBody>
          <a:bodyPr wrap="square" lIns="1016" tIns="1016" rIns="1016" bIns="1016" rtlCol="0" anchor="ctr"/>
          <a:lstStyle/>
          <a:p>
            <a:pPr algn="ctr" indent="0" marL="0">
              <a:buNone/>
            </a:pPr>
            <a:r>
              <a:rPr lang="en-US" sz="1000" b="1" dirty="0">
                <a:solidFill>
                  <a:srgbClr val="E5484D"/>
                </a:solidFill>
                <a:latin typeface="Calibri" pitchFamily="34" charset="0"/>
                <a:ea typeface="Calibri" pitchFamily="34" charset="-122"/>
                <a:cs typeface="Calibri" pitchFamily="34" charset="-120"/>
              </a:rPr>
              <a:t>THE PROBLEM</a:t>
            </a:r>
            <a:endParaRPr lang="en-US" sz="1000" dirty="0"/>
          </a:p>
        </p:txBody>
      </p:sp>
      <p:sp>
        <p:nvSpPr>
          <p:cNvPr id="25" name="Text 22"/>
          <p:cNvSpPr/>
          <p:nvPr/>
        </p:nvSpPr>
        <p:spPr>
          <a:xfrm>
            <a:off x="8138160" y="2322576"/>
            <a:ext cx="3611880" cy="731520"/>
          </a:xfrm>
          <a:prstGeom prst="rect">
            <a:avLst>
              <a:gd name="adj" fmla="val 10000"/>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One frontend needs data from hundreds of independent microservices.</a:t>
            </a:r>
            <a:endParaRPr lang="en-US" sz="1200" dirty="0"/>
          </a:p>
        </p:txBody>
      </p:sp>
      <p:sp>
        <p:nvSpPr>
          <p:cNvPr id="26" name="Text 23"/>
          <p:cNvSpPr/>
          <p:nvPr/>
        </p:nvSpPr>
        <p:spPr>
          <a:xfrm>
            <a:off x="8138160" y="3108960"/>
            <a:ext cx="3611880" cy="237744"/>
          </a:xfrm>
          <a:prstGeom prst="rect">
            <a:avLst>
              <a:gd name="adj" fmla="val 30769"/>
            </a:avLst>
          </a:prstGeom>
          <a:solidFill>
            <a:srgbClr val="DDF4F0"/>
          </a:solidFill>
          <a:ln w="15875">
            <a:solidFill>
              <a:srgbClr val="0F9D8F"/>
            </a:solidFill>
          </a:ln>
        </p:spPr>
        <p:txBody>
          <a:bodyPr wrap="square" lIns="1016" tIns="1016" rIns="1016" bIns="1016" rtlCol="0" anchor="ctr"/>
          <a:lstStyle/>
          <a:p>
            <a:pPr algn="ctr" indent="0" marL="0">
              <a:buNone/>
            </a:pPr>
            <a:r>
              <a:rPr lang="en-US" sz="1000" b="1" dirty="0">
                <a:solidFill>
                  <a:srgbClr val="0F9D8F"/>
                </a:solidFill>
                <a:latin typeface="Calibri" pitchFamily="34" charset="0"/>
                <a:ea typeface="Calibri" pitchFamily="34" charset="-122"/>
                <a:cs typeface="Calibri" pitchFamily="34" charset="-120"/>
              </a:rPr>
              <a:t>WHAT IT IS</a:t>
            </a:r>
            <a:endParaRPr lang="en-US" sz="1000" dirty="0"/>
          </a:p>
        </p:txBody>
      </p:sp>
      <p:sp>
        <p:nvSpPr>
          <p:cNvPr id="27" name="Text 24"/>
          <p:cNvSpPr/>
          <p:nvPr/>
        </p:nvSpPr>
        <p:spPr>
          <a:xfrm>
            <a:off x="8138160" y="3346704"/>
            <a:ext cx="3611880" cy="960120"/>
          </a:xfrm>
          <a:prstGeom prst="rect">
            <a:avLst>
              <a:gd name="adj" fmla="val 7619"/>
            </a:avLst>
          </a:prstGeom>
          <a:solidFill>
            <a:srgbClr val="FFFFFF"/>
          </a:solidFill>
          <a:ln w="15875">
            <a:solidFill>
              <a:srgbClr val="FFFFF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Subscriptions push live updates. Federation stitches many services (often gRPC underneath) into one graph.</a:t>
            </a:r>
            <a:endParaRPr lang="en-US" sz="1200" dirty="0"/>
          </a:p>
        </p:txBody>
      </p:sp>
      <p:sp>
        <p:nvSpPr>
          <p:cNvPr id="28" name="Text 25"/>
          <p:cNvSpPr/>
          <p:nvPr/>
        </p:nvSpPr>
        <p:spPr>
          <a:xfrm>
            <a:off x="8138160" y="4389120"/>
            <a:ext cx="3611880" cy="411480"/>
          </a:xfrm>
          <a:prstGeom prst="roundRect">
            <a:avLst>
              <a:gd name="adj" fmla="val 13333"/>
            </a:avLst>
          </a:prstGeom>
          <a:solidFill>
            <a:srgbClr val="111827"/>
          </a:solidFill>
          <a:ln/>
        </p:spPr>
        <p:txBody>
          <a:bodyPr wrap="square" lIns="1905" tIns="1905" rIns="1905" bIns="1905"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Frontend → one graph → many services</a:t>
            </a:r>
            <a:endParaRPr lang="en-US" sz="1100" dirty="0"/>
          </a:p>
        </p:txBody>
      </p:sp>
      <p:sp>
        <p:nvSpPr>
          <p:cNvPr id="29" name="Text 26"/>
          <p:cNvSpPr/>
          <p:nvPr/>
        </p:nvSpPr>
        <p:spPr>
          <a:xfrm>
            <a:off x="548640" y="4937760"/>
            <a:ext cx="5486400" cy="237744"/>
          </a:xfrm>
          <a:prstGeom prst="rect">
            <a:avLst/>
          </a:prstGeom>
          <a:noFill/>
          <a:ln/>
        </p:spPr>
        <p:txBody>
          <a:bodyPr wrap="square" lIns="508" tIns="508" rIns="508" bIns="508" rtlCol="0" anchor="ctr"/>
          <a:lstStyle/>
          <a:p>
            <a:pPr indent="0" marL="0">
              <a:buNone/>
            </a:pPr>
            <a:r>
              <a:rPr lang="en-US" sz="1100" b="1" spc="300" kern="0" dirty="0">
                <a:solidFill>
                  <a:srgbClr val="0F9D8F"/>
                </a:solidFill>
                <a:latin typeface="Calibri" pitchFamily="34" charset="0"/>
                <a:ea typeface="Calibri" pitchFamily="34" charset="-122"/>
                <a:cs typeface="Calibri" pitchFamily="34" charset="-120"/>
              </a:rPr>
              <a:t>THE ECOSYSTEM TODAY</a:t>
            </a:r>
            <a:endParaRPr lang="en-US" sz="1100" dirty="0"/>
          </a:p>
        </p:txBody>
      </p:sp>
      <p:sp>
        <p:nvSpPr>
          <p:cNvPr id="30" name="Text 27"/>
          <p:cNvSpPr/>
          <p:nvPr/>
        </p:nvSpPr>
        <p:spPr>
          <a:xfrm>
            <a:off x="548640" y="5193792"/>
            <a:ext cx="3611880" cy="868680"/>
          </a:xfrm>
          <a:prstGeom prst="rect">
            <a:avLst>
              <a:gd name="adj" fmla="val 8421"/>
            </a:avLst>
          </a:prstGeom>
          <a:solidFill>
            <a:srgbClr val="FFFFFF"/>
          </a:solidFill>
          <a:ln w="15875">
            <a:solidFill>
              <a:srgbClr val="0F9D8F"/>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Public web &amp; mobile APIs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REST and GraphQL remain dominant</a:t>
            </a:r>
            <a:endParaRPr lang="en-US" sz="1200" dirty="0"/>
          </a:p>
        </p:txBody>
      </p:sp>
      <p:sp>
        <p:nvSpPr>
          <p:cNvPr id="31" name="Text 28"/>
          <p:cNvSpPr/>
          <p:nvPr/>
        </p:nvSpPr>
        <p:spPr>
          <a:xfrm>
            <a:off x="4343400" y="5193792"/>
            <a:ext cx="3611880" cy="868680"/>
          </a:xfrm>
          <a:prstGeom prst="rect">
            <a:avLst>
              <a:gd name="adj" fmla="val 8421"/>
            </a:avLst>
          </a:prstGeom>
          <a:solidFill>
            <a:srgbClr val="FFFFFF"/>
          </a:solidFill>
          <a:ln w="15875">
            <a:solidFill>
              <a:srgbClr val="0B1F3A"/>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Internal microservices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gRPC: undisputed king for speed and binary efficiency</a:t>
            </a:r>
            <a:endParaRPr lang="en-US" sz="1200" dirty="0"/>
          </a:p>
        </p:txBody>
      </p:sp>
      <p:sp>
        <p:nvSpPr>
          <p:cNvPr id="32" name="Text 29"/>
          <p:cNvSpPr/>
          <p:nvPr/>
        </p:nvSpPr>
        <p:spPr>
          <a:xfrm>
            <a:off x="8138160" y="5193792"/>
            <a:ext cx="3611880" cy="868680"/>
          </a:xfrm>
          <a:prstGeom prst="rect">
            <a:avLst>
              <a:gd name="adj" fmla="val 8421"/>
            </a:avLst>
          </a:prstGeom>
          <a:solidFill>
            <a:srgbClr val="FFFFFF"/>
          </a:solidFill>
          <a:ln w="15875">
            <a:solidFill>
              <a:srgbClr val="F59E0B"/>
            </a:solidFill>
          </a:ln>
        </p:spPr>
        <p:txBody>
          <a:bodyPr wrap="square" lIns="101600" tIns="101600" rIns="101600" bIns="1016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New additions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Connect-RPC (gRPC everywhere) and WebTransport (browser streaming)</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Real-time and push: polling, webhooks, SSE, WebSockets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52</a:t>
            </a:r>
            <a:endParaRPr lang="en-US" sz="1000" dirty="0"/>
          </a:p>
        </p:txBody>
      </p:sp>
      <p:sp>
        <p:nvSpPr>
          <p:cNvPr id="8" name="Text 5"/>
          <p:cNvSpPr/>
          <p:nvPr/>
        </p:nvSpPr>
        <p:spPr>
          <a:xfrm>
            <a:off x="548640" y="1188720"/>
            <a:ext cx="2697480" cy="548640"/>
          </a:xfrm>
          <a:prstGeom prst="rect">
            <a:avLst>
              <a:gd name="adj" fmla="val 13333"/>
            </a:avLst>
          </a:prstGeom>
          <a:solidFill>
            <a:srgbClr val="64748B"/>
          </a:solidFill>
          <a:ln w="15875">
            <a:solidFill>
              <a:srgbClr val="64748B"/>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Polling</a:t>
            </a:r>
            <a:endParaRPr lang="en-US" sz="2000" dirty="0"/>
          </a:p>
        </p:txBody>
      </p:sp>
      <p:sp>
        <p:nvSpPr>
          <p:cNvPr id="9" name="Text 6"/>
          <p:cNvSpPr/>
          <p:nvPr/>
        </p:nvSpPr>
        <p:spPr>
          <a:xfrm>
            <a:off x="548640" y="1737360"/>
            <a:ext cx="2697480" cy="502920"/>
          </a:xfrm>
          <a:prstGeom prst="rect">
            <a:avLst>
              <a:gd name="adj" fmla="val 14545"/>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client asks again and again</a:t>
            </a:r>
            <a:endParaRPr lang="en-US" sz="1300" dirty="0"/>
          </a:p>
        </p:txBody>
      </p:sp>
      <p:sp>
        <p:nvSpPr>
          <p:cNvPr id="10" name="Text 7"/>
          <p:cNvSpPr/>
          <p:nvPr/>
        </p:nvSpPr>
        <p:spPr>
          <a:xfrm>
            <a:off x="548640" y="2331720"/>
            <a:ext cx="2697480" cy="1005840"/>
          </a:xfrm>
          <a:prstGeom prst="roundRect">
            <a:avLst>
              <a:gd name="adj" fmla="val 5455"/>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Client → "anything new?"</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Client ← "no"</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(repeat every few seconds)</a:t>
            </a:r>
            <a:endParaRPr lang="en-US" sz="1000" dirty="0"/>
          </a:p>
        </p:txBody>
      </p:sp>
      <p:sp>
        <p:nvSpPr>
          <p:cNvPr id="11" name="Text 8"/>
          <p:cNvSpPr/>
          <p:nvPr/>
        </p:nvSpPr>
        <p:spPr>
          <a:xfrm>
            <a:off x="548640" y="3657600"/>
            <a:ext cx="2697480" cy="237744"/>
          </a:xfrm>
          <a:prstGeom prst="rect">
            <a:avLst>
              <a:gd name="adj" fmla="val 30769"/>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USED FOR</a:t>
            </a:r>
            <a:endParaRPr lang="en-US" sz="1000" dirty="0"/>
          </a:p>
        </p:txBody>
      </p:sp>
      <p:sp>
        <p:nvSpPr>
          <p:cNvPr id="12" name="Text 9"/>
          <p:cNvSpPr/>
          <p:nvPr/>
        </p:nvSpPr>
        <p:spPr>
          <a:xfrm>
            <a:off x="548640" y="391363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Simple dashboards, status checks</a:t>
            </a:r>
            <a:endParaRPr lang="en-US" sz="1200" dirty="0"/>
          </a:p>
        </p:txBody>
      </p:sp>
      <p:sp>
        <p:nvSpPr>
          <p:cNvPr id="13" name="Text 10"/>
          <p:cNvSpPr/>
          <p:nvPr/>
        </p:nvSpPr>
        <p:spPr>
          <a:xfrm>
            <a:off x="548640" y="4480560"/>
            <a:ext cx="2697480" cy="237744"/>
          </a:xfrm>
          <a:prstGeom prst="rect">
            <a:avLst>
              <a:gd name="adj" fmla="val 30769"/>
            </a:avLst>
          </a:prstGeom>
          <a:solidFill>
            <a:srgbClr val="FEF3C7"/>
          </a:solidFill>
          <a:ln w="15875">
            <a:solidFill>
              <a:srgbClr val="F59E0B"/>
            </a:solidFill>
          </a:ln>
        </p:spPr>
        <p:txBody>
          <a:bodyPr wrap="square" lIns="1016" tIns="1016" rIns="1016" bIns="1016"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TEST NOTE</a:t>
            </a:r>
            <a:endParaRPr lang="en-US" sz="1000" dirty="0"/>
          </a:p>
        </p:txBody>
      </p:sp>
      <p:sp>
        <p:nvSpPr>
          <p:cNvPr id="14" name="Text 11"/>
          <p:cNvSpPr/>
          <p:nvPr/>
        </p:nvSpPr>
        <p:spPr>
          <a:xfrm>
            <a:off x="548640" y="473659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Wasteful: most answers are 'no'</a:t>
            </a:r>
            <a:endParaRPr lang="en-US" sz="1200" dirty="0"/>
          </a:p>
        </p:txBody>
      </p:sp>
      <p:sp>
        <p:nvSpPr>
          <p:cNvPr id="15" name="Text 12"/>
          <p:cNvSpPr/>
          <p:nvPr/>
        </p:nvSpPr>
        <p:spPr>
          <a:xfrm>
            <a:off x="3337560" y="1188720"/>
            <a:ext cx="2697480" cy="548640"/>
          </a:xfrm>
          <a:prstGeom prst="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Webhook</a:t>
            </a:r>
            <a:endParaRPr lang="en-US" sz="2000" dirty="0"/>
          </a:p>
        </p:txBody>
      </p:sp>
      <p:sp>
        <p:nvSpPr>
          <p:cNvPr id="16" name="Text 13"/>
          <p:cNvSpPr/>
          <p:nvPr/>
        </p:nvSpPr>
        <p:spPr>
          <a:xfrm>
            <a:off x="3337560" y="1737360"/>
            <a:ext cx="2697480" cy="502920"/>
          </a:xfrm>
          <a:prstGeom prst="rect">
            <a:avLst>
              <a:gd name="adj" fmla="val 14545"/>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server calls YOUR URL on an event</a:t>
            </a:r>
            <a:endParaRPr lang="en-US" sz="1300" dirty="0"/>
          </a:p>
        </p:txBody>
      </p:sp>
      <p:sp>
        <p:nvSpPr>
          <p:cNvPr id="17" name="Text 14"/>
          <p:cNvSpPr/>
          <p:nvPr/>
        </p:nvSpPr>
        <p:spPr>
          <a:xfrm>
            <a:off x="3337560" y="2331720"/>
            <a:ext cx="2697480" cy="1005840"/>
          </a:xfrm>
          <a:prstGeom prst="roundRect">
            <a:avLst>
              <a:gd name="adj" fmla="val 5455"/>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Server → POST /my-hook</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{"event":"payment.ok"}</a:t>
            </a:r>
            <a:endParaRPr lang="en-US" sz="1000" dirty="0"/>
          </a:p>
        </p:txBody>
      </p:sp>
      <p:sp>
        <p:nvSpPr>
          <p:cNvPr id="18" name="Text 15"/>
          <p:cNvSpPr/>
          <p:nvPr/>
        </p:nvSpPr>
        <p:spPr>
          <a:xfrm>
            <a:off x="3337560" y="3657600"/>
            <a:ext cx="2697480" cy="237744"/>
          </a:xfrm>
          <a:prstGeom prst="rect">
            <a:avLst>
              <a:gd name="adj" fmla="val 30769"/>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USED FOR</a:t>
            </a:r>
            <a:endParaRPr lang="en-US" sz="1000" dirty="0"/>
          </a:p>
        </p:txBody>
      </p:sp>
      <p:sp>
        <p:nvSpPr>
          <p:cNvPr id="19" name="Text 16"/>
          <p:cNvSpPr/>
          <p:nvPr/>
        </p:nvSpPr>
        <p:spPr>
          <a:xfrm>
            <a:off x="3337560" y="391363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Payments, Git pushes, alerts</a:t>
            </a:r>
            <a:endParaRPr lang="en-US" sz="1200" dirty="0"/>
          </a:p>
        </p:txBody>
      </p:sp>
      <p:sp>
        <p:nvSpPr>
          <p:cNvPr id="20" name="Text 17"/>
          <p:cNvSpPr/>
          <p:nvPr/>
        </p:nvSpPr>
        <p:spPr>
          <a:xfrm>
            <a:off x="3337560" y="4480560"/>
            <a:ext cx="2697480" cy="237744"/>
          </a:xfrm>
          <a:prstGeom prst="rect">
            <a:avLst>
              <a:gd name="adj" fmla="val 30769"/>
            </a:avLst>
          </a:prstGeom>
          <a:solidFill>
            <a:srgbClr val="FEF3C7"/>
          </a:solidFill>
          <a:ln w="15875">
            <a:solidFill>
              <a:srgbClr val="F59E0B"/>
            </a:solidFill>
          </a:ln>
        </p:spPr>
        <p:txBody>
          <a:bodyPr wrap="square" lIns="1016" tIns="1016" rIns="1016" bIns="1016"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TEST NOTE</a:t>
            </a:r>
            <a:endParaRPr lang="en-US" sz="1000" dirty="0"/>
          </a:p>
        </p:txBody>
      </p:sp>
      <p:sp>
        <p:nvSpPr>
          <p:cNvPr id="21" name="Text 18"/>
          <p:cNvSpPr/>
          <p:nvPr/>
        </p:nvSpPr>
        <p:spPr>
          <a:xfrm>
            <a:off x="3337560" y="473659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Need a receiver or mock to capture calls</a:t>
            </a:r>
            <a:endParaRPr lang="en-US" sz="1200" dirty="0"/>
          </a:p>
        </p:txBody>
      </p:sp>
      <p:sp>
        <p:nvSpPr>
          <p:cNvPr id="22" name="Text 19"/>
          <p:cNvSpPr/>
          <p:nvPr/>
        </p:nvSpPr>
        <p:spPr>
          <a:xfrm>
            <a:off x="6126480" y="1188720"/>
            <a:ext cx="269748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SSE</a:t>
            </a:r>
            <a:endParaRPr lang="en-US" sz="2000" dirty="0"/>
          </a:p>
        </p:txBody>
      </p:sp>
      <p:sp>
        <p:nvSpPr>
          <p:cNvPr id="23" name="Text 20"/>
          <p:cNvSpPr/>
          <p:nvPr/>
        </p:nvSpPr>
        <p:spPr>
          <a:xfrm>
            <a:off x="6126480" y="1737360"/>
            <a:ext cx="2697480" cy="502920"/>
          </a:xfrm>
          <a:prstGeom prst="rect">
            <a:avLst>
              <a:gd name="adj" fmla="val 14545"/>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one-way stream, server to browser</a:t>
            </a:r>
            <a:endParaRPr lang="en-US" sz="1300" dirty="0"/>
          </a:p>
        </p:txBody>
      </p:sp>
      <p:sp>
        <p:nvSpPr>
          <p:cNvPr id="24" name="Text 21"/>
          <p:cNvSpPr/>
          <p:nvPr/>
        </p:nvSpPr>
        <p:spPr>
          <a:xfrm>
            <a:off x="6126480" y="2331720"/>
            <a:ext cx="2697480" cy="1005840"/>
          </a:xfrm>
          <a:prstGeom prst="roundRect">
            <a:avLst>
              <a:gd name="adj" fmla="val 5455"/>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Client → GET /events</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Server ⇒ data… data…</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text/event-stream</a:t>
            </a:r>
            <a:endParaRPr lang="en-US" sz="1000" dirty="0"/>
          </a:p>
        </p:txBody>
      </p:sp>
      <p:sp>
        <p:nvSpPr>
          <p:cNvPr id="25" name="Text 22"/>
          <p:cNvSpPr/>
          <p:nvPr/>
        </p:nvSpPr>
        <p:spPr>
          <a:xfrm>
            <a:off x="6126480" y="3657600"/>
            <a:ext cx="2697480" cy="237744"/>
          </a:xfrm>
          <a:prstGeom prst="rect">
            <a:avLst>
              <a:gd name="adj" fmla="val 30769"/>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USED FOR</a:t>
            </a:r>
            <a:endParaRPr lang="en-US" sz="1000" dirty="0"/>
          </a:p>
        </p:txBody>
      </p:sp>
      <p:sp>
        <p:nvSpPr>
          <p:cNvPr id="26" name="Text 23"/>
          <p:cNvSpPr/>
          <p:nvPr/>
        </p:nvSpPr>
        <p:spPr>
          <a:xfrm>
            <a:off x="6126480" y="391363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Live scores, notifications, feeds</a:t>
            </a:r>
            <a:endParaRPr lang="en-US" sz="1200" dirty="0"/>
          </a:p>
        </p:txBody>
      </p:sp>
      <p:sp>
        <p:nvSpPr>
          <p:cNvPr id="27" name="Text 24"/>
          <p:cNvSpPr/>
          <p:nvPr/>
        </p:nvSpPr>
        <p:spPr>
          <a:xfrm>
            <a:off x="6126480" y="4480560"/>
            <a:ext cx="2697480" cy="237744"/>
          </a:xfrm>
          <a:prstGeom prst="rect">
            <a:avLst>
              <a:gd name="adj" fmla="val 30769"/>
            </a:avLst>
          </a:prstGeom>
          <a:solidFill>
            <a:srgbClr val="FEF3C7"/>
          </a:solidFill>
          <a:ln w="15875">
            <a:solidFill>
              <a:srgbClr val="F59E0B"/>
            </a:solidFill>
          </a:ln>
        </p:spPr>
        <p:txBody>
          <a:bodyPr wrap="square" lIns="1016" tIns="1016" rIns="1016" bIns="1016"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TEST NOTE</a:t>
            </a:r>
            <a:endParaRPr lang="en-US" sz="1000" dirty="0"/>
          </a:p>
        </p:txBody>
      </p:sp>
      <p:sp>
        <p:nvSpPr>
          <p:cNvPr id="28" name="Text 25"/>
          <p:cNvSpPr/>
          <p:nvPr/>
        </p:nvSpPr>
        <p:spPr>
          <a:xfrm>
            <a:off x="6126480" y="473659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Check reconnect and event order</a:t>
            </a:r>
            <a:endParaRPr lang="en-US" sz="1200" dirty="0"/>
          </a:p>
        </p:txBody>
      </p:sp>
      <p:sp>
        <p:nvSpPr>
          <p:cNvPr id="29" name="Text 26"/>
          <p:cNvSpPr/>
          <p:nvPr/>
        </p:nvSpPr>
        <p:spPr>
          <a:xfrm>
            <a:off x="8915400" y="1188720"/>
            <a:ext cx="2697480" cy="548640"/>
          </a:xfrm>
          <a:prstGeom prst="rect">
            <a:avLst>
              <a:gd name="adj" fmla="val 13333"/>
            </a:avLst>
          </a:prstGeom>
          <a:solidFill>
            <a:srgbClr val="7C5CFC"/>
          </a:solidFill>
          <a:ln w="15875">
            <a:solidFill>
              <a:srgbClr val="7C5CFC"/>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WebSocket</a:t>
            </a:r>
            <a:endParaRPr lang="en-US" sz="2000" dirty="0"/>
          </a:p>
        </p:txBody>
      </p:sp>
      <p:sp>
        <p:nvSpPr>
          <p:cNvPr id="30" name="Text 27"/>
          <p:cNvSpPr/>
          <p:nvPr/>
        </p:nvSpPr>
        <p:spPr>
          <a:xfrm>
            <a:off x="8915400" y="1737360"/>
            <a:ext cx="2697480" cy="502920"/>
          </a:xfrm>
          <a:prstGeom prst="rect">
            <a:avLst>
              <a:gd name="adj" fmla="val 14545"/>
            </a:avLst>
          </a:prstGeom>
          <a:solidFill>
            <a:srgbClr val="FFFFFF"/>
          </a:solidFill>
          <a:ln w="15875">
            <a:solidFill>
              <a:srgbClr val="FFFFFF"/>
            </a:solidFill>
          </a:ln>
        </p:spPr>
        <p:txBody>
          <a:bodyPr wrap="square" lIns="1016" tIns="1016" rIns="1016" bIns="1016"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two-way, always-on connection</a:t>
            </a:r>
            <a:endParaRPr lang="en-US" sz="1300" dirty="0"/>
          </a:p>
        </p:txBody>
      </p:sp>
      <p:sp>
        <p:nvSpPr>
          <p:cNvPr id="31" name="Text 28"/>
          <p:cNvSpPr/>
          <p:nvPr/>
        </p:nvSpPr>
        <p:spPr>
          <a:xfrm>
            <a:off x="8915400" y="2331720"/>
            <a:ext cx="2697480" cy="1005840"/>
          </a:xfrm>
          <a:prstGeom prst="roundRect">
            <a:avLst>
              <a:gd name="adj" fmla="val 5455"/>
            </a:avLst>
          </a:prstGeom>
          <a:solidFill>
            <a:srgbClr val="111827"/>
          </a:solidFill>
          <a:ln/>
        </p:spPr>
        <p:txBody>
          <a:bodyPr wrap="square" lIns="1905" tIns="1905" rIns="1905" bIns="1905"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GET /chat Upgrade: websocket</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101 Switching Protocols</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Client ⇄ Server</a:t>
            </a:r>
            <a:endParaRPr lang="en-US" sz="1000" dirty="0"/>
          </a:p>
        </p:txBody>
      </p:sp>
      <p:sp>
        <p:nvSpPr>
          <p:cNvPr id="32" name="Text 29"/>
          <p:cNvSpPr/>
          <p:nvPr/>
        </p:nvSpPr>
        <p:spPr>
          <a:xfrm>
            <a:off x="8915400" y="3657600"/>
            <a:ext cx="2697480" cy="237744"/>
          </a:xfrm>
          <a:prstGeom prst="rect">
            <a:avLst>
              <a:gd name="adj" fmla="val 30769"/>
            </a:avLst>
          </a:prstGeom>
          <a:solidFill>
            <a:srgbClr val="E0ECFF"/>
          </a:solidFill>
          <a:ln w="15875">
            <a:solidFill>
              <a:srgbClr val="3B82F6"/>
            </a:solidFill>
          </a:ln>
        </p:spPr>
        <p:txBody>
          <a:bodyPr wrap="square" lIns="1016" tIns="1016" rIns="1016" bIns="1016"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USED FOR</a:t>
            </a:r>
            <a:endParaRPr lang="en-US" sz="1000" dirty="0"/>
          </a:p>
        </p:txBody>
      </p:sp>
      <p:sp>
        <p:nvSpPr>
          <p:cNvPr id="33" name="Text 30"/>
          <p:cNvSpPr/>
          <p:nvPr/>
        </p:nvSpPr>
        <p:spPr>
          <a:xfrm>
            <a:off x="8915400" y="391363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Chat, trading, collaboration</a:t>
            </a:r>
            <a:endParaRPr lang="en-US" sz="1200" dirty="0"/>
          </a:p>
        </p:txBody>
      </p:sp>
      <p:sp>
        <p:nvSpPr>
          <p:cNvPr id="34" name="Text 31"/>
          <p:cNvSpPr/>
          <p:nvPr/>
        </p:nvSpPr>
        <p:spPr>
          <a:xfrm>
            <a:off x="8915400" y="4480560"/>
            <a:ext cx="2697480" cy="237744"/>
          </a:xfrm>
          <a:prstGeom prst="rect">
            <a:avLst>
              <a:gd name="adj" fmla="val 30769"/>
            </a:avLst>
          </a:prstGeom>
          <a:solidFill>
            <a:srgbClr val="FEF3C7"/>
          </a:solidFill>
          <a:ln w="15875">
            <a:solidFill>
              <a:srgbClr val="F59E0B"/>
            </a:solidFill>
          </a:ln>
        </p:spPr>
        <p:txBody>
          <a:bodyPr wrap="square" lIns="1016" tIns="1016" rIns="1016" bIns="1016"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TEST NOTE</a:t>
            </a:r>
            <a:endParaRPr lang="en-US" sz="1000" dirty="0"/>
          </a:p>
        </p:txBody>
      </p:sp>
      <p:sp>
        <p:nvSpPr>
          <p:cNvPr id="35" name="Text 32"/>
          <p:cNvSpPr/>
          <p:nvPr/>
        </p:nvSpPr>
        <p:spPr>
          <a:xfrm>
            <a:off x="8915400" y="4736592"/>
            <a:ext cx="2697480" cy="502920"/>
          </a:xfrm>
          <a:prstGeom prst="rect">
            <a:avLst/>
          </a:prstGeom>
          <a:noFill/>
          <a:ln/>
        </p:spPr>
        <p:txBody>
          <a:bodyPr wrap="square" lIns="508" tIns="508" rIns="508" bIns="508"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Test drops, reconnect, ordering</a:t>
            </a:r>
            <a:endParaRPr lang="en-US" sz="1200" dirty="0"/>
          </a:p>
        </p:txBody>
      </p:sp>
      <p:sp>
        <p:nvSpPr>
          <p:cNvPr id="36" name="Shape 33"/>
          <p:cNvSpPr/>
          <p:nvPr/>
        </p:nvSpPr>
        <p:spPr>
          <a:xfrm>
            <a:off x="457200" y="5486400"/>
            <a:ext cx="82296" cy="548640"/>
          </a:xfrm>
          <a:prstGeom prst="rect">
            <a:avLst/>
          </a:prstGeom>
          <a:solidFill>
            <a:srgbClr val="0F9D8F"/>
          </a:solidFill>
          <a:ln/>
        </p:spPr>
      </p:sp>
      <p:sp>
        <p:nvSpPr>
          <p:cNvPr id="37" name="Text 34"/>
          <p:cNvSpPr/>
          <p:nvPr/>
        </p:nvSpPr>
        <p:spPr>
          <a:xfrm>
            <a:off x="594360" y="548640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Beyond one request, one response: you must test connection, message order, reconnects and timeouts, not just a status code.</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Choosing: REST vs SOAP vs GraphQL vs gRPC</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53</a:t>
            </a:r>
            <a:endParaRPr lang="en-US" sz="1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828800"/>
                <a:gridCol w="2194560"/>
                <a:gridCol w="2377440"/>
                <a:gridCol w="2377440"/>
                <a:gridCol w="2286000"/>
              </a:tblGrid>
              <a:tr h="502920">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SOAP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9D8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GraphQL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gRPC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r>
              <a:tr h="50292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Style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Protocol (XML)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Architectural style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Query language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RPC framework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Format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XML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JSON (mostly)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JSON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Protobuf (binary)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50292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Transport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HTTP, others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HTTP/1.1+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HTTP (one endpoint)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HTTP/2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Contract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WSDL (strict)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OpenAPI (optional)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Schema (typed)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.proto (strict)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50292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Human readable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Easy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Easy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Enterprise, legacy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Public &amp; web APIs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Flexible UIs / mobile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Internal microservices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ECFF"/>
                    </a:solidFill>
                  </a:tcPr>
                </a:tc>
              </a:tr>
              <a:tr h="50292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Tester effort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Medium-High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4F0"/>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Medium-High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5577840"/>
            <a:ext cx="82296" cy="548640"/>
          </a:xfrm>
          <a:prstGeom prst="rect">
            <a:avLst/>
          </a:prstGeom>
          <a:solidFill>
            <a:srgbClr val="0F9D8F"/>
          </a:solidFill>
          <a:ln/>
        </p:spPr>
      </p:sp>
      <p:sp>
        <p:nvSpPr>
          <p:cNvPr id="10" name="Text 6"/>
          <p:cNvSpPr/>
          <p:nvPr/>
        </p:nvSpPr>
        <p:spPr>
          <a:xfrm>
            <a:off x="594360" y="557784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You will meet REST most often. That is where we will spend our hands-on time.</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Knowledge check 4: APIs and REST</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From web pages to APIs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54</a:t>
            </a:r>
            <a:endParaRPr lang="en-US" sz="1000" dirty="0"/>
          </a:p>
        </p:txBody>
      </p:sp>
      <p:sp>
        <p:nvSpPr>
          <p:cNvPr id="8" name="Text 5"/>
          <p:cNvSpPr/>
          <p:nvPr/>
        </p:nvSpPr>
        <p:spPr>
          <a:xfrm>
            <a:off x="548640" y="13258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9" name="Text 6"/>
          <p:cNvSpPr/>
          <p:nvPr/>
        </p:nvSpPr>
        <p:spPr>
          <a:xfrm>
            <a:off x="685800" y="14173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Q1</a:t>
            </a:r>
            <a:endParaRPr lang="en-US" sz="2600" dirty="0"/>
          </a:p>
        </p:txBody>
      </p:sp>
      <p:sp>
        <p:nvSpPr>
          <p:cNvPr id="10" name="Text 7"/>
          <p:cNvSpPr/>
          <p:nvPr/>
        </p:nvSpPr>
        <p:spPr>
          <a:xfrm>
            <a:off x="1371600" y="13716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Which of these is a RESTful URL design: /getUser?id=42  or  /users/42 ?</a:t>
            </a:r>
            <a:endParaRPr lang="en-US" sz="1900" dirty="0"/>
          </a:p>
        </p:txBody>
      </p:sp>
      <p:sp>
        <p:nvSpPr>
          <p:cNvPr id="11" name="Text 8"/>
          <p:cNvSpPr/>
          <p:nvPr/>
        </p:nvSpPr>
        <p:spPr>
          <a:xfrm>
            <a:off x="1371600" y="20116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Why?</a:t>
            </a:r>
            <a:endParaRPr lang="en-US" sz="1500" dirty="0"/>
          </a:p>
        </p:txBody>
      </p:sp>
      <p:sp>
        <p:nvSpPr>
          <p:cNvPr id="12" name="Text 9"/>
          <p:cNvSpPr/>
          <p:nvPr/>
        </p:nvSpPr>
        <p:spPr>
          <a:xfrm>
            <a:off x="548640" y="29260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3" name="Text 10"/>
          <p:cNvSpPr/>
          <p:nvPr/>
        </p:nvSpPr>
        <p:spPr>
          <a:xfrm>
            <a:off x="685800" y="30175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Q2</a:t>
            </a:r>
            <a:endParaRPr lang="en-US" sz="2600" dirty="0"/>
          </a:p>
        </p:txBody>
      </p:sp>
      <p:sp>
        <p:nvSpPr>
          <p:cNvPr id="14" name="Text 11"/>
          <p:cNvSpPr/>
          <p:nvPr/>
        </p:nvSpPr>
        <p:spPr>
          <a:xfrm>
            <a:off x="1371600" y="29718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Which style solves "I get 30 fields but need 2" in one request?</a:t>
            </a:r>
            <a:endParaRPr lang="en-US" sz="1900" dirty="0"/>
          </a:p>
        </p:txBody>
      </p:sp>
      <p:sp>
        <p:nvSpPr>
          <p:cNvPr id="15" name="Text 12"/>
          <p:cNvSpPr/>
          <p:nvPr/>
        </p:nvSpPr>
        <p:spPr>
          <a:xfrm>
            <a:off x="1371600" y="36118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 SOAP  B) GraphQL  C) Telnet</a:t>
            </a:r>
            <a:endParaRPr lang="en-US" sz="1500" dirty="0"/>
          </a:p>
        </p:txBody>
      </p:sp>
      <p:sp>
        <p:nvSpPr>
          <p:cNvPr id="16" name="Text 13"/>
          <p:cNvSpPr/>
          <p:nvPr/>
        </p:nvSpPr>
        <p:spPr>
          <a:xfrm>
            <a:off x="548640" y="4526280"/>
            <a:ext cx="11064240" cy="1417320"/>
          </a:xfrm>
          <a:prstGeom prst="roundRect">
            <a:avLst>
              <a:gd name="adj" fmla="val 5161"/>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7" name="Text 14"/>
          <p:cNvSpPr/>
          <p:nvPr/>
        </p:nvSpPr>
        <p:spPr>
          <a:xfrm>
            <a:off x="685800" y="4617720"/>
            <a:ext cx="731520" cy="548640"/>
          </a:xfrm>
          <a:prstGeom prst="rect">
            <a:avLst/>
          </a:prstGeom>
          <a:noFill/>
          <a:ln/>
        </p:spPr>
        <p:txBody>
          <a:bodyPr wrap="square" lIns="508" tIns="508" rIns="508" bIns="508" rtlCol="0" anchor="ctr"/>
          <a:lstStyle/>
          <a:p>
            <a:pPr indent="0" marL="0">
              <a:buNone/>
            </a:pPr>
            <a:r>
              <a:rPr lang="en-US" sz="2600" b="1" dirty="0">
                <a:solidFill>
                  <a:srgbClr val="0F9D8F"/>
                </a:solidFill>
                <a:latin typeface="Calibri" pitchFamily="34" charset="0"/>
                <a:ea typeface="Calibri" pitchFamily="34" charset="-122"/>
                <a:cs typeface="Calibri" pitchFamily="34" charset="-120"/>
              </a:rPr>
              <a:t>Q3</a:t>
            </a:r>
            <a:endParaRPr lang="en-US" sz="2600" dirty="0"/>
          </a:p>
        </p:txBody>
      </p:sp>
      <p:sp>
        <p:nvSpPr>
          <p:cNvPr id="18" name="Text 15"/>
          <p:cNvSpPr/>
          <p:nvPr/>
        </p:nvSpPr>
        <p:spPr>
          <a:xfrm>
            <a:off x="1371600" y="4572000"/>
            <a:ext cx="10058400" cy="640080"/>
          </a:xfrm>
          <a:prstGeom prst="rect">
            <a:avLst/>
          </a:prstGeom>
          <a:noFill/>
          <a:ln/>
        </p:spPr>
        <p:txBody>
          <a:bodyPr wrap="square" lIns="508" tIns="508" rIns="508" bIns="508"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True or false: REST is a protocol like HTTP.</a:t>
            </a:r>
            <a:endParaRPr lang="en-US" sz="1900" dirty="0"/>
          </a:p>
        </p:txBody>
      </p:sp>
      <p:sp>
        <p:nvSpPr>
          <p:cNvPr id="19" name="Text 16"/>
          <p:cNvSpPr/>
          <p:nvPr/>
        </p:nvSpPr>
        <p:spPr>
          <a:xfrm>
            <a:off x="1371600" y="5212080"/>
            <a:ext cx="10058400" cy="640080"/>
          </a:xfrm>
          <a:prstGeom prst="rect">
            <a:avLst/>
          </a:prstGeom>
          <a:noFill/>
          <a:ln/>
        </p:spPr>
        <p:txBody>
          <a:bodyPr wrap="square" lIns="508" tIns="508" rIns="508" bIns="508" rtlCol="0" anchor="ctr"/>
          <a:lstStyle/>
          <a:p>
            <a:pPr indent="0" marL="0">
              <a:buNone/>
            </a:pPr>
            <a:r>
              <a:rPr lang="en-US" sz="1500" dirty="0">
                <a:solidFill>
                  <a:srgbClr val="64748B"/>
                </a:solidFill>
                <a:latin typeface="Calibri" pitchFamily="34" charset="0"/>
                <a:ea typeface="Calibri" pitchFamily="34" charset="-122"/>
                <a:cs typeface="Calibri" pitchFamily="34" charset="-120"/>
              </a:rPr>
              <a:t>Hint: Roy Fielding, 2000.</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2011680"/>
            <a:ext cx="109728" cy="2011680"/>
          </a:xfrm>
          <a:prstGeom prst="rect">
            <a:avLst/>
          </a:prstGeom>
          <a:solidFill>
            <a:srgbClr val="0F9D8F"/>
          </a:solidFill>
          <a:ln/>
        </p:spPr>
      </p:sp>
      <p:sp>
        <p:nvSpPr>
          <p:cNvPr id="3" name="Text 1"/>
          <p:cNvSpPr/>
          <p:nvPr/>
        </p:nvSpPr>
        <p:spPr>
          <a:xfrm>
            <a:off x="1005840" y="1920240"/>
            <a:ext cx="5486400" cy="457200"/>
          </a:xfrm>
          <a:prstGeom prst="rect">
            <a:avLst/>
          </a:prstGeom>
          <a:noFill/>
          <a:ln/>
        </p:spPr>
        <p:txBody>
          <a:bodyPr wrap="square" lIns="508" tIns="508" rIns="508" bIns="508" rtlCol="0" anchor="ctr"/>
          <a:lstStyle/>
          <a:p>
            <a:pPr indent="0" marL="0">
              <a:buNone/>
            </a:pPr>
            <a:r>
              <a:rPr lang="en-US" sz="1600" b="1" spc="400" kern="0" dirty="0">
                <a:solidFill>
                  <a:srgbClr val="F59E0B"/>
                </a:solidFill>
                <a:latin typeface="Calibri" pitchFamily="34" charset="0"/>
                <a:ea typeface="Calibri" pitchFamily="34" charset="-122"/>
                <a:cs typeface="Calibri" pitchFamily="34" charset="-120"/>
              </a:rPr>
              <a:t>PART 5</a:t>
            </a:r>
            <a:endParaRPr lang="en-US" sz="1600" dirty="0"/>
          </a:p>
        </p:txBody>
      </p:sp>
      <p:sp>
        <p:nvSpPr>
          <p:cNvPr id="4" name="Text 2"/>
          <p:cNvSpPr/>
          <p:nvPr/>
        </p:nvSpPr>
        <p:spPr>
          <a:xfrm>
            <a:off x="1005840" y="2377440"/>
            <a:ext cx="10058400" cy="1005840"/>
          </a:xfrm>
          <a:prstGeom prst="rect">
            <a:avLst/>
          </a:prstGeom>
          <a:noFill/>
          <a:ln/>
        </p:spPr>
        <p:txBody>
          <a:bodyPr wrap="square" lIns="508" tIns="508" rIns="508" bIns="508"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Microservices</a:t>
            </a:r>
            <a:endParaRPr lang="en-US" sz="4400" dirty="0"/>
          </a:p>
        </p:txBody>
      </p:sp>
      <p:sp>
        <p:nvSpPr>
          <p:cNvPr id="5" name="Text 3"/>
          <p:cNvSpPr/>
          <p:nvPr/>
        </p:nvSpPr>
        <p:spPr>
          <a:xfrm>
            <a:off x="1005840" y="3383280"/>
            <a:ext cx="9601200" cy="731520"/>
          </a:xfrm>
          <a:prstGeom prst="rect">
            <a:avLst/>
          </a:prstGeom>
          <a:noFill/>
          <a:ln/>
        </p:spPr>
        <p:txBody>
          <a:bodyPr wrap="square" lIns="508" tIns="508" rIns="508" bIns="508" rtlCol="0" anchor="ctr"/>
          <a:lstStyle/>
          <a:p>
            <a:pPr indent="0" marL="0">
              <a:buNone/>
            </a:pPr>
            <a:r>
              <a:rPr lang="en-US" sz="2000" dirty="0">
                <a:solidFill>
                  <a:srgbClr val="9FB3C8"/>
                </a:solidFill>
                <a:latin typeface="Calibri" pitchFamily="34" charset="0"/>
                <a:ea typeface="Calibri" pitchFamily="34" charset="-122"/>
                <a:cs typeface="Calibri" pitchFamily="34" charset="-120"/>
              </a:rPr>
              <a:t>How modern systems are built, and where REST fits</a:t>
            </a: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Monolith vs microservices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Microservices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56</a:t>
            </a:r>
            <a:endParaRPr lang="en-US" sz="1000" dirty="0"/>
          </a:p>
        </p:txBody>
      </p:sp>
      <p:sp>
        <p:nvSpPr>
          <p:cNvPr id="8" name="Text 5"/>
          <p:cNvSpPr/>
          <p:nvPr/>
        </p:nvSpPr>
        <p:spPr>
          <a:xfrm>
            <a:off x="548640" y="1143000"/>
            <a:ext cx="5303520" cy="365760"/>
          </a:xfrm>
          <a:prstGeom prst="rect">
            <a:avLst/>
          </a:prstGeom>
          <a:noFill/>
          <a:ln/>
        </p:spPr>
        <p:txBody>
          <a:bodyPr wrap="square" lIns="508" tIns="508" rIns="508" bIns="508" rtlCol="0" anchor="ctr"/>
          <a:lstStyle/>
          <a:p>
            <a:pPr indent="0" marL="0">
              <a:buNone/>
            </a:pPr>
            <a:r>
              <a:rPr lang="en-US" sz="2000" b="1" dirty="0">
                <a:solidFill>
                  <a:srgbClr val="E5484D"/>
                </a:solidFill>
                <a:latin typeface="Calibri" pitchFamily="34" charset="0"/>
                <a:ea typeface="Calibri" pitchFamily="34" charset="-122"/>
                <a:cs typeface="Calibri" pitchFamily="34" charset="-120"/>
              </a:rPr>
              <a:t>Monolith</a:t>
            </a:r>
            <a:endParaRPr lang="en-US" sz="2000" dirty="0"/>
          </a:p>
        </p:txBody>
      </p:sp>
      <p:sp>
        <p:nvSpPr>
          <p:cNvPr id="9" name="Text 6"/>
          <p:cNvSpPr/>
          <p:nvPr/>
        </p:nvSpPr>
        <p:spPr>
          <a:xfrm>
            <a:off x="548640" y="1645920"/>
            <a:ext cx="5120640" cy="3108960"/>
          </a:xfrm>
          <a:prstGeom prst="roundRect">
            <a:avLst>
              <a:gd name="adj" fmla="val 2353"/>
            </a:avLst>
          </a:prstGeom>
          <a:solidFill>
            <a:srgbClr val="FDE4E4"/>
          </a:solidFill>
          <a:ln w="15875">
            <a:solidFill>
              <a:srgbClr val="E5484D"/>
            </a:solidFill>
          </a:ln>
        </p:spPr>
        <p:txBody>
          <a:bodyPr wrap="square" lIns="1016" tIns="1016" rIns="1016" bIns="1016" rtlCol="0" anchor="ctr"/>
          <a:lstStyle/>
          <a:p>
            <a:pPr algn="ctr" indent="0" marL="0">
              <a:buNone/>
            </a:pPr>
            <a:endParaRPr lang="en-US" sz="1400" dirty="0"/>
          </a:p>
        </p:txBody>
      </p:sp>
      <p:sp>
        <p:nvSpPr>
          <p:cNvPr id="10" name="Text 7"/>
          <p:cNvSpPr/>
          <p:nvPr/>
        </p:nvSpPr>
        <p:spPr>
          <a:xfrm>
            <a:off x="822960" y="1920240"/>
            <a:ext cx="2103120" cy="731520"/>
          </a:xfrm>
          <a:prstGeom prst="roundRect">
            <a:avLst>
              <a:gd name="adj" fmla="val 10000"/>
            </a:avLst>
          </a:prstGeom>
          <a:solidFill>
            <a:srgbClr val="FFFFFF"/>
          </a:solidFill>
          <a:ln w="15875">
            <a:solidFill>
              <a:srgbClr val="E5484D"/>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Users</a:t>
            </a:r>
            <a:endParaRPr lang="en-US" sz="1400" dirty="0"/>
          </a:p>
        </p:txBody>
      </p:sp>
      <p:sp>
        <p:nvSpPr>
          <p:cNvPr id="11" name="Text 8"/>
          <p:cNvSpPr/>
          <p:nvPr/>
        </p:nvSpPr>
        <p:spPr>
          <a:xfrm>
            <a:off x="3108960" y="1920240"/>
            <a:ext cx="2103120" cy="731520"/>
          </a:xfrm>
          <a:prstGeom prst="roundRect">
            <a:avLst>
              <a:gd name="adj" fmla="val 10000"/>
            </a:avLst>
          </a:prstGeom>
          <a:solidFill>
            <a:srgbClr val="FFFFFF"/>
          </a:solidFill>
          <a:ln w="15875">
            <a:solidFill>
              <a:srgbClr val="E5484D"/>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Orders</a:t>
            </a:r>
            <a:endParaRPr lang="en-US" sz="1400" dirty="0"/>
          </a:p>
        </p:txBody>
      </p:sp>
      <p:sp>
        <p:nvSpPr>
          <p:cNvPr id="12" name="Text 9"/>
          <p:cNvSpPr/>
          <p:nvPr/>
        </p:nvSpPr>
        <p:spPr>
          <a:xfrm>
            <a:off x="822960" y="2834640"/>
            <a:ext cx="2103120" cy="731520"/>
          </a:xfrm>
          <a:prstGeom prst="roundRect">
            <a:avLst>
              <a:gd name="adj" fmla="val 10000"/>
            </a:avLst>
          </a:prstGeom>
          <a:solidFill>
            <a:srgbClr val="FFFFFF"/>
          </a:solidFill>
          <a:ln w="15875">
            <a:solidFill>
              <a:srgbClr val="E5484D"/>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Payments</a:t>
            </a:r>
            <a:endParaRPr lang="en-US" sz="1400" dirty="0"/>
          </a:p>
        </p:txBody>
      </p:sp>
      <p:sp>
        <p:nvSpPr>
          <p:cNvPr id="13" name="Text 10"/>
          <p:cNvSpPr/>
          <p:nvPr/>
        </p:nvSpPr>
        <p:spPr>
          <a:xfrm>
            <a:off x="3108960" y="2834640"/>
            <a:ext cx="2103120" cy="731520"/>
          </a:xfrm>
          <a:prstGeom prst="roundRect">
            <a:avLst>
              <a:gd name="adj" fmla="val 10000"/>
            </a:avLst>
          </a:prstGeom>
          <a:solidFill>
            <a:srgbClr val="FFFFFF"/>
          </a:solidFill>
          <a:ln w="15875">
            <a:solidFill>
              <a:srgbClr val="E5484D"/>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Catalog</a:t>
            </a:r>
            <a:endParaRPr lang="en-US" sz="1400" dirty="0"/>
          </a:p>
        </p:txBody>
      </p:sp>
      <p:sp>
        <p:nvSpPr>
          <p:cNvPr id="14" name="Text 11"/>
          <p:cNvSpPr/>
          <p:nvPr/>
        </p:nvSpPr>
        <p:spPr>
          <a:xfrm>
            <a:off x="822960" y="3840480"/>
            <a:ext cx="4572000" cy="640080"/>
          </a:xfrm>
          <a:prstGeom prst="roundRect">
            <a:avLst>
              <a:gd name="adj" fmla="val 11429"/>
            </a:avLst>
          </a:prstGeom>
          <a:solidFill>
            <a:srgbClr val="E5484D"/>
          </a:solidFill>
          <a:ln w="15875">
            <a:solidFill>
              <a:srgbClr val="E5484D"/>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One database</a:t>
            </a:r>
            <a:endParaRPr lang="en-US" sz="1400" dirty="0"/>
          </a:p>
        </p:txBody>
      </p:sp>
      <p:sp>
        <p:nvSpPr>
          <p:cNvPr id="15" name="Text 12"/>
          <p:cNvSpPr/>
          <p:nvPr/>
        </p:nvSpPr>
        <p:spPr>
          <a:xfrm>
            <a:off x="6309360" y="1143000"/>
            <a:ext cx="5303520" cy="365760"/>
          </a:xfrm>
          <a:prstGeom prst="rect">
            <a:avLst/>
          </a:prstGeom>
          <a:noFill/>
          <a:ln/>
        </p:spPr>
        <p:txBody>
          <a:bodyPr wrap="square" lIns="508" tIns="508" rIns="508" bIns="508" rtlCol="0" anchor="ctr"/>
          <a:lstStyle/>
          <a:p>
            <a:pPr indent="0" marL="0">
              <a:buNone/>
            </a:pPr>
            <a:r>
              <a:rPr lang="en-US" sz="2000" b="1" dirty="0">
                <a:solidFill>
                  <a:srgbClr val="0F9D8F"/>
                </a:solidFill>
                <a:latin typeface="Calibri" pitchFamily="34" charset="0"/>
                <a:ea typeface="Calibri" pitchFamily="34" charset="-122"/>
                <a:cs typeface="Calibri" pitchFamily="34" charset="-120"/>
              </a:rPr>
              <a:t>Microservices</a:t>
            </a:r>
            <a:endParaRPr lang="en-US" sz="2000" dirty="0"/>
          </a:p>
        </p:txBody>
      </p:sp>
      <p:sp>
        <p:nvSpPr>
          <p:cNvPr id="16" name="Text 13"/>
          <p:cNvSpPr/>
          <p:nvPr/>
        </p:nvSpPr>
        <p:spPr>
          <a:xfrm>
            <a:off x="6309360" y="1645920"/>
            <a:ext cx="2286000" cy="731520"/>
          </a:xfrm>
          <a:prstGeom prst="roundRect">
            <a:avLst>
              <a:gd name="adj" fmla="val 10000"/>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Users service</a:t>
            </a:r>
            <a:endParaRPr lang="en-US" sz="1400" dirty="0"/>
          </a:p>
        </p:txBody>
      </p:sp>
      <p:sp>
        <p:nvSpPr>
          <p:cNvPr id="17" name="Text 14"/>
          <p:cNvSpPr/>
          <p:nvPr/>
        </p:nvSpPr>
        <p:spPr>
          <a:xfrm>
            <a:off x="6583680" y="2423160"/>
            <a:ext cx="1737360" cy="502920"/>
          </a:xfrm>
          <a:prstGeom prst="roundRect">
            <a:avLst>
              <a:gd name="adj" fmla="val 14545"/>
            </a:avLst>
          </a:prstGeom>
          <a:solidFill>
            <a:srgbClr val="FFFFFF"/>
          </a:solidFill>
          <a:ln w="15875">
            <a:solidFill>
              <a:srgbClr val="CBD5E1"/>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 own DB</a:t>
            </a:r>
            <a:endParaRPr lang="en-US" sz="1200" dirty="0"/>
          </a:p>
        </p:txBody>
      </p:sp>
      <p:sp>
        <p:nvSpPr>
          <p:cNvPr id="18" name="Text 15"/>
          <p:cNvSpPr/>
          <p:nvPr/>
        </p:nvSpPr>
        <p:spPr>
          <a:xfrm>
            <a:off x="9052560" y="1645920"/>
            <a:ext cx="2286000" cy="731520"/>
          </a:xfrm>
          <a:prstGeom prst="roundRect">
            <a:avLst>
              <a:gd name="adj" fmla="val 10000"/>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Orders service</a:t>
            </a:r>
            <a:endParaRPr lang="en-US" sz="1400" dirty="0"/>
          </a:p>
        </p:txBody>
      </p:sp>
      <p:sp>
        <p:nvSpPr>
          <p:cNvPr id="19" name="Text 16"/>
          <p:cNvSpPr/>
          <p:nvPr/>
        </p:nvSpPr>
        <p:spPr>
          <a:xfrm>
            <a:off x="9326880" y="2423160"/>
            <a:ext cx="1737360" cy="502920"/>
          </a:xfrm>
          <a:prstGeom prst="roundRect">
            <a:avLst>
              <a:gd name="adj" fmla="val 14545"/>
            </a:avLst>
          </a:prstGeom>
          <a:solidFill>
            <a:srgbClr val="FFFFFF"/>
          </a:solidFill>
          <a:ln w="15875">
            <a:solidFill>
              <a:srgbClr val="CBD5E1"/>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 own DB</a:t>
            </a:r>
            <a:endParaRPr lang="en-US" sz="1200" dirty="0"/>
          </a:p>
        </p:txBody>
      </p:sp>
      <p:sp>
        <p:nvSpPr>
          <p:cNvPr id="20" name="Text 17"/>
          <p:cNvSpPr/>
          <p:nvPr/>
        </p:nvSpPr>
        <p:spPr>
          <a:xfrm>
            <a:off x="6309360" y="3291840"/>
            <a:ext cx="2286000" cy="731520"/>
          </a:xfrm>
          <a:prstGeom prst="roundRect">
            <a:avLst>
              <a:gd name="adj" fmla="val 10000"/>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Payments service</a:t>
            </a:r>
            <a:endParaRPr lang="en-US" sz="1400" dirty="0"/>
          </a:p>
        </p:txBody>
      </p:sp>
      <p:sp>
        <p:nvSpPr>
          <p:cNvPr id="21" name="Text 18"/>
          <p:cNvSpPr/>
          <p:nvPr/>
        </p:nvSpPr>
        <p:spPr>
          <a:xfrm>
            <a:off x="6583680" y="4069080"/>
            <a:ext cx="1737360" cy="502920"/>
          </a:xfrm>
          <a:prstGeom prst="roundRect">
            <a:avLst>
              <a:gd name="adj" fmla="val 14545"/>
            </a:avLst>
          </a:prstGeom>
          <a:solidFill>
            <a:srgbClr val="FFFFFF"/>
          </a:solidFill>
          <a:ln w="15875">
            <a:solidFill>
              <a:srgbClr val="CBD5E1"/>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 own DB</a:t>
            </a:r>
            <a:endParaRPr lang="en-US" sz="1200" dirty="0"/>
          </a:p>
        </p:txBody>
      </p:sp>
      <p:sp>
        <p:nvSpPr>
          <p:cNvPr id="22" name="Text 19"/>
          <p:cNvSpPr/>
          <p:nvPr/>
        </p:nvSpPr>
        <p:spPr>
          <a:xfrm>
            <a:off x="9052560" y="3291840"/>
            <a:ext cx="2286000" cy="731520"/>
          </a:xfrm>
          <a:prstGeom prst="roundRect">
            <a:avLst>
              <a:gd name="adj" fmla="val 10000"/>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Catalog service</a:t>
            </a:r>
            <a:endParaRPr lang="en-US" sz="1400" dirty="0"/>
          </a:p>
        </p:txBody>
      </p:sp>
      <p:sp>
        <p:nvSpPr>
          <p:cNvPr id="23" name="Text 20"/>
          <p:cNvSpPr/>
          <p:nvPr/>
        </p:nvSpPr>
        <p:spPr>
          <a:xfrm>
            <a:off x="9326880" y="4069080"/>
            <a:ext cx="1737360" cy="502920"/>
          </a:xfrm>
          <a:prstGeom prst="roundRect">
            <a:avLst>
              <a:gd name="adj" fmla="val 14545"/>
            </a:avLst>
          </a:prstGeom>
          <a:solidFill>
            <a:srgbClr val="FFFFFF"/>
          </a:solidFill>
          <a:ln w="15875">
            <a:solidFill>
              <a:srgbClr val="CBD5E1"/>
            </a:solidFill>
          </a:ln>
        </p:spPr>
        <p:txBody>
          <a:bodyPr wrap="square" lIns="1016" tIns="1016" rIns="1016" bIns="1016"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 own DB</a:t>
            </a:r>
            <a:endParaRPr lang="en-US" sz="1200" dirty="0"/>
          </a:p>
        </p:txBody>
      </p:sp>
      <p:sp>
        <p:nvSpPr>
          <p:cNvPr id="24" name="Shape 21"/>
          <p:cNvSpPr/>
          <p:nvPr/>
        </p:nvSpPr>
        <p:spPr>
          <a:xfrm>
            <a:off x="8641080" y="2011680"/>
            <a:ext cx="365760" cy="0"/>
          </a:xfrm>
          <a:prstGeom prst="line">
            <a:avLst/>
          </a:prstGeom>
          <a:noFill/>
          <a:ln w="25400">
            <a:solidFill>
              <a:srgbClr val="0F9D8F"/>
            </a:solidFill>
            <a:prstDash val="solid"/>
            <a:headEnd type="triangle"/>
            <a:tailEnd type="triangle"/>
          </a:ln>
        </p:spPr>
      </p:sp>
      <p:sp>
        <p:nvSpPr>
          <p:cNvPr id="25" name="Shape 22"/>
          <p:cNvSpPr/>
          <p:nvPr/>
        </p:nvSpPr>
        <p:spPr>
          <a:xfrm>
            <a:off x="8641080" y="3657600"/>
            <a:ext cx="365760" cy="0"/>
          </a:xfrm>
          <a:prstGeom prst="line">
            <a:avLst/>
          </a:prstGeom>
          <a:noFill/>
          <a:ln w="25400">
            <a:solidFill>
              <a:srgbClr val="0F9D8F"/>
            </a:solidFill>
            <a:prstDash val="solid"/>
            <a:headEnd type="triangle"/>
            <a:tailEnd type="triangle"/>
          </a:ln>
        </p:spPr>
      </p:sp>
      <p:sp>
        <p:nvSpPr>
          <p:cNvPr id="26" name="Text 23"/>
          <p:cNvSpPr/>
          <p:nvPr/>
        </p:nvSpPr>
        <p:spPr>
          <a:xfrm>
            <a:off x="548640" y="4937760"/>
            <a:ext cx="10972800" cy="10058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Monolith: simple start; one change = redeploy everything; hard to scale parts</a:t>
            </a:r>
            <a:endParaRPr lang="en-US" sz="1500" dirty="0"/>
          </a:p>
          <a:p>
            <a:pPr marL="228600" indent="-2286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Microservices: small, independent, own data; scale and release separately; more moving parts</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How REST holds microservices together</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Microservices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57</a:t>
            </a:r>
            <a:endParaRPr lang="en-US" sz="1000" dirty="0"/>
          </a:p>
        </p:txBody>
      </p:sp>
      <p:sp>
        <p:nvSpPr>
          <p:cNvPr id="8" name="Text 5"/>
          <p:cNvSpPr/>
          <p:nvPr/>
        </p:nvSpPr>
        <p:spPr>
          <a:xfrm>
            <a:off x="457200" y="1371600"/>
            <a:ext cx="1737360" cy="731520"/>
          </a:xfrm>
          <a:prstGeom prst="roundRect">
            <a:avLst>
              <a:gd name="adj" fmla="val 10000"/>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 Web app</a:t>
            </a:r>
            <a:endParaRPr lang="en-US" sz="1400" dirty="0"/>
          </a:p>
        </p:txBody>
      </p:sp>
      <p:sp>
        <p:nvSpPr>
          <p:cNvPr id="9" name="Text 6"/>
          <p:cNvSpPr/>
          <p:nvPr/>
        </p:nvSpPr>
        <p:spPr>
          <a:xfrm>
            <a:off x="457200" y="2286000"/>
            <a:ext cx="1737360" cy="731520"/>
          </a:xfrm>
          <a:prstGeom prst="roundRect">
            <a:avLst>
              <a:gd name="adj" fmla="val 10000"/>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 Mobile app</a:t>
            </a:r>
            <a:endParaRPr lang="en-US" sz="1400" dirty="0"/>
          </a:p>
        </p:txBody>
      </p:sp>
      <p:sp>
        <p:nvSpPr>
          <p:cNvPr id="10" name="Text 7"/>
          <p:cNvSpPr/>
          <p:nvPr/>
        </p:nvSpPr>
        <p:spPr>
          <a:xfrm>
            <a:off x="457200" y="3200400"/>
            <a:ext cx="1737360" cy="731520"/>
          </a:xfrm>
          <a:prstGeom prst="roundRect">
            <a:avLst>
              <a:gd name="adj" fmla="val 10000"/>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 Partner</a:t>
            </a:r>
            <a:endParaRPr lang="en-US" sz="1400" dirty="0"/>
          </a:p>
        </p:txBody>
      </p:sp>
      <p:sp>
        <p:nvSpPr>
          <p:cNvPr id="11" name="Text 8"/>
          <p:cNvSpPr/>
          <p:nvPr/>
        </p:nvSpPr>
        <p:spPr>
          <a:xfrm>
            <a:off x="3108960" y="1828800"/>
            <a:ext cx="2377440" cy="1737360"/>
          </a:xfrm>
          <a:prstGeom prst="roundRect">
            <a:avLst>
              <a:gd name="adj" fmla="val 4211"/>
            </a:avLst>
          </a:prstGeom>
          <a:solidFill>
            <a:srgbClr val="F59E0B"/>
          </a:solidFill>
          <a:ln w="15875">
            <a:solidFill>
              <a:srgbClr val="F59E0B"/>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API Gateway</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auth · routing · rate limits</a:t>
            </a:r>
            <a:endParaRPr lang="en-US" sz="1500" dirty="0"/>
          </a:p>
        </p:txBody>
      </p:sp>
      <p:sp>
        <p:nvSpPr>
          <p:cNvPr id="12" name="Shape 9"/>
          <p:cNvSpPr/>
          <p:nvPr/>
        </p:nvSpPr>
        <p:spPr>
          <a:xfrm>
            <a:off x="2194560" y="1737360"/>
            <a:ext cx="914400" cy="960120"/>
          </a:xfrm>
          <a:prstGeom prst="line">
            <a:avLst/>
          </a:prstGeom>
          <a:noFill/>
          <a:ln w="25400">
            <a:solidFill>
              <a:srgbClr val="3B82F6"/>
            </a:solidFill>
            <a:prstDash val="solid"/>
            <a:tailEnd type="triangle"/>
          </a:ln>
        </p:spPr>
      </p:sp>
      <p:sp>
        <p:nvSpPr>
          <p:cNvPr id="13" name="Shape 10"/>
          <p:cNvSpPr/>
          <p:nvPr/>
        </p:nvSpPr>
        <p:spPr>
          <a:xfrm>
            <a:off x="2194560" y="2651760"/>
            <a:ext cx="914400" cy="45720"/>
          </a:xfrm>
          <a:prstGeom prst="line">
            <a:avLst/>
          </a:prstGeom>
          <a:noFill/>
          <a:ln w="25400">
            <a:solidFill>
              <a:srgbClr val="3B82F6"/>
            </a:solidFill>
            <a:prstDash val="solid"/>
            <a:tailEnd type="triangle"/>
          </a:ln>
        </p:spPr>
      </p:sp>
      <p:sp>
        <p:nvSpPr>
          <p:cNvPr id="14" name="Shape 11"/>
          <p:cNvSpPr/>
          <p:nvPr/>
        </p:nvSpPr>
        <p:spPr>
          <a:xfrm flipV="1">
            <a:off x="2194560" y="2697480"/>
            <a:ext cx="914400" cy="868680"/>
          </a:xfrm>
          <a:prstGeom prst="line">
            <a:avLst/>
          </a:prstGeom>
          <a:noFill/>
          <a:ln w="25400">
            <a:solidFill>
              <a:srgbClr val="3B82F6"/>
            </a:solidFill>
            <a:prstDash val="solid"/>
            <a:tailEnd type="triangle"/>
          </a:ln>
        </p:spPr>
      </p:sp>
      <p:sp>
        <p:nvSpPr>
          <p:cNvPr id="15" name="Text 12"/>
          <p:cNvSpPr/>
          <p:nvPr/>
        </p:nvSpPr>
        <p:spPr>
          <a:xfrm>
            <a:off x="6583680" y="1188720"/>
            <a:ext cx="2194560" cy="822960"/>
          </a:xfrm>
          <a:prstGeom prst="roundRect">
            <a:avLst>
              <a:gd name="adj" fmla="val 8889"/>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Users service</a:t>
            </a:r>
            <a:endParaRPr lang="en-US" sz="1400" dirty="0"/>
          </a:p>
        </p:txBody>
      </p:sp>
      <p:sp>
        <p:nvSpPr>
          <p:cNvPr id="16" name="Shape 13"/>
          <p:cNvSpPr/>
          <p:nvPr/>
        </p:nvSpPr>
        <p:spPr>
          <a:xfrm flipV="1">
            <a:off x="5486400" y="1600200"/>
            <a:ext cx="1097280" cy="1097280"/>
          </a:xfrm>
          <a:prstGeom prst="line">
            <a:avLst/>
          </a:prstGeom>
          <a:noFill/>
          <a:ln w="25400">
            <a:solidFill>
              <a:srgbClr val="0F9D8F"/>
            </a:solidFill>
            <a:prstDash val="solid"/>
            <a:tailEnd type="triangle"/>
          </a:ln>
        </p:spPr>
      </p:sp>
      <p:sp>
        <p:nvSpPr>
          <p:cNvPr id="17" name="Text 14"/>
          <p:cNvSpPr/>
          <p:nvPr/>
        </p:nvSpPr>
        <p:spPr>
          <a:xfrm>
            <a:off x="9144000" y="1188720"/>
            <a:ext cx="822960" cy="822960"/>
          </a:xfrm>
          <a:prstGeom prst="roundRect">
            <a:avLst>
              <a:gd name="adj" fmla="val 8889"/>
            </a:avLst>
          </a:prstGeom>
          <a:solidFill>
            <a:srgbClr val="FFFFFF"/>
          </a:solidFill>
          <a:ln w="15875">
            <a:solidFill>
              <a:srgbClr val="CBD5E1"/>
            </a:solidFill>
          </a:ln>
        </p:spPr>
        <p:txBody>
          <a:bodyPr wrap="square" lIns="1016" tIns="1016" rIns="1016" bIns="1016" rtlCol="0" anchor="ctr"/>
          <a:lstStyle/>
          <a:p>
            <a:pPr algn="ctr" indent="0" marL="0">
              <a:buNone/>
            </a:pPr>
            <a:r>
              <a:rPr lang="en-US" sz="2200" dirty="0">
                <a:solidFill>
                  <a:srgbClr val="1F2937"/>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8778240" y="1600200"/>
            <a:ext cx="365760" cy="0"/>
          </a:xfrm>
          <a:prstGeom prst="line">
            <a:avLst/>
          </a:prstGeom>
          <a:noFill/>
          <a:ln w="25400">
            <a:solidFill>
              <a:srgbClr val="CBD5E1"/>
            </a:solidFill>
            <a:prstDash val="solid"/>
            <a:tailEnd type="triangle"/>
          </a:ln>
        </p:spPr>
      </p:sp>
      <p:sp>
        <p:nvSpPr>
          <p:cNvPr id="19" name="Text 16"/>
          <p:cNvSpPr/>
          <p:nvPr/>
        </p:nvSpPr>
        <p:spPr>
          <a:xfrm>
            <a:off x="6583680" y="2377440"/>
            <a:ext cx="2194560" cy="822960"/>
          </a:xfrm>
          <a:prstGeom prst="roundRect">
            <a:avLst>
              <a:gd name="adj" fmla="val 8889"/>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Orders service</a:t>
            </a:r>
            <a:endParaRPr lang="en-US" sz="1400" dirty="0"/>
          </a:p>
        </p:txBody>
      </p:sp>
      <p:sp>
        <p:nvSpPr>
          <p:cNvPr id="20" name="Shape 17"/>
          <p:cNvSpPr/>
          <p:nvPr/>
        </p:nvSpPr>
        <p:spPr>
          <a:xfrm>
            <a:off x="5486400" y="2697480"/>
            <a:ext cx="1097280" cy="91440"/>
          </a:xfrm>
          <a:prstGeom prst="line">
            <a:avLst/>
          </a:prstGeom>
          <a:noFill/>
          <a:ln w="25400">
            <a:solidFill>
              <a:srgbClr val="0F9D8F"/>
            </a:solidFill>
            <a:prstDash val="solid"/>
            <a:tailEnd type="triangle"/>
          </a:ln>
        </p:spPr>
      </p:sp>
      <p:sp>
        <p:nvSpPr>
          <p:cNvPr id="21" name="Text 18"/>
          <p:cNvSpPr/>
          <p:nvPr/>
        </p:nvSpPr>
        <p:spPr>
          <a:xfrm>
            <a:off x="9144000" y="2377440"/>
            <a:ext cx="822960" cy="822960"/>
          </a:xfrm>
          <a:prstGeom prst="roundRect">
            <a:avLst>
              <a:gd name="adj" fmla="val 8889"/>
            </a:avLst>
          </a:prstGeom>
          <a:solidFill>
            <a:srgbClr val="FFFFFF"/>
          </a:solidFill>
          <a:ln w="15875">
            <a:solidFill>
              <a:srgbClr val="CBD5E1"/>
            </a:solidFill>
          </a:ln>
        </p:spPr>
        <p:txBody>
          <a:bodyPr wrap="square" lIns="1016" tIns="1016" rIns="1016" bIns="1016" rtlCol="0" anchor="ctr"/>
          <a:lstStyle/>
          <a:p>
            <a:pPr algn="ctr" indent="0" marL="0">
              <a:buNone/>
            </a:pPr>
            <a:r>
              <a:rPr lang="en-US" sz="2200" dirty="0">
                <a:solidFill>
                  <a:srgbClr val="1F2937"/>
                </a:solidFill>
                <a:latin typeface="Calibri" pitchFamily="34" charset="0"/>
                <a:ea typeface="Calibri" pitchFamily="34" charset="-122"/>
                <a:cs typeface="Calibri" pitchFamily="34" charset="-120"/>
              </a:rPr>
              <a:t>🗄️</a:t>
            </a:r>
            <a:endParaRPr lang="en-US" sz="2200" dirty="0"/>
          </a:p>
        </p:txBody>
      </p:sp>
      <p:sp>
        <p:nvSpPr>
          <p:cNvPr id="22" name="Shape 19"/>
          <p:cNvSpPr/>
          <p:nvPr/>
        </p:nvSpPr>
        <p:spPr>
          <a:xfrm>
            <a:off x="8778240" y="2788920"/>
            <a:ext cx="365760" cy="0"/>
          </a:xfrm>
          <a:prstGeom prst="line">
            <a:avLst/>
          </a:prstGeom>
          <a:noFill/>
          <a:ln w="25400">
            <a:solidFill>
              <a:srgbClr val="CBD5E1"/>
            </a:solidFill>
            <a:prstDash val="solid"/>
            <a:tailEnd type="triangle"/>
          </a:ln>
        </p:spPr>
      </p:sp>
      <p:sp>
        <p:nvSpPr>
          <p:cNvPr id="23" name="Text 20"/>
          <p:cNvSpPr/>
          <p:nvPr/>
        </p:nvSpPr>
        <p:spPr>
          <a:xfrm>
            <a:off x="6583680" y="3566160"/>
            <a:ext cx="2194560" cy="822960"/>
          </a:xfrm>
          <a:prstGeom prst="roundRect">
            <a:avLst>
              <a:gd name="adj" fmla="val 8889"/>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Payments service</a:t>
            </a:r>
            <a:endParaRPr lang="en-US" sz="1400" dirty="0"/>
          </a:p>
        </p:txBody>
      </p:sp>
      <p:sp>
        <p:nvSpPr>
          <p:cNvPr id="24" name="Shape 21"/>
          <p:cNvSpPr/>
          <p:nvPr/>
        </p:nvSpPr>
        <p:spPr>
          <a:xfrm>
            <a:off x="5486400" y="2697480"/>
            <a:ext cx="1097280" cy="1280160"/>
          </a:xfrm>
          <a:prstGeom prst="line">
            <a:avLst/>
          </a:prstGeom>
          <a:noFill/>
          <a:ln w="25400">
            <a:solidFill>
              <a:srgbClr val="0F9D8F"/>
            </a:solidFill>
            <a:prstDash val="solid"/>
            <a:tailEnd type="triangle"/>
          </a:ln>
        </p:spPr>
      </p:sp>
      <p:sp>
        <p:nvSpPr>
          <p:cNvPr id="25" name="Text 22"/>
          <p:cNvSpPr/>
          <p:nvPr/>
        </p:nvSpPr>
        <p:spPr>
          <a:xfrm>
            <a:off x="9144000" y="3566160"/>
            <a:ext cx="822960" cy="822960"/>
          </a:xfrm>
          <a:prstGeom prst="roundRect">
            <a:avLst>
              <a:gd name="adj" fmla="val 8889"/>
            </a:avLst>
          </a:prstGeom>
          <a:solidFill>
            <a:srgbClr val="FFFFFF"/>
          </a:solidFill>
          <a:ln w="15875">
            <a:solidFill>
              <a:srgbClr val="CBD5E1"/>
            </a:solidFill>
          </a:ln>
        </p:spPr>
        <p:txBody>
          <a:bodyPr wrap="square" lIns="1016" tIns="1016" rIns="1016" bIns="1016" rtlCol="0" anchor="ctr"/>
          <a:lstStyle/>
          <a:p>
            <a:pPr algn="ctr" indent="0" marL="0">
              <a:buNone/>
            </a:pPr>
            <a:r>
              <a:rPr lang="en-US" sz="2200" dirty="0">
                <a:solidFill>
                  <a:srgbClr val="1F2937"/>
                </a:solidFill>
                <a:latin typeface="Calibri" pitchFamily="34" charset="0"/>
                <a:ea typeface="Calibri" pitchFamily="34" charset="-122"/>
                <a:cs typeface="Calibri" pitchFamily="34" charset="-120"/>
              </a:rPr>
              <a:t>🗄️</a:t>
            </a:r>
            <a:endParaRPr lang="en-US" sz="2200" dirty="0"/>
          </a:p>
        </p:txBody>
      </p:sp>
      <p:sp>
        <p:nvSpPr>
          <p:cNvPr id="26" name="Shape 23"/>
          <p:cNvSpPr/>
          <p:nvPr/>
        </p:nvSpPr>
        <p:spPr>
          <a:xfrm>
            <a:off x="8778240" y="3977640"/>
            <a:ext cx="365760" cy="0"/>
          </a:xfrm>
          <a:prstGeom prst="line">
            <a:avLst/>
          </a:prstGeom>
          <a:noFill/>
          <a:ln w="25400">
            <a:solidFill>
              <a:srgbClr val="CBD5E1"/>
            </a:solidFill>
            <a:prstDash val="solid"/>
            <a:tailEnd type="triangle"/>
          </a:ln>
        </p:spPr>
      </p:sp>
      <p:sp>
        <p:nvSpPr>
          <p:cNvPr id="27" name="Shape 24"/>
          <p:cNvSpPr/>
          <p:nvPr/>
        </p:nvSpPr>
        <p:spPr>
          <a:xfrm>
            <a:off x="7680960" y="2011680"/>
            <a:ext cx="0" cy="365760"/>
          </a:xfrm>
          <a:prstGeom prst="line">
            <a:avLst/>
          </a:prstGeom>
          <a:noFill/>
          <a:ln w="25400">
            <a:solidFill>
              <a:srgbClr val="7C5CFC"/>
            </a:solidFill>
            <a:prstDash val="solid"/>
            <a:tailEnd type="triangle"/>
          </a:ln>
        </p:spPr>
      </p:sp>
      <p:sp>
        <p:nvSpPr>
          <p:cNvPr id="28" name="Shape 25"/>
          <p:cNvSpPr/>
          <p:nvPr/>
        </p:nvSpPr>
        <p:spPr>
          <a:xfrm>
            <a:off x="7680960" y="3200400"/>
            <a:ext cx="0" cy="365760"/>
          </a:xfrm>
          <a:prstGeom prst="line">
            <a:avLst/>
          </a:prstGeom>
          <a:noFill/>
          <a:ln w="25400">
            <a:solidFill>
              <a:srgbClr val="7C5CFC"/>
            </a:solidFill>
            <a:prstDash val="solid"/>
            <a:tailEnd type="triangle"/>
          </a:ln>
        </p:spPr>
      </p:sp>
      <p:sp>
        <p:nvSpPr>
          <p:cNvPr id="29" name="Text 26"/>
          <p:cNvSpPr/>
          <p:nvPr/>
        </p:nvSpPr>
        <p:spPr>
          <a:xfrm>
            <a:off x="6583680" y="4572000"/>
            <a:ext cx="3657600" cy="640080"/>
          </a:xfrm>
          <a:prstGeom prst="roundRect">
            <a:avLst>
              <a:gd name="adj" fmla="val 11429"/>
            </a:avLst>
          </a:prstGeom>
          <a:solidFill>
            <a:srgbClr val="ECE7FF"/>
          </a:solidFill>
          <a:ln w="15875">
            <a:solidFill>
              <a:srgbClr val="7C5CFC"/>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 Message broker (async events)</a:t>
            </a:r>
            <a:endParaRPr lang="en-US" sz="1400" dirty="0"/>
          </a:p>
        </p:txBody>
      </p:sp>
      <p:sp>
        <p:nvSpPr>
          <p:cNvPr id="30" name="Text 27"/>
          <p:cNvSpPr/>
          <p:nvPr/>
        </p:nvSpPr>
        <p:spPr>
          <a:xfrm>
            <a:off x="457200" y="4389120"/>
            <a:ext cx="5486400" cy="365760"/>
          </a:xfrm>
          <a:prstGeom prst="rect">
            <a:avLst/>
          </a:prstGeom>
          <a:noFill/>
          <a:ln/>
        </p:spPr>
        <p:txBody>
          <a:bodyPr wrap="square" lIns="508" tIns="508" rIns="508" bIns="508" rtlCol="0" anchor="ctr"/>
          <a:lstStyle/>
          <a:p>
            <a:pPr indent="0" marL="0">
              <a:buNone/>
            </a:pPr>
            <a:r>
              <a:rPr lang="en-US" sz="1500" b="1" dirty="0">
                <a:solidFill>
                  <a:srgbClr val="0F9D8F"/>
                </a:solidFill>
                <a:latin typeface="Calibri" pitchFamily="34" charset="0"/>
                <a:ea typeface="Calibri" pitchFamily="34" charset="-122"/>
                <a:cs typeface="Calibri" pitchFamily="34" charset="-120"/>
              </a:rPr>
              <a:t>REST calls = synchronous request/response</a:t>
            </a:r>
            <a:endParaRPr lang="en-US" sz="1500" dirty="0"/>
          </a:p>
        </p:txBody>
      </p:sp>
      <p:sp>
        <p:nvSpPr>
          <p:cNvPr id="31" name="Text 28"/>
          <p:cNvSpPr/>
          <p:nvPr/>
        </p:nvSpPr>
        <p:spPr>
          <a:xfrm>
            <a:off x="457200" y="4754880"/>
            <a:ext cx="5486400" cy="365760"/>
          </a:xfrm>
          <a:prstGeom prst="rect">
            <a:avLst/>
          </a:prstGeom>
          <a:noFill/>
          <a:ln/>
        </p:spPr>
        <p:txBody>
          <a:bodyPr wrap="square" lIns="508" tIns="508" rIns="508" bIns="508" rtlCol="0" anchor="ctr"/>
          <a:lstStyle/>
          <a:p>
            <a:pPr indent="0" marL="0">
              <a:buNone/>
            </a:pPr>
            <a:r>
              <a:rPr lang="en-US" sz="1500" b="1" dirty="0">
                <a:solidFill>
                  <a:srgbClr val="7C5CFC"/>
                </a:solidFill>
                <a:latin typeface="Calibri" pitchFamily="34" charset="0"/>
                <a:ea typeface="Calibri" pitchFamily="34" charset="-122"/>
                <a:cs typeface="Calibri" pitchFamily="34" charset="-120"/>
              </a:rPr>
              <a:t>Events = fire and forget, processed later</a:t>
            </a:r>
            <a:endParaRPr lang="en-US" sz="1500" dirty="0"/>
          </a:p>
        </p:txBody>
      </p:sp>
      <p:sp>
        <p:nvSpPr>
          <p:cNvPr id="32" name="Shape 29"/>
          <p:cNvSpPr/>
          <p:nvPr/>
        </p:nvSpPr>
        <p:spPr>
          <a:xfrm>
            <a:off x="457200" y="5577840"/>
            <a:ext cx="82296" cy="548640"/>
          </a:xfrm>
          <a:prstGeom prst="rect">
            <a:avLst/>
          </a:prstGeom>
          <a:solidFill>
            <a:srgbClr val="0F9D8F"/>
          </a:solidFill>
          <a:ln/>
        </p:spPr>
      </p:sp>
      <p:sp>
        <p:nvSpPr>
          <p:cNvPr id="33" name="Text 30"/>
          <p:cNvSpPr/>
          <p:nvPr/>
        </p:nvSpPr>
        <p:spPr>
          <a:xfrm>
            <a:off x="594360" y="557784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REST is the common language between clients and services, and often between services too. That is why API testing is the heart of microservice quality.</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Events and message brokers: asynchronous services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Microservices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58</a:t>
            </a:r>
            <a:endParaRPr lang="en-US" sz="1000" dirty="0"/>
          </a:p>
        </p:txBody>
      </p:sp>
      <p:sp>
        <p:nvSpPr>
          <p:cNvPr id="8" name="Text 5"/>
          <p:cNvSpPr/>
          <p:nvPr/>
        </p:nvSpPr>
        <p:spPr>
          <a:xfrm>
            <a:off x="548640" y="1143000"/>
            <a:ext cx="5303520" cy="365760"/>
          </a:xfrm>
          <a:prstGeom prst="rect">
            <a:avLst/>
          </a:prstGeom>
          <a:noFill/>
          <a:ln/>
        </p:spPr>
        <p:txBody>
          <a:bodyPr wrap="square" lIns="508" tIns="508" rIns="508" bIns="508" rtlCol="0" anchor="ctr"/>
          <a:lstStyle/>
          <a:p>
            <a:pPr indent="0" marL="0">
              <a:buNone/>
            </a:pPr>
            <a:r>
              <a:rPr lang="en-US" sz="1800" b="1" dirty="0">
                <a:solidFill>
                  <a:srgbClr val="0F9D8F"/>
                </a:solidFill>
                <a:latin typeface="Calibri" pitchFamily="34" charset="0"/>
                <a:ea typeface="Calibri" pitchFamily="34" charset="-122"/>
                <a:cs typeface="Calibri" pitchFamily="34" charset="-120"/>
              </a:rPr>
              <a:t>Synchronous: REST calls</a:t>
            </a:r>
            <a:endParaRPr lang="en-US" sz="1800" dirty="0"/>
          </a:p>
        </p:txBody>
      </p:sp>
      <p:sp>
        <p:nvSpPr>
          <p:cNvPr id="9" name="Text 6"/>
          <p:cNvSpPr/>
          <p:nvPr/>
        </p:nvSpPr>
        <p:spPr>
          <a:xfrm>
            <a:off x="548640" y="1828800"/>
            <a:ext cx="1371600" cy="731520"/>
          </a:xfrm>
          <a:prstGeom prst="roundRect">
            <a:avLst>
              <a:gd name="adj" fmla="val 10000"/>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Orders</a:t>
            </a:r>
            <a:endParaRPr lang="en-US" sz="1400" dirty="0"/>
          </a:p>
        </p:txBody>
      </p:sp>
      <p:sp>
        <p:nvSpPr>
          <p:cNvPr id="10" name="Shape 7"/>
          <p:cNvSpPr/>
          <p:nvPr/>
        </p:nvSpPr>
        <p:spPr>
          <a:xfrm>
            <a:off x="1920240" y="2194560"/>
            <a:ext cx="320040" cy="0"/>
          </a:xfrm>
          <a:prstGeom prst="line">
            <a:avLst/>
          </a:prstGeom>
          <a:noFill/>
          <a:ln w="25400">
            <a:solidFill>
              <a:srgbClr val="0F9D8F"/>
            </a:solidFill>
            <a:prstDash val="solid"/>
            <a:tailEnd type="triangle"/>
          </a:ln>
        </p:spPr>
      </p:sp>
      <p:sp>
        <p:nvSpPr>
          <p:cNvPr id="11" name="Text 8"/>
          <p:cNvSpPr/>
          <p:nvPr/>
        </p:nvSpPr>
        <p:spPr>
          <a:xfrm>
            <a:off x="2240280" y="1828800"/>
            <a:ext cx="1371600" cy="731520"/>
          </a:xfrm>
          <a:prstGeom prst="roundRect">
            <a:avLst>
              <a:gd name="adj" fmla="val 10000"/>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Payments</a:t>
            </a:r>
            <a:endParaRPr lang="en-US" sz="1400" dirty="0"/>
          </a:p>
        </p:txBody>
      </p:sp>
      <p:sp>
        <p:nvSpPr>
          <p:cNvPr id="12" name="Shape 9"/>
          <p:cNvSpPr/>
          <p:nvPr/>
        </p:nvSpPr>
        <p:spPr>
          <a:xfrm>
            <a:off x="3611880" y="2194560"/>
            <a:ext cx="320040" cy="0"/>
          </a:xfrm>
          <a:prstGeom prst="line">
            <a:avLst/>
          </a:prstGeom>
          <a:noFill/>
          <a:ln w="25400">
            <a:solidFill>
              <a:srgbClr val="0F9D8F"/>
            </a:solidFill>
            <a:prstDash val="solid"/>
            <a:tailEnd type="triangle"/>
          </a:ln>
        </p:spPr>
      </p:sp>
      <p:sp>
        <p:nvSpPr>
          <p:cNvPr id="13" name="Text 10"/>
          <p:cNvSpPr/>
          <p:nvPr/>
        </p:nvSpPr>
        <p:spPr>
          <a:xfrm>
            <a:off x="3931920" y="1828800"/>
            <a:ext cx="1371600" cy="731520"/>
          </a:xfrm>
          <a:prstGeom prst="roundRect">
            <a:avLst>
              <a:gd name="adj" fmla="val 10000"/>
            </a:avLst>
          </a:prstGeom>
          <a:solidFill>
            <a:srgbClr val="DDF4F0"/>
          </a:solidFill>
          <a:ln w="15875">
            <a:solidFill>
              <a:srgbClr val="0F9D8F"/>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Inventory</a:t>
            </a:r>
            <a:endParaRPr lang="en-US" sz="1400" dirty="0"/>
          </a:p>
        </p:txBody>
      </p:sp>
      <p:sp>
        <p:nvSpPr>
          <p:cNvPr id="14" name="Text 11"/>
          <p:cNvSpPr/>
          <p:nvPr/>
        </p:nvSpPr>
        <p:spPr>
          <a:xfrm>
            <a:off x="548640" y="2697480"/>
            <a:ext cx="5303520" cy="548640"/>
          </a:xfrm>
          <a:prstGeom prst="rect">
            <a:avLst/>
          </a:prstGeom>
          <a:noFill/>
          <a:ln/>
        </p:spPr>
        <p:txBody>
          <a:bodyPr wrap="square" lIns="508" tIns="508" rIns="508" bIns="508"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Caller waits for each answer. If one is down, the whole chain fails.</a:t>
            </a:r>
            <a:endParaRPr lang="en-US" sz="1300" dirty="0"/>
          </a:p>
        </p:txBody>
      </p:sp>
      <p:sp>
        <p:nvSpPr>
          <p:cNvPr id="15" name="Text 12"/>
          <p:cNvSpPr/>
          <p:nvPr/>
        </p:nvSpPr>
        <p:spPr>
          <a:xfrm>
            <a:off x="6309360" y="1143000"/>
            <a:ext cx="5303520" cy="365760"/>
          </a:xfrm>
          <a:prstGeom prst="rect">
            <a:avLst/>
          </a:prstGeom>
          <a:noFill/>
          <a:ln/>
        </p:spPr>
        <p:txBody>
          <a:bodyPr wrap="square" lIns="508" tIns="508" rIns="508" bIns="508" rtlCol="0" anchor="ctr"/>
          <a:lstStyle/>
          <a:p>
            <a:pPr indent="0" marL="0">
              <a:buNone/>
            </a:pPr>
            <a:r>
              <a:rPr lang="en-US" sz="1800" b="1" dirty="0">
                <a:solidFill>
                  <a:srgbClr val="7C5CFC"/>
                </a:solidFill>
                <a:latin typeface="Calibri" pitchFamily="34" charset="0"/>
                <a:ea typeface="Calibri" pitchFamily="34" charset="-122"/>
                <a:cs typeface="Calibri" pitchFamily="34" charset="-120"/>
              </a:rPr>
              <a:t>Asynchronous: events</a:t>
            </a:r>
            <a:endParaRPr lang="en-US" sz="1800" dirty="0"/>
          </a:p>
        </p:txBody>
      </p:sp>
      <p:sp>
        <p:nvSpPr>
          <p:cNvPr id="16" name="Text 13"/>
          <p:cNvSpPr/>
          <p:nvPr/>
        </p:nvSpPr>
        <p:spPr>
          <a:xfrm>
            <a:off x="6309360" y="1828800"/>
            <a:ext cx="1371600" cy="822960"/>
          </a:xfrm>
          <a:prstGeom prst="roundRect">
            <a:avLst>
              <a:gd name="adj" fmla="val 8889"/>
            </a:avLst>
          </a:prstGeom>
          <a:solidFill>
            <a:srgbClr val="E0ECFF"/>
          </a:solidFill>
          <a:ln w="15875">
            <a:solidFill>
              <a:srgbClr val="3B82F6"/>
            </a:solidFill>
          </a:ln>
        </p:spPr>
        <p:txBody>
          <a:bodyPr wrap="square" lIns="1016" tIns="1016" rIns="1016" bIns="1016"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Orders</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(producer)</a:t>
            </a:r>
            <a:endParaRPr lang="en-US" sz="1400" dirty="0"/>
          </a:p>
        </p:txBody>
      </p:sp>
      <p:sp>
        <p:nvSpPr>
          <p:cNvPr id="17" name="Text 14"/>
          <p:cNvSpPr/>
          <p:nvPr/>
        </p:nvSpPr>
        <p:spPr>
          <a:xfrm>
            <a:off x="8138160" y="1737360"/>
            <a:ext cx="1645920" cy="1005840"/>
          </a:xfrm>
          <a:prstGeom prst="roundRect">
            <a:avLst>
              <a:gd name="adj" fmla="val 7273"/>
            </a:avLst>
          </a:prstGeom>
          <a:solidFill>
            <a:srgbClr val="ECE7FF"/>
          </a:solidFill>
          <a:ln w="15875">
            <a:solidFill>
              <a:srgbClr val="7C5CFC"/>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Message broker</a:t>
            </a:r>
            <a:endParaRPr lang="en-US" sz="1200" dirty="0"/>
          </a:p>
          <a:p>
            <a:pPr algn="ctr" indent="0" marL="0">
              <a:buNone/>
            </a:pPr>
            <a:r>
              <a:rPr lang="en-US" sz="1200" b="1" dirty="0">
                <a:solidFill>
                  <a:srgbClr val="1F2937"/>
                </a:solidFill>
                <a:latin typeface="Calibri" pitchFamily="34" charset="0"/>
                <a:ea typeface="Calibri" pitchFamily="34" charset="-122"/>
                <a:cs typeface="Calibri" pitchFamily="34" charset="-120"/>
              </a:rPr>
              <a:t>Kafka · RabbitMQ</a:t>
            </a:r>
            <a:endParaRPr lang="en-US" sz="1200" dirty="0"/>
          </a:p>
          <a:p>
            <a:pPr algn="ctr" indent="0" marL="0">
              <a:buNone/>
            </a:pPr>
            <a:r>
              <a:rPr lang="en-US" sz="1200" b="1" dirty="0">
                <a:solidFill>
                  <a:srgbClr val="1F2937"/>
                </a:solidFill>
                <a:latin typeface="Calibri" pitchFamily="34" charset="0"/>
                <a:ea typeface="Calibri" pitchFamily="34" charset="-122"/>
                <a:cs typeface="Calibri" pitchFamily="34" charset="-120"/>
              </a:rPr>
              <a:t>"OrderPlaced"</a:t>
            </a:r>
            <a:endParaRPr lang="en-US" sz="1200" dirty="0"/>
          </a:p>
        </p:txBody>
      </p:sp>
      <p:sp>
        <p:nvSpPr>
          <p:cNvPr id="18" name="Shape 15"/>
          <p:cNvSpPr/>
          <p:nvPr/>
        </p:nvSpPr>
        <p:spPr>
          <a:xfrm>
            <a:off x="7680960" y="2240280"/>
            <a:ext cx="457200" cy="0"/>
          </a:xfrm>
          <a:prstGeom prst="line">
            <a:avLst/>
          </a:prstGeom>
          <a:noFill/>
          <a:ln w="25400">
            <a:solidFill>
              <a:srgbClr val="7C5CFC"/>
            </a:solidFill>
            <a:prstDash val="solid"/>
            <a:tailEnd type="triangle"/>
          </a:ln>
        </p:spPr>
      </p:sp>
      <p:sp>
        <p:nvSpPr>
          <p:cNvPr id="19" name="Text 16"/>
          <p:cNvSpPr/>
          <p:nvPr/>
        </p:nvSpPr>
        <p:spPr>
          <a:xfrm>
            <a:off x="10241280" y="1417320"/>
            <a:ext cx="1371600" cy="457200"/>
          </a:xfrm>
          <a:prstGeom prst="roundRect">
            <a:avLst>
              <a:gd name="adj" fmla="val 16000"/>
            </a:avLst>
          </a:prstGeom>
          <a:solidFill>
            <a:srgbClr val="DDF4F0"/>
          </a:solidFill>
          <a:ln w="15875">
            <a:solidFill>
              <a:srgbClr val="0F9D8F"/>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Payments</a:t>
            </a:r>
            <a:endParaRPr lang="en-US" sz="1200" dirty="0"/>
          </a:p>
        </p:txBody>
      </p:sp>
      <p:sp>
        <p:nvSpPr>
          <p:cNvPr id="20" name="Shape 17"/>
          <p:cNvSpPr/>
          <p:nvPr/>
        </p:nvSpPr>
        <p:spPr>
          <a:xfrm flipV="1">
            <a:off x="9784080" y="1645920"/>
            <a:ext cx="457200" cy="594360"/>
          </a:xfrm>
          <a:prstGeom prst="line">
            <a:avLst/>
          </a:prstGeom>
          <a:noFill/>
          <a:ln w="25400">
            <a:solidFill>
              <a:srgbClr val="7C5CFC"/>
            </a:solidFill>
            <a:prstDash val="solid"/>
            <a:tailEnd type="triangle"/>
          </a:ln>
        </p:spPr>
      </p:sp>
      <p:sp>
        <p:nvSpPr>
          <p:cNvPr id="21" name="Text 18"/>
          <p:cNvSpPr/>
          <p:nvPr/>
        </p:nvSpPr>
        <p:spPr>
          <a:xfrm>
            <a:off x="10241280" y="1965960"/>
            <a:ext cx="1371600" cy="457200"/>
          </a:xfrm>
          <a:prstGeom prst="roundRect">
            <a:avLst>
              <a:gd name="adj" fmla="val 16000"/>
            </a:avLst>
          </a:prstGeom>
          <a:solidFill>
            <a:srgbClr val="DDF4F0"/>
          </a:solidFill>
          <a:ln w="15875">
            <a:solidFill>
              <a:srgbClr val="0F9D8F"/>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Inventory</a:t>
            </a:r>
            <a:endParaRPr lang="en-US" sz="1200" dirty="0"/>
          </a:p>
        </p:txBody>
      </p:sp>
      <p:sp>
        <p:nvSpPr>
          <p:cNvPr id="22" name="Shape 19"/>
          <p:cNvSpPr/>
          <p:nvPr/>
        </p:nvSpPr>
        <p:spPr>
          <a:xfrm flipV="1">
            <a:off x="9784080" y="2194560"/>
            <a:ext cx="457200" cy="45720"/>
          </a:xfrm>
          <a:prstGeom prst="line">
            <a:avLst/>
          </a:prstGeom>
          <a:noFill/>
          <a:ln w="25400">
            <a:solidFill>
              <a:srgbClr val="7C5CFC"/>
            </a:solidFill>
            <a:prstDash val="solid"/>
            <a:tailEnd type="triangle"/>
          </a:ln>
        </p:spPr>
      </p:sp>
      <p:sp>
        <p:nvSpPr>
          <p:cNvPr id="23" name="Text 20"/>
          <p:cNvSpPr/>
          <p:nvPr/>
        </p:nvSpPr>
        <p:spPr>
          <a:xfrm>
            <a:off x="10241280" y="2514600"/>
            <a:ext cx="1371600" cy="457200"/>
          </a:xfrm>
          <a:prstGeom prst="roundRect">
            <a:avLst>
              <a:gd name="adj" fmla="val 16000"/>
            </a:avLst>
          </a:prstGeom>
          <a:solidFill>
            <a:srgbClr val="DDF4F0"/>
          </a:solidFill>
          <a:ln w="15875">
            <a:solidFill>
              <a:srgbClr val="0F9D8F"/>
            </a:solidFill>
          </a:ln>
        </p:spPr>
        <p:txBody>
          <a:bodyPr wrap="square" lIns="1016" tIns="1016" rIns="1016" bIns="1016"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Email</a:t>
            </a:r>
            <a:endParaRPr lang="en-US" sz="1200" dirty="0"/>
          </a:p>
        </p:txBody>
      </p:sp>
      <p:sp>
        <p:nvSpPr>
          <p:cNvPr id="24" name="Shape 21"/>
          <p:cNvSpPr/>
          <p:nvPr/>
        </p:nvSpPr>
        <p:spPr>
          <a:xfrm>
            <a:off x="9784080" y="2240280"/>
            <a:ext cx="457200" cy="502920"/>
          </a:xfrm>
          <a:prstGeom prst="line">
            <a:avLst/>
          </a:prstGeom>
          <a:noFill/>
          <a:ln w="25400">
            <a:solidFill>
              <a:srgbClr val="7C5CFC"/>
            </a:solidFill>
            <a:prstDash val="solid"/>
            <a:tailEnd type="triangle"/>
          </a:ln>
        </p:spPr>
      </p:sp>
      <p:sp>
        <p:nvSpPr>
          <p:cNvPr id="25" name="Text 22"/>
          <p:cNvSpPr/>
          <p:nvPr/>
        </p:nvSpPr>
        <p:spPr>
          <a:xfrm>
            <a:off x="6309360" y="2926080"/>
            <a:ext cx="5303520" cy="457200"/>
          </a:xfrm>
          <a:prstGeom prst="rect">
            <a:avLst/>
          </a:prstGeom>
          <a:noFill/>
          <a:ln/>
        </p:spPr>
        <p:txBody>
          <a:bodyPr wrap="square" lIns="508" tIns="508" rIns="508" bIns="508"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Producer publishes and moves on. Consumers process when ready.</a:t>
            </a:r>
            <a:endParaRPr lang="en-US" sz="1300" dirty="0"/>
          </a:p>
        </p:txBody>
      </p:sp>
      <p:sp>
        <p:nvSpPr>
          <p:cNvPr id="26" name="Text 23"/>
          <p:cNvSpPr/>
          <p:nvPr/>
        </p:nvSpPr>
        <p:spPr>
          <a:xfrm>
            <a:off x="548640" y="3611880"/>
            <a:ext cx="5440680" cy="457200"/>
          </a:xfrm>
          <a:prstGeom prst="rect">
            <a:avLst>
              <a:gd name="adj" fmla="val 16000"/>
            </a:avLst>
          </a:prstGeom>
          <a:solidFill>
            <a:srgbClr val="0F9D8F"/>
          </a:solidFill>
          <a:ln w="15875">
            <a:solidFill>
              <a:srgbClr val="0F9D8F"/>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Use REST when…</a:t>
            </a:r>
            <a:endParaRPr lang="en-US" sz="1500" dirty="0"/>
          </a:p>
        </p:txBody>
      </p:sp>
      <p:sp>
        <p:nvSpPr>
          <p:cNvPr id="27" name="Text 24"/>
          <p:cNvSpPr/>
          <p:nvPr/>
        </p:nvSpPr>
        <p:spPr>
          <a:xfrm>
            <a:off x="548640" y="4069080"/>
            <a:ext cx="5440680" cy="777240"/>
          </a:xfrm>
          <a:prstGeom prst="rect">
            <a:avLst>
              <a:gd name="adj" fmla="val 9412"/>
            </a:avLst>
          </a:prstGeom>
          <a:solidFill>
            <a:srgbClr val="FFFFFF"/>
          </a:solidFill>
          <a:ln w="15875">
            <a:solidFill>
              <a:srgbClr val="0F9D8F"/>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you need an immediate answer: get a user, check a price, validate a coupon.</a:t>
            </a:r>
            <a:endParaRPr lang="en-US" sz="1300" dirty="0"/>
          </a:p>
        </p:txBody>
      </p:sp>
      <p:sp>
        <p:nvSpPr>
          <p:cNvPr id="28" name="Text 25"/>
          <p:cNvSpPr/>
          <p:nvPr/>
        </p:nvSpPr>
        <p:spPr>
          <a:xfrm>
            <a:off x="6172200" y="3611880"/>
            <a:ext cx="5440680" cy="457200"/>
          </a:xfrm>
          <a:prstGeom prst="rect">
            <a:avLst>
              <a:gd name="adj" fmla="val 16000"/>
            </a:avLst>
          </a:prstGeom>
          <a:solidFill>
            <a:srgbClr val="7C5CFC"/>
          </a:solidFill>
          <a:ln w="15875">
            <a:solidFill>
              <a:srgbClr val="7C5CFC"/>
            </a:solidFill>
          </a:ln>
        </p:spPr>
        <p:txBody>
          <a:bodyPr wrap="square" lIns="1016" tIns="1016" rIns="1016" bIns="1016"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Use events when…</a:t>
            </a:r>
            <a:endParaRPr lang="en-US" sz="1500" dirty="0"/>
          </a:p>
        </p:txBody>
      </p:sp>
      <p:sp>
        <p:nvSpPr>
          <p:cNvPr id="29" name="Text 26"/>
          <p:cNvSpPr/>
          <p:nvPr/>
        </p:nvSpPr>
        <p:spPr>
          <a:xfrm>
            <a:off x="6172200" y="4069080"/>
            <a:ext cx="5440680" cy="777240"/>
          </a:xfrm>
          <a:prstGeom prst="rect">
            <a:avLst>
              <a:gd name="adj" fmla="val 9412"/>
            </a:avLst>
          </a:prstGeom>
          <a:solidFill>
            <a:srgbClr val="FFFFFF"/>
          </a:solidFill>
          <a:ln w="15875">
            <a:solidFill>
              <a:srgbClr val="7C5CFC"/>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work can happen later or many services care: order placed, send email, update analytics.</a:t>
            </a:r>
            <a:endParaRPr lang="en-US" sz="1300" dirty="0"/>
          </a:p>
        </p:txBody>
      </p:sp>
      <p:sp>
        <p:nvSpPr>
          <p:cNvPr id="30" name="Shape 27"/>
          <p:cNvSpPr/>
          <p:nvPr/>
        </p:nvSpPr>
        <p:spPr>
          <a:xfrm>
            <a:off x="457200" y="5120640"/>
            <a:ext cx="82296" cy="548640"/>
          </a:xfrm>
          <a:prstGeom prst="rect">
            <a:avLst/>
          </a:prstGeom>
          <a:solidFill>
            <a:srgbClr val="F59E0B"/>
          </a:solidFill>
          <a:ln/>
        </p:spPr>
      </p:sp>
      <p:sp>
        <p:nvSpPr>
          <p:cNvPr id="31" name="Text 28"/>
          <p:cNvSpPr/>
          <p:nvPr/>
        </p:nvSpPr>
        <p:spPr>
          <a:xfrm>
            <a:off x="594360" y="512064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New test cases: duplicate, out-of-order and delayed messages, retries, and "eventually consistent" data. Wait or poll for the result; never use fixed sleeps.</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microservices mean for testers and BAs</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Microservices</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59</a:t>
            </a:r>
            <a:endParaRPr lang="en-US" sz="1000" dirty="0"/>
          </a:p>
        </p:txBody>
      </p:sp>
      <p:sp>
        <p:nvSpPr>
          <p:cNvPr id="8" name="Text 5"/>
          <p:cNvSpPr/>
          <p:nvPr/>
        </p:nvSpPr>
        <p:spPr>
          <a:xfrm>
            <a:off x="2926080" y="1371600"/>
            <a:ext cx="2743200" cy="1051560"/>
          </a:xfrm>
          <a:prstGeom prst="rect">
            <a:avLst>
              <a:gd name="adj" fmla="val 6957"/>
            </a:avLst>
          </a:prstGeom>
          <a:solidFill>
            <a:srgbClr val="E5484D"/>
          </a:solidFill>
          <a:ln w="15875">
            <a:solidFill>
              <a:srgbClr val="E5484D"/>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UI tests</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few, slow, brittle</a:t>
            </a:r>
            <a:endParaRPr lang="en-US" sz="1400" dirty="0"/>
          </a:p>
        </p:txBody>
      </p:sp>
      <p:sp>
        <p:nvSpPr>
          <p:cNvPr id="9" name="Text 6"/>
          <p:cNvSpPr/>
          <p:nvPr/>
        </p:nvSpPr>
        <p:spPr>
          <a:xfrm>
            <a:off x="1737360" y="2560320"/>
            <a:ext cx="5120640" cy="1051560"/>
          </a:xfrm>
          <a:prstGeom prst="rect">
            <a:avLst>
              <a:gd name="adj" fmla="val 6957"/>
            </a:avLst>
          </a:prstGeom>
          <a:solidFill>
            <a:srgbClr val="0F9D8F"/>
          </a:solidFill>
          <a:ln w="15875">
            <a:solidFill>
              <a:srgbClr val="0F9D8F"/>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API / service tests</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many, fast, stable ← the sweet spot</a:t>
            </a:r>
            <a:endParaRPr lang="en-US" sz="1400" dirty="0"/>
          </a:p>
        </p:txBody>
      </p:sp>
      <p:sp>
        <p:nvSpPr>
          <p:cNvPr id="10" name="Text 7"/>
          <p:cNvSpPr/>
          <p:nvPr/>
        </p:nvSpPr>
        <p:spPr>
          <a:xfrm>
            <a:off x="548640" y="3749040"/>
            <a:ext cx="7498080" cy="1051560"/>
          </a:xfrm>
          <a:prstGeom prst="rect">
            <a:avLst>
              <a:gd name="adj" fmla="val 6957"/>
            </a:avLst>
          </a:prstGeom>
          <a:solidFill>
            <a:srgbClr val="3B82F6"/>
          </a:solidFill>
          <a:ln w="15875">
            <a:solidFill>
              <a:srgbClr val="3B82F6"/>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 tests</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most, fastest</a:t>
            </a:r>
            <a:endParaRPr lang="en-US" sz="1400" dirty="0"/>
          </a:p>
        </p:txBody>
      </p:sp>
      <p:sp>
        <p:nvSpPr>
          <p:cNvPr id="11" name="Text 8"/>
          <p:cNvSpPr/>
          <p:nvPr/>
        </p:nvSpPr>
        <p:spPr>
          <a:xfrm>
            <a:off x="8229600" y="1371600"/>
            <a:ext cx="1280160" cy="777240"/>
          </a:xfrm>
          <a:prstGeom prst="rect">
            <a:avLst>
              <a:gd name="adj" fmla="val 9412"/>
            </a:avLst>
          </a:prstGeom>
          <a:solidFill>
            <a:srgbClr val="0B1F3A"/>
          </a:solidFill>
          <a:ln w="15875">
            <a:solidFill>
              <a:srgbClr val="0B1F3A"/>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Mocks &amp; stubs</a:t>
            </a:r>
            <a:endParaRPr lang="en-US" sz="1200" dirty="0"/>
          </a:p>
        </p:txBody>
      </p:sp>
      <p:sp>
        <p:nvSpPr>
          <p:cNvPr id="12" name="Text 9"/>
          <p:cNvSpPr/>
          <p:nvPr/>
        </p:nvSpPr>
        <p:spPr>
          <a:xfrm>
            <a:off x="9509760" y="1371600"/>
            <a:ext cx="2286000" cy="777240"/>
          </a:xfrm>
          <a:prstGeom prst="rect">
            <a:avLst>
              <a:gd name="adj" fmla="val 9412"/>
            </a:avLst>
          </a:prstGeom>
          <a:solidFill>
            <a:srgbClr val="FFFFFF"/>
          </a:solidFill>
          <a:ln w="15875">
            <a:solidFill>
              <a:srgbClr val="FFFFFF"/>
            </a:solidFill>
          </a:ln>
        </p:spPr>
        <p:txBody>
          <a:bodyPr wrap="square" lIns="1016" tIns="1016" rIns="1016" bIns="1016"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Fake a dependency that is slow, unavailable or must fail on demand</a:t>
            </a:r>
            <a:endParaRPr lang="en-US" sz="1100" dirty="0"/>
          </a:p>
        </p:txBody>
      </p:sp>
      <p:sp>
        <p:nvSpPr>
          <p:cNvPr id="13" name="Text 10"/>
          <p:cNvSpPr/>
          <p:nvPr/>
        </p:nvSpPr>
        <p:spPr>
          <a:xfrm>
            <a:off x="8229600" y="2286000"/>
            <a:ext cx="1280160" cy="777240"/>
          </a:xfrm>
          <a:prstGeom prst="rect">
            <a:avLst>
              <a:gd name="adj" fmla="val 9412"/>
            </a:avLst>
          </a:prstGeom>
          <a:solidFill>
            <a:srgbClr val="0B1F3A"/>
          </a:solidFill>
          <a:ln w="15875">
            <a:solidFill>
              <a:srgbClr val="0B1F3A"/>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Contract tests</a:t>
            </a:r>
            <a:endParaRPr lang="en-US" sz="1200" dirty="0"/>
          </a:p>
        </p:txBody>
      </p:sp>
      <p:sp>
        <p:nvSpPr>
          <p:cNvPr id="14" name="Text 11"/>
          <p:cNvSpPr/>
          <p:nvPr/>
        </p:nvSpPr>
        <p:spPr>
          <a:xfrm>
            <a:off x="9509760" y="2286000"/>
            <a:ext cx="2286000" cy="777240"/>
          </a:xfrm>
          <a:prstGeom prst="rect">
            <a:avLst>
              <a:gd name="adj" fmla="val 9412"/>
            </a:avLst>
          </a:prstGeom>
          <a:solidFill>
            <a:srgbClr val="FFFFFF"/>
          </a:solidFill>
          <a:ln w="15875">
            <a:solidFill>
              <a:srgbClr val="FFFFFF"/>
            </a:solidFill>
          </a:ln>
        </p:spPr>
        <p:txBody>
          <a:bodyPr wrap="square" lIns="1016" tIns="1016" rIns="1016" bIns="1016"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Provider and consumer agree on the message shape</a:t>
            </a:r>
            <a:endParaRPr lang="en-US" sz="1100" dirty="0"/>
          </a:p>
        </p:txBody>
      </p:sp>
      <p:sp>
        <p:nvSpPr>
          <p:cNvPr id="15" name="Text 12"/>
          <p:cNvSpPr/>
          <p:nvPr/>
        </p:nvSpPr>
        <p:spPr>
          <a:xfrm>
            <a:off x="8229600" y="3200400"/>
            <a:ext cx="1280160" cy="777240"/>
          </a:xfrm>
          <a:prstGeom prst="rect">
            <a:avLst>
              <a:gd name="adj" fmla="val 9412"/>
            </a:avLst>
          </a:prstGeom>
          <a:solidFill>
            <a:srgbClr val="0B1F3A"/>
          </a:solidFill>
          <a:ln w="15875">
            <a:solidFill>
              <a:srgbClr val="0B1F3A"/>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Resilience cases</a:t>
            </a:r>
            <a:endParaRPr lang="en-US" sz="1200" dirty="0"/>
          </a:p>
        </p:txBody>
      </p:sp>
      <p:sp>
        <p:nvSpPr>
          <p:cNvPr id="16" name="Text 13"/>
          <p:cNvSpPr/>
          <p:nvPr/>
        </p:nvSpPr>
        <p:spPr>
          <a:xfrm>
            <a:off x="9509760" y="3200400"/>
            <a:ext cx="2286000" cy="777240"/>
          </a:xfrm>
          <a:prstGeom prst="rect">
            <a:avLst>
              <a:gd name="adj" fmla="val 9412"/>
            </a:avLst>
          </a:prstGeom>
          <a:solidFill>
            <a:srgbClr val="FFFFFF"/>
          </a:solidFill>
          <a:ln w="15875">
            <a:solidFill>
              <a:srgbClr val="FFFFFF"/>
            </a:solidFill>
          </a:ln>
        </p:spPr>
        <p:txBody>
          <a:bodyPr wrap="square" lIns="1016" tIns="1016" rIns="1016" bIns="1016"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Timeouts, retries, 5xx from a dependency</a:t>
            </a:r>
            <a:endParaRPr lang="en-US" sz="1100" dirty="0"/>
          </a:p>
        </p:txBody>
      </p:sp>
      <p:sp>
        <p:nvSpPr>
          <p:cNvPr id="17" name="Text 14"/>
          <p:cNvSpPr/>
          <p:nvPr/>
        </p:nvSpPr>
        <p:spPr>
          <a:xfrm>
            <a:off x="8229600" y="4114800"/>
            <a:ext cx="1280160" cy="777240"/>
          </a:xfrm>
          <a:prstGeom prst="rect">
            <a:avLst>
              <a:gd name="adj" fmla="val 9412"/>
            </a:avLst>
          </a:prstGeom>
          <a:solidFill>
            <a:srgbClr val="0B1F3A"/>
          </a:solidFill>
          <a:ln w="15875">
            <a:solidFill>
              <a:srgbClr val="0B1F3A"/>
            </a:solidFill>
          </a:ln>
        </p:spPr>
        <p:txBody>
          <a:bodyPr wrap="square" lIns="1016" tIns="1016" rIns="1016" bIns="1016"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Observability</a:t>
            </a:r>
            <a:endParaRPr lang="en-US" sz="1200" dirty="0"/>
          </a:p>
        </p:txBody>
      </p:sp>
      <p:sp>
        <p:nvSpPr>
          <p:cNvPr id="18" name="Text 15"/>
          <p:cNvSpPr/>
          <p:nvPr/>
        </p:nvSpPr>
        <p:spPr>
          <a:xfrm>
            <a:off x="9509760" y="4114800"/>
            <a:ext cx="2286000" cy="777240"/>
          </a:xfrm>
          <a:prstGeom prst="rect">
            <a:avLst>
              <a:gd name="adj" fmla="val 9412"/>
            </a:avLst>
          </a:prstGeom>
          <a:solidFill>
            <a:srgbClr val="FFFFFF"/>
          </a:solidFill>
          <a:ln w="15875">
            <a:solidFill>
              <a:srgbClr val="FFFFFF"/>
            </a:solidFill>
          </a:ln>
        </p:spPr>
        <p:txBody>
          <a:bodyPr wrap="square" lIns="1016" tIns="1016" rIns="1016" bIns="1016"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Trace IDs across services to find the failing hop</a:t>
            </a:r>
            <a:endParaRPr lang="en-US" sz="1100" dirty="0"/>
          </a:p>
        </p:txBody>
      </p:sp>
      <p:sp>
        <p:nvSpPr>
          <p:cNvPr id="19" name="Shape 16"/>
          <p:cNvSpPr/>
          <p:nvPr/>
        </p:nvSpPr>
        <p:spPr>
          <a:xfrm>
            <a:off x="457200" y="5120640"/>
            <a:ext cx="82296" cy="548640"/>
          </a:xfrm>
          <a:prstGeom prst="rect">
            <a:avLst/>
          </a:prstGeom>
          <a:solidFill>
            <a:srgbClr val="F59E0B"/>
          </a:solidFill>
          <a:ln/>
        </p:spPr>
      </p:sp>
      <p:sp>
        <p:nvSpPr>
          <p:cNvPr id="20" name="Text 17"/>
          <p:cNvSpPr/>
          <p:nvPr/>
        </p:nvSpPr>
        <p:spPr>
          <a:xfrm>
            <a:off x="594360" y="512064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New risk categories: partial failure, version mismatch, data consistency between services. Test them at the API layer.</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2011680"/>
            <a:ext cx="109728" cy="2011680"/>
          </a:xfrm>
          <a:prstGeom prst="rect">
            <a:avLst/>
          </a:prstGeom>
          <a:solidFill>
            <a:srgbClr val="0F9D8F"/>
          </a:solidFill>
          <a:ln/>
        </p:spPr>
      </p:sp>
      <p:sp>
        <p:nvSpPr>
          <p:cNvPr id="3" name="Text 1"/>
          <p:cNvSpPr/>
          <p:nvPr/>
        </p:nvSpPr>
        <p:spPr>
          <a:xfrm>
            <a:off x="1005840" y="1920240"/>
            <a:ext cx="5486400" cy="457200"/>
          </a:xfrm>
          <a:prstGeom prst="rect">
            <a:avLst/>
          </a:prstGeom>
          <a:noFill/>
          <a:ln/>
        </p:spPr>
        <p:txBody>
          <a:bodyPr wrap="square" lIns="508" tIns="508" rIns="508" bIns="508" rtlCol="0" anchor="ctr"/>
          <a:lstStyle/>
          <a:p>
            <a:pPr indent="0" marL="0">
              <a:buNone/>
            </a:pPr>
            <a:r>
              <a:rPr lang="en-US" sz="1600" b="1" spc="400" kern="0" dirty="0">
                <a:solidFill>
                  <a:srgbClr val="F59E0B"/>
                </a:solidFill>
                <a:latin typeface="Calibri" pitchFamily="34" charset="0"/>
                <a:ea typeface="Calibri" pitchFamily="34" charset="-122"/>
                <a:cs typeface="Calibri" pitchFamily="34" charset="-120"/>
              </a:rPr>
              <a:t>PART 6</a:t>
            </a:r>
            <a:endParaRPr lang="en-US" sz="1600" dirty="0"/>
          </a:p>
        </p:txBody>
      </p:sp>
      <p:sp>
        <p:nvSpPr>
          <p:cNvPr id="4" name="Text 2"/>
          <p:cNvSpPr/>
          <p:nvPr/>
        </p:nvSpPr>
        <p:spPr>
          <a:xfrm>
            <a:off x="1005840" y="2377440"/>
            <a:ext cx="10058400" cy="1005840"/>
          </a:xfrm>
          <a:prstGeom prst="rect">
            <a:avLst/>
          </a:prstGeom>
          <a:noFill/>
          <a:ln/>
        </p:spPr>
        <p:txBody>
          <a:bodyPr wrap="square" lIns="508" tIns="508" rIns="508" bIns="508"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Wrap-up</a:t>
            </a:r>
            <a:endParaRPr lang="en-US" sz="4400" dirty="0"/>
          </a:p>
        </p:txBody>
      </p:sp>
      <p:sp>
        <p:nvSpPr>
          <p:cNvPr id="5" name="Text 3"/>
          <p:cNvSpPr/>
          <p:nvPr/>
        </p:nvSpPr>
        <p:spPr>
          <a:xfrm>
            <a:off x="1005840" y="3383280"/>
            <a:ext cx="9601200" cy="731520"/>
          </a:xfrm>
          <a:prstGeom prst="rect">
            <a:avLst/>
          </a:prstGeom>
          <a:noFill/>
          <a:ln/>
        </p:spPr>
        <p:txBody>
          <a:bodyPr wrap="square" lIns="508" tIns="508" rIns="508" bIns="508" rtlCol="0" anchor="ctr"/>
          <a:lstStyle/>
          <a:p>
            <a:pPr indent="0" marL="0">
              <a:buNone/>
            </a:pPr>
            <a:r>
              <a:rPr lang="en-US" sz="2000" dirty="0">
                <a:solidFill>
                  <a:srgbClr val="9FB3C8"/>
                </a:solidFill>
                <a:latin typeface="Calibri" pitchFamily="34" charset="0"/>
                <a:ea typeface="Calibri" pitchFamily="34" charset="-122"/>
                <a:cs typeface="Calibri" pitchFamily="34" charset="-120"/>
              </a:rPr>
              <a:t>What this means for your role, and where to go next</a:t>
            </a:r>
            <a:endParaRPr 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to take away, by role</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Wrap-up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61</a:t>
            </a:r>
            <a:endParaRPr lang="en-US" sz="1000" dirty="0"/>
          </a:p>
        </p:txBody>
      </p:sp>
      <p:sp>
        <p:nvSpPr>
          <p:cNvPr id="8" name="Text 5"/>
          <p:cNvSpPr/>
          <p:nvPr/>
        </p:nvSpPr>
        <p:spPr>
          <a:xfrm>
            <a:off x="548640" y="1280160"/>
            <a:ext cx="3566160" cy="731520"/>
          </a:xfrm>
          <a:prstGeom prst="rect">
            <a:avLst>
              <a:gd name="adj" fmla="val 10000"/>
            </a:avLst>
          </a:prstGeom>
          <a:solidFill>
            <a:srgbClr val="3B82F6"/>
          </a:solidFill>
          <a:ln w="15875">
            <a:solidFill>
              <a:srgbClr val="3B82F6"/>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Manual testers</a:t>
            </a:r>
            <a:endParaRPr lang="en-US" sz="2000" dirty="0"/>
          </a:p>
        </p:txBody>
      </p:sp>
      <p:sp>
        <p:nvSpPr>
          <p:cNvPr id="9" name="Text 6"/>
          <p:cNvSpPr/>
          <p:nvPr/>
        </p:nvSpPr>
        <p:spPr>
          <a:xfrm>
            <a:off x="548640" y="2011680"/>
            <a:ext cx="3566160" cy="3291840"/>
          </a:xfrm>
          <a:prstGeom prst="rect">
            <a:avLst>
              <a:gd name="adj" fmla="val 2222"/>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0" name="Text 7"/>
          <p:cNvSpPr/>
          <p:nvPr/>
        </p:nvSpPr>
        <p:spPr>
          <a:xfrm>
            <a:off x="640080" y="2148840"/>
            <a:ext cx="3383280" cy="301752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Read a raw HTTP request and response</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Check status code, headers and body</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Try missing/invalid tokens, bad input, repeated calls</a:t>
            </a:r>
            <a:endParaRPr lang="en-US" sz="1600" dirty="0"/>
          </a:p>
        </p:txBody>
      </p:sp>
      <p:sp>
        <p:nvSpPr>
          <p:cNvPr id="11" name="Text 8"/>
          <p:cNvSpPr/>
          <p:nvPr/>
        </p:nvSpPr>
        <p:spPr>
          <a:xfrm>
            <a:off x="4343400" y="1280160"/>
            <a:ext cx="3566160" cy="731520"/>
          </a:xfrm>
          <a:prstGeom prst="rect">
            <a:avLst>
              <a:gd name="adj" fmla="val 10000"/>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Automation engineers</a:t>
            </a:r>
            <a:endParaRPr lang="en-US" sz="2000" dirty="0"/>
          </a:p>
        </p:txBody>
      </p:sp>
      <p:sp>
        <p:nvSpPr>
          <p:cNvPr id="12" name="Text 9"/>
          <p:cNvSpPr/>
          <p:nvPr/>
        </p:nvSpPr>
        <p:spPr>
          <a:xfrm>
            <a:off x="4343400" y="2011680"/>
            <a:ext cx="3566160" cy="3291840"/>
          </a:xfrm>
          <a:prstGeom prst="rect">
            <a:avLst>
              <a:gd name="adj" fmla="val 2222"/>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3" name="Text 10"/>
          <p:cNvSpPr/>
          <p:nvPr/>
        </p:nvSpPr>
        <p:spPr>
          <a:xfrm>
            <a:off x="4434840" y="2148840"/>
            <a:ext cx="3383280" cy="301752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Automate at the API layer: fast and stable</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Chain calls to cover business flows</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Mock dependencies; add contract tests</a:t>
            </a:r>
            <a:endParaRPr lang="en-US" sz="1600" dirty="0"/>
          </a:p>
        </p:txBody>
      </p:sp>
      <p:sp>
        <p:nvSpPr>
          <p:cNvPr id="14" name="Text 11"/>
          <p:cNvSpPr/>
          <p:nvPr/>
        </p:nvSpPr>
        <p:spPr>
          <a:xfrm>
            <a:off x="8138160" y="1280160"/>
            <a:ext cx="3566160" cy="731520"/>
          </a:xfrm>
          <a:prstGeom prst="rect">
            <a:avLst>
              <a:gd name="adj" fmla="val 10000"/>
            </a:avLst>
          </a:prstGeom>
          <a:solidFill>
            <a:srgbClr val="7C5CFC"/>
          </a:solidFill>
          <a:ln w="15875">
            <a:solidFill>
              <a:srgbClr val="7C5CFC"/>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Business analysts</a:t>
            </a:r>
            <a:endParaRPr lang="en-US" sz="2000" dirty="0"/>
          </a:p>
        </p:txBody>
      </p:sp>
      <p:sp>
        <p:nvSpPr>
          <p:cNvPr id="15" name="Text 12"/>
          <p:cNvSpPr/>
          <p:nvPr/>
        </p:nvSpPr>
        <p:spPr>
          <a:xfrm>
            <a:off x="8138160" y="2011680"/>
            <a:ext cx="3566160" cy="3291840"/>
          </a:xfrm>
          <a:prstGeom prst="rect">
            <a:avLst>
              <a:gd name="adj" fmla="val 2222"/>
            </a:avLst>
          </a:prstGeom>
          <a:solidFill>
            <a:srgbClr val="FFFFFF"/>
          </a:solidFill>
          <a:ln w="15875">
            <a:solidFill>
              <a:srgbClr val="FFFFFF"/>
            </a:solidFill>
          </a:ln>
        </p:spPr>
        <p:txBody>
          <a:bodyPr wrap="square" lIns="1016" tIns="1016" rIns="1016" bIns="1016" rtlCol="0" anchor="ctr"/>
          <a:lstStyle/>
          <a:p>
            <a:pPr algn="ctr" indent="0" marL="0">
              <a:buNone/>
            </a:pPr>
            <a:endParaRPr lang="en-US" sz="1400" dirty="0"/>
          </a:p>
        </p:txBody>
      </p:sp>
      <p:sp>
        <p:nvSpPr>
          <p:cNvPr id="16" name="Text 13"/>
          <p:cNvSpPr/>
          <p:nvPr/>
        </p:nvSpPr>
        <p:spPr>
          <a:xfrm>
            <a:off x="8229600" y="2148840"/>
            <a:ext cx="3383280" cy="301752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Describe resources, rules and error cases</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Agree status codes and field rules up front</a:t>
            </a:r>
            <a:endParaRPr lang="en-US" sz="1600" dirty="0"/>
          </a:p>
          <a:p>
            <a:pPr marL="228600" indent="-2286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Think contract first (OpenAPI)</a:t>
            </a:r>
            <a:endParaRPr lang="en-US" sz="1600" dirty="0"/>
          </a:p>
        </p:txBody>
      </p:sp>
      <p:sp>
        <p:nvSpPr>
          <p:cNvPr id="17" name="Shape 14"/>
          <p:cNvSpPr/>
          <p:nvPr/>
        </p:nvSpPr>
        <p:spPr>
          <a:xfrm>
            <a:off x="457200" y="5486400"/>
            <a:ext cx="82296" cy="548640"/>
          </a:xfrm>
          <a:prstGeom prst="rect">
            <a:avLst/>
          </a:prstGeom>
          <a:solidFill>
            <a:srgbClr val="0F9D8F"/>
          </a:solidFill>
          <a:ln/>
        </p:spPr>
      </p:sp>
      <p:sp>
        <p:nvSpPr>
          <p:cNvPr id="18" name="Text 15"/>
          <p:cNvSpPr/>
          <p:nvPr/>
        </p:nvSpPr>
        <p:spPr>
          <a:xfrm>
            <a:off x="594360" y="5486400"/>
            <a:ext cx="11064240" cy="548640"/>
          </a:xfrm>
          <a:prstGeom prst="rect">
            <a:avLst/>
          </a:prstGeom>
          <a:solidFill>
            <a:srgbClr val="DDF4F0"/>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In one sentence: protocols are contracts; HTTP is the common language of the web; REST is the way we use HTTP to expose business resources; microservices are many small RESTful services.</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Your hands-on next step: Flashpost + Karate in this kit</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Wrap-up</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62</a:t>
            </a:r>
            <a:endParaRPr lang="en-US" sz="1000" dirty="0"/>
          </a:p>
        </p:txBody>
      </p:sp>
      <p:sp>
        <p:nvSpPr>
          <p:cNvPr id="8" name="Text 5"/>
          <p:cNvSpPr/>
          <p:nvPr/>
        </p:nvSpPr>
        <p:spPr>
          <a:xfrm>
            <a:off x="1920240" y="1280160"/>
            <a:ext cx="2743200" cy="548640"/>
          </a:xfrm>
          <a:prstGeom prst="rect">
            <a:avLst>
              <a:gd name="adj" fmla="val 13333"/>
            </a:avLst>
          </a:prstGeom>
          <a:solidFill>
            <a:srgbClr val="7C5CFC"/>
          </a:solidFill>
          <a:ln w="15875">
            <a:solidFill>
              <a:srgbClr val="7C5CFC"/>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Tier 7  Contract testing</a:t>
            </a:r>
            <a:endParaRPr lang="en-US" sz="1300" dirty="0"/>
          </a:p>
        </p:txBody>
      </p:sp>
      <p:sp>
        <p:nvSpPr>
          <p:cNvPr id="9" name="Text 6"/>
          <p:cNvSpPr/>
          <p:nvPr/>
        </p:nvSpPr>
        <p:spPr>
          <a:xfrm>
            <a:off x="1691640" y="1901952"/>
            <a:ext cx="3200400" cy="548640"/>
          </a:xfrm>
          <a:prstGeom prst="rect">
            <a:avLst>
              <a:gd name="adj" fmla="val 13333"/>
            </a:avLst>
          </a:prstGeom>
          <a:solidFill>
            <a:srgbClr val="7C5CFC"/>
          </a:solidFill>
          <a:ln w="15875">
            <a:solidFill>
              <a:srgbClr val="7C5CFC"/>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Tier 6  Error flows with mocks</a:t>
            </a:r>
            <a:endParaRPr lang="en-US" sz="1300" dirty="0"/>
          </a:p>
        </p:txBody>
      </p:sp>
      <p:sp>
        <p:nvSpPr>
          <p:cNvPr id="10" name="Text 7"/>
          <p:cNvSpPr/>
          <p:nvPr/>
        </p:nvSpPr>
        <p:spPr>
          <a:xfrm>
            <a:off x="1463040" y="2523744"/>
            <a:ext cx="3657600" cy="548640"/>
          </a:xfrm>
          <a:prstGeom prst="rect">
            <a:avLst>
              <a:gd name="adj" fmla="val 13333"/>
            </a:avLst>
          </a:prstGeom>
          <a:solidFill>
            <a:srgbClr val="F59E0B"/>
          </a:solidFill>
          <a:ln w="15875">
            <a:solidFill>
              <a:srgbClr val="F59E0B"/>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Tier 5  Mock dependencies</a:t>
            </a:r>
            <a:endParaRPr lang="en-US" sz="1300" dirty="0"/>
          </a:p>
        </p:txBody>
      </p:sp>
      <p:sp>
        <p:nvSpPr>
          <p:cNvPr id="11" name="Text 8"/>
          <p:cNvSpPr/>
          <p:nvPr/>
        </p:nvSpPr>
        <p:spPr>
          <a:xfrm>
            <a:off x="1234440" y="3145536"/>
            <a:ext cx="411480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Tier 4  Boundary &amp; negative data</a:t>
            </a:r>
            <a:endParaRPr lang="en-US" sz="1300" dirty="0"/>
          </a:p>
        </p:txBody>
      </p:sp>
      <p:sp>
        <p:nvSpPr>
          <p:cNvPr id="12" name="Text 9"/>
          <p:cNvSpPr/>
          <p:nvPr/>
        </p:nvSpPr>
        <p:spPr>
          <a:xfrm>
            <a:off x="1005840" y="3767328"/>
            <a:ext cx="4572000" cy="548640"/>
          </a:xfrm>
          <a:prstGeom prst="rect">
            <a:avLst>
              <a:gd name="adj" fmla="val 13333"/>
            </a:avLst>
          </a:prstGeom>
          <a:solidFill>
            <a:srgbClr val="0F9D8F"/>
          </a:solidFill>
          <a:ln w="15875">
            <a:solidFill>
              <a:srgbClr val="0F9D8F"/>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Tier 3  Assert payload &amp; schema</a:t>
            </a:r>
            <a:endParaRPr lang="en-US" sz="1300" dirty="0"/>
          </a:p>
        </p:txBody>
      </p:sp>
      <p:sp>
        <p:nvSpPr>
          <p:cNvPr id="13" name="Text 10"/>
          <p:cNvSpPr/>
          <p:nvPr/>
        </p:nvSpPr>
        <p:spPr>
          <a:xfrm>
            <a:off x="777240" y="4389120"/>
            <a:ext cx="5029200" cy="548640"/>
          </a:xfrm>
          <a:prstGeom prst="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Tier 2  Chain calls into flows</a:t>
            </a:r>
            <a:endParaRPr lang="en-US" sz="1300" dirty="0"/>
          </a:p>
        </p:txBody>
      </p:sp>
      <p:sp>
        <p:nvSpPr>
          <p:cNvPr id="14" name="Text 11"/>
          <p:cNvSpPr/>
          <p:nvPr/>
        </p:nvSpPr>
        <p:spPr>
          <a:xfrm>
            <a:off x="548640" y="5010912"/>
            <a:ext cx="5486400" cy="548640"/>
          </a:xfrm>
          <a:prstGeom prst="rect">
            <a:avLst>
              <a:gd name="adj" fmla="val 13333"/>
            </a:avLst>
          </a:prstGeom>
          <a:solidFill>
            <a:srgbClr val="3B82F6"/>
          </a:solidFill>
          <a:ln w="15875">
            <a:solidFill>
              <a:srgbClr val="3B82F6"/>
            </a:solidFill>
          </a:ln>
        </p:spPr>
        <p:txBody>
          <a:bodyPr wrap="square" lIns="1016" tIns="1016" rIns="1016" bIns="101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Tier 1  Call it, check the status</a:t>
            </a:r>
            <a:endParaRPr lang="en-US" sz="1300" dirty="0"/>
          </a:p>
        </p:txBody>
      </p:sp>
      <p:sp>
        <p:nvSpPr>
          <p:cNvPr id="15" name="Text 12"/>
          <p:cNvSpPr/>
          <p:nvPr/>
        </p:nvSpPr>
        <p:spPr>
          <a:xfrm>
            <a:off x="6400800" y="1280160"/>
            <a:ext cx="640080" cy="640080"/>
          </a:xfrm>
          <a:prstGeom prst="roundRect">
            <a:avLst>
              <a:gd name="adj" fmla="val 11429"/>
            </a:avLst>
          </a:prstGeom>
          <a:solidFill>
            <a:srgbClr val="0B1F3A"/>
          </a:solidFill>
          <a:ln w="15875">
            <a:solidFill>
              <a:srgbClr val="0B1F3A"/>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6" name="Text 13"/>
          <p:cNvSpPr/>
          <p:nvPr/>
        </p:nvSpPr>
        <p:spPr>
          <a:xfrm>
            <a:off x="7223760" y="1234440"/>
            <a:ext cx="4480560" cy="365760"/>
          </a:xfrm>
          <a:prstGeom prst="rect">
            <a:avLst/>
          </a:prstGeom>
          <a:noFill/>
          <a:ln/>
        </p:spPr>
        <p:txBody>
          <a:bodyPr wrap="square" lIns="508" tIns="508" rIns="508" bIns="508"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 the API locally</a:t>
            </a:r>
            <a:endParaRPr lang="en-US" sz="1700" dirty="0"/>
          </a:p>
        </p:txBody>
      </p:sp>
      <p:sp>
        <p:nvSpPr>
          <p:cNvPr id="17" name="Text 14"/>
          <p:cNvSpPr/>
          <p:nvPr/>
        </p:nvSpPr>
        <p:spPr>
          <a:xfrm>
            <a:off x="7223760" y="1600200"/>
            <a:ext cx="4480560" cy="365760"/>
          </a:xfrm>
          <a:prstGeom prst="rect">
            <a:avLst/>
          </a:prstGeom>
          <a:noFill/>
          <a:ln/>
        </p:spPr>
        <p:txBody>
          <a:bodyPr wrap="square" lIns="508" tIns="508" rIns="508" bIns="508" rtlCol="0" anchor="ctr"/>
          <a:lstStyle/>
          <a:p>
            <a:pPr indent="0" marL="0">
              <a:buNone/>
            </a:pPr>
            <a:r>
              <a:rPr lang="en-US" sz="1300" dirty="0">
                <a:solidFill>
                  <a:srgbClr val="64748B"/>
                </a:solidFill>
                <a:latin typeface="Consolas" pitchFamily="34" charset="0"/>
                <a:ea typeface="Consolas" pitchFamily="34" charset="-122"/>
                <a:cs typeface="Consolas" pitchFamily="34" charset="-120"/>
              </a:rPr>
              <a:t>cd user-service &amp;&amp; npm start</a:t>
            </a:r>
            <a:endParaRPr lang="en-US" sz="1300" dirty="0"/>
          </a:p>
        </p:txBody>
      </p:sp>
      <p:sp>
        <p:nvSpPr>
          <p:cNvPr id="18" name="Text 15"/>
          <p:cNvSpPr/>
          <p:nvPr/>
        </p:nvSpPr>
        <p:spPr>
          <a:xfrm>
            <a:off x="6400800" y="2331720"/>
            <a:ext cx="640080" cy="640080"/>
          </a:xfrm>
          <a:prstGeom prst="roundRect">
            <a:avLst>
              <a:gd name="adj" fmla="val 11429"/>
            </a:avLst>
          </a:prstGeom>
          <a:solidFill>
            <a:srgbClr val="0B1F3A"/>
          </a:solidFill>
          <a:ln w="15875">
            <a:solidFill>
              <a:srgbClr val="0B1F3A"/>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9" name="Text 16"/>
          <p:cNvSpPr/>
          <p:nvPr/>
        </p:nvSpPr>
        <p:spPr>
          <a:xfrm>
            <a:off x="7223760" y="2286000"/>
            <a:ext cx="4480560" cy="365760"/>
          </a:xfrm>
          <a:prstGeom prst="rect">
            <a:avLst/>
          </a:prstGeom>
          <a:noFill/>
          <a:ln/>
        </p:spPr>
        <p:txBody>
          <a:bodyPr wrap="square" lIns="508" tIns="508" rIns="508" bIns="508"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Test by hand in Flashpost</a:t>
            </a:r>
            <a:endParaRPr lang="en-US" sz="1700" dirty="0"/>
          </a:p>
        </p:txBody>
      </p:sp>
      <p:sp>
        <p:nvSpPr>
          <p:cNvPr id="20" name="Text 17"/>
          <p:cNvSpPr/>
          <p:nvPr/>
        </p:nvSpPr>
        <p:spPr>
          <a:xfrm>
            <a:off x="7223760" y="2651760"/>
            <a:ext cx="4480560" cy="365760"/>
          </a:xfrm>
          <a:prstGeom prst="rect">
            <a:avLst/>
          </a:prstGeom>
          <a:noFill/>
          <a:ln/>
        </p:spPr>
        <p:txBody>
          <a:bodyPr wrap="square" lIns="508" tIns="508" rIns="508" bIns="508" rtlCol="0" anchor="ctr"/>
          <a:lstStyle/>
          <a:p>
            <a:pPr indent="0" marL="0">
              <a:buNone/>
            </a:pPr>
            <a:r>
              <a:rPr lang="en-US" sz="1300" dirty="0">
                <a:solidFill>
                  <a:srgbClr val="64748B"/>
                </a:solidFill>
                <a:latin typeface="Consolas" pitchFamily="34" charset="0"/>
                <a:ea typeface="Consolas" pitchFamily="34" charset="-122"/>
                <a:cs typeface="Consolas" pitchFamily="34" charset="-120"/>
              </a:rPr>
              <a:t>Tier 1 to 4 exercises</a:t>
            </a:r>
            <a:endParaRPr lang="en-US" sz="1300" dirty="0"/>
          </a:p>
        </p:txBody>
      </p:sp>
      <p:sp>
        <p:nvSpPr>
          <p:cNvPr id="21" name="Text 18"/>
          <p:cNvSpPr/>
          <p:nvPr/>
        </p:nvSpPr>
        <p:spPr>
          <a:xfrm>
            <a:off x="6400800" y="3383280"/>
            <a:ext cx="640080" cy="640080"/>
          </a:xfrm>
          <a:prstGeom prst="roundRect">
            <a:avLst>
              <a:gd name="adj" fmla="val 11429"/>
            </a:avLst>
          </a:prstGeom>
          <a:solidFill>
            <a:srgbClr val="0B1F3A"/>
          </a:solidFill>
          <a:ln w="15875">
            <a:solidFill>
              <a:srgbClr val="0B1F3A"/>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2" name="Text 19"/>
          <p:cNvSpPr/>
          <p:nvPr/>
        </p:nvSpPr>
        <p:spPr>
          <a:xfrm>
            <a:off x="7223760" y="3337560"/>
            <a:ext cx="4480560" cy="365760"/>
          </a:xfrm>
          <a:prstGeom prst="rect">
            <a:avLst/>
          </a:prstGeom>
          <a:noFill/>
          <a:ln/>
        </p:spPr>
        <p:txBody>
          <a:bodyPr wrap="square" lIns="508" tIns="508" rIns="508" bIns="508"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Automate with Karate 2.1.2</a:t>
            </a:r>
            <a:endParaRPr lang="en-US" sz="1700" dirty="0"/>
          </a:p>
        </p:txBody>
      </p:sp>
      <p:sp>
        <p:nvSpPr>
          <p:cNvPr id="23" name="Text 20"/>
          <p:cNvSpPr/>
          <p:nvPr/>
        </p:nvSpPr>
        <p:spPr>
          <a:xfrm>
            <a:off x="7223760" y="3703320"/>
            <a:ext cx="4480560" cy="365760"/>
          </a:xfrm>
          <a:prstGeom prst="rect">
            <a:avLst/>
          </a:prstGeom>
          <a:noFill/>
          <a:ln/>
        </p:spPr>
        <p:txBody>
          <a:bodyPr wrap="square" lIns="508" tIns="508" rIns="508" bIns="508" rtlCol="0" anchor="ctr"/>
          <a:lstStyle/>
          <a:p>
            <a:pPr indent="0" marL="0">
              <a:buNone/>
            </a:pPr>
            <a:r>
              <a:rPr lang="en-US" sz="1300" dirty="0">
                <a:solidFill>
                  <a:srgbClr val="64748B"/>
                </a:solidFill>
                <a:latin typeface="Consolas" pitchFamily="34" charset="0"/>
                <a:ea typeface="Consolas" pitchFamily="34" charset="-122"/>
                <a:cs typeface="Consolas" pitchFamily="34" charset="-120"/>
              </a:rPr>
              <a:t>mvn test in karate-tests</a:t>
            </a:r>
            <a:endParaRPr lang="en-US" sz="1300" dirty="0"/>
          </a:p>
        </p:txBody>
      </p:sp>
      <p:sp>
        <p:nvSpPr>
          <p:cNvPr id="24" name="Text 21"/>
          <p:cNvSpPr/>
          <p:nvPr/>
        </p:nvSpPr>
        <p:spPr>
          <a:xfrm>
            <a:off x="6400800" y="4434840"/>
            <a:ext cx="640080" cy="640080"/>
          </a:xfrm>
          <a:prstGeom prst="roundRect">
            <a:avLst>
              <a:gd name="adj" fmla="val 11429"/>
            </a:avLst>
          </a:prstGeom>
          <a:solidFill>
            <a:srgbClr val="0B1F3A"/>
          </a:solidFill>
          <a:ln w="15875">
            <a:solidFill>
              <a:srgbClr val="0B1F3A"/>
            </a:solidFill>
          </a:ln>
        </p:spPr>
        <p:txBody>
          <a:bodyPr wrap="square" lIns="1016" tIns="1016" rIns="1016" bIns="1016"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2"/>
          <p:cNvSpPr/>
          <p:nvPr/>
        </p:nvSpPr>
        <p:spPr>
          <a:xfrm>
            <a:off x="7223760" y="4389120"/>
            <a:ext cx="4480560" cy="365760"/>
          </a:xfrm>
          <a:prstGeom prst="rect">
            <a:avLst/>
          </a:prstGeom>
          <a:noFill/>
          <a:ln/>
        </p:spPr>
        <p:txBody>
          <a:bodyPr wrap="square" lIns="508" tIns="508" rIns="508" bIns="508"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Keep the cheat sheet</a:t>
            </a:r>
            <a:endParaRPr lang="en-US" sz="1700" dirty="0"/>
          </a:p>
        </p:txBody>
      </p:sp>
      <p:sp>
        <p:nvSpPr>
          <p:cNvPr id="26" name="Text 23"/>
          <p:cNvSpPr/>
          <p:nvPr/>
        </p:nvSpPr>
        <p:spPr>
          <a:xfrm>
            <a:off x="7223760" y="4754880"/>
            <a:ext cx="4480560" cy="365760"/>
          </a:xfrm>
          <a:prstGeom prst="rect">
            <a:avLst/>
          </a:prstGeom>
          <a:noFill/>
          <a:ln/>
        </p:spPr>
        <p:txBody>
          <a:bodyPr wrap="square" lIns="508" tIns="508" rIns="508" bIns="508" rtlCol="0" anchor="ctr"/>
          <a:lstStyle/>
          <a:p>
            <a:pPr indent="0" marL="0">
              <a:buNone/>
            </a:pPr>
            <a:r>
              <a:rPr lang="en-US" sz="1300" dirty="0">
                <a:solidFill>
                  <a:srgbClr val="64748B"/>
                </a:solidFill>
                <a:latin typeface="Consolas" pitchFamily="34" charset="0"/>
                <a:ea typeface="Consolas" pitchFamily="34" charset="-122"/>
                <a:cs typeface="Consolas" pitchFamily="34" charset="-120"/>
              </a:rPr>
              <a:t>manual check → Karate syntax</a:t>
            </a:r>
            <a:endParaRPr lang="en-US" sz="1300" dirty="0"/>
          </a:p>
        </p:txBody>
      </p:sp>
      <p:sp>
        <p:nvSpPr>
          <p:cNvPr id="27" name="Shape 24"/>
          <p:cNvSpPr/>
          <p:nvPr/>
        </p:nvSpPr>
        <p:spPr>
          <a:xfrm>
            <a:off x="457200" y="5669280"/>
            <a:ext cx="82296" cy="548640"/>
          </a:xfrm>
          <a:prstGeom prst="rect">
            <a:avLst/>
          </a:prstGeom>
          <a:solidFill>
            <a:srgbClr val="F59E0B"/>
          </a:solidFill>
          <a:ln/>
        </p:spPr>
      </p:sp>
      <p:sp>
        <p:nvSpPr>
          <p:cNvPr id="28" name="Text 25"/>
          <p:cNvSpPr/>
          <p:nvPr/>
        </p:nvSpPr>
        <p:spPr>
          <a:xfrm>
            <a:off x="594360" y="5669280"/>
            <a:ext cx="11064240" cy="548640"/>
          </a:xfrm>
          <a:prstGeom prst="rect">
            <a:avLst/>
          </a:prstGeom>
          <a:solidFill>
            <a:srgbClr val="FEF3C7"/>
          </a:solidFill>
          <a:ln/>
        </p:spPr>
        <p:txBody>
          <a:bodyPr wrap="square" lIns="1524" tIns="1524" rIns="1524" bIns="1524"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Build a firm base first: Tier 5 mocks are worthless if Tier 1 still fails. See TRAINING-GUIDE.md.</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1F3A"/>
        </a:solidFill>
      </p:bgPr>
    </p:bg>
    <p:spTree>
      <p:nvGrpSpPr>
        <p:cNvPr id="1" name=""/>
        <p:cNvGrpSpPr/>
        <p:nvPr/>
      </p:nvGrpSpPr>
      <p:grpSpPr>
        <a:xfrm>
          <a:off x="0" y="0"/>
          <a:ext cx="0" cy="0"/>
          <a:chOff x="0" y="0"/>
          <a:chExt cx="0" cy="0"/>
        </a:xfrm>
      </p:grpSpPr>
      <p:sp>
        <p:nvSpPr>
          <p:cNvPr id="3" name="Text 0"/>
          <p:cNvSpPr/>
          <p:nvPr/>
        </p:nvSpPr>
        <p:spPr>
          <a:xfrm>
            <a:off x="731520" y="548640"/>
            <a:ext cx="5486400" cy="731520"/>
          </a:xfrm>
          <a:prstGeom prst="rect">
            <a:avLst/>
          </a:prstGeom>
          <a:noFill/>
          <a:ln/>
        </p:spPr>
        <p:txBody>
          <a:bodyPr wrap="square" lIns="508" tIns="508" rIns="508" bIns="508"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Recap</a:t>
            </a:r>
            <a:endParaRPr lang="en-US" sz="4000" dirty="0"/>
          </a:p>
        </p:txBody>
      </p:sp>
      <p:sp>
        <p:nvSpPr>
          <p:cNvPr id="4" name="Text 1"/>
          <p:cNvSpPr/>
          <p:nvPr/>
        </p:nvSpPr>
        <p:spPr>
          <a:xfrm>
            <a:off x="731520" y="1554480"/>
            <a:ext cx="1371600" cy="640080"/>
          </a:xfrm>
          <a:prstGeom prst="roundRect">
            <a:avLst>
              <a:gd name="adj" fmla="val 11429"/>
            </a:avLst>
          </a:prstGeom>
          <a:solidFill>
            <a:srgbClr val="3B82F6"/>
          </a:solidFill>
          <a:ln w="15875">
            <a:solidFill>
              <a:srgbClr val="3B82F6"/>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1969</a:t>
            </a:r>
            <a:endParaRPr lang="en-US" sz="2000" dirty="0"/>
          </a:p>
        </p:txBody>
      </p:sp>
      <p:sp>
        <p:nvSpPr>
          <p:cNvPr id="5" name="Text 2"/>
          <p:cNvSpPr/>
          <p:nvPr/>
        </p:nvSpPr>
        <p:spPr>
          <a:xfrm>
            <a:off x="2286000" y="1554480"/>
            <a:ext cx="9144000" cy="640080"/>
          </a:xfrm>
          <a:prstGeom prst="rect">
            <a:avLst/>
          </a:prstGeom>
          <a:noFill/>
          <a:ln/>
        </p:spPr>
        <p:txBody>
          <a:bodyPr wrap="square" lIns="508" tIns="508" rIns="508" bIns="508"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Packet switching and ARPANET connect computers</a:t>
            </a:r>
            <a:endParaRPr lang="en-US" sz="2000" dirty="0"/>
          </a:p>
        </p:txBody>
      </p:sp>
      <p:sp>
        <p:nvSpPr>
          <p:cNvPr id="6" name="Text 3"/>
          <p:cNvSpPr/>
          <p:nvPr/>
        </p:nvSpPr>
        <p:spPr>
          <a:xfrm>
            <a:off x="731520" y="2423160"/>
            <a:ext cx="1371600" cy="640080"/>
          </a:xfrm>
          <a:prstGeom prst="roundRect">
            <a:avLst>
              <a:gd name="adj" fmla="val 11429"/>
            </a:avLst>
          </a:prstGeom>
          <a:solidFill>
            <a:srgbClr val="0F9D8F"/>
          </a:solidFill>
          <a:ln w="15875">
            <a:solidFill>
              <a:srgbClr val="0F9D8F"/>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1983</a:t>
            </a:r>
            <a:endParaRPr lang="en-US" sz="2000" dirty="0"/>
          </a:p>
        </p:txBody>
      </p:sp>
      <p:sp>
        <p:nvSpPr>
          <p:cNvPr id="7" name="Text 4"/>
          <p:cNvSpPr/>
          <p:nvPr/>
        </p:nvSpPr>
        <p:spPr>
          <a:xfrm>
            <a:off x="2286000" y="2423160"/>
            <a:ext cx="9144000" cy="640080"/>
          </a:xfrm>
          <a:prstGeom prst="rect">
            <a:avLst/>
          </a:prstGeom>
          <a:noFill/>
          <a:ln/>
        </p:spPr>
        <p:txBody>
          <a:bodyPr wrap="square" lIns="508" tIns="508" rIns="508" bIns="508"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TCP/IP gives one language to all networks</a:t>
            </a:r>
            <a:endParaRPr lang="en-US" sz="2000" dirty="0"/>
          </a:p>
        </p:txBody>
      </p:sp>
      <p:sp>
        <p:nvSpPr>
          <p:cNvPr id="8" name="Text 5"/>
          <p:cNvSpPr/>
          <p:nvPr/>
        </p:nvSpPr>
        <p:spPr>
          <a:xfrm>
            <a:off x="731520" y="3291840"/>
            <a:ext cx="1371600" cy="640080"/>
          </a:xfrm>
          <a:prstGeom prst="roundRect">
            <a:avLst>
              <a:gd name="adj" fmla="val 11429"/>
            </a:avLst>
          </a:prstGeom>
          <a:solidFill>
            <a:srgbClr val="7C5CFC"/>
          </a:solidFill>
          <a:ln w="15875">
            <a:solidFill>
              <a:srgbClr val="7C5CFC"/>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1991</a:t>
            </a:r>
            <a:endParaRPr lang="en-US" sz="2000" dirty="0"/>
          </a:p>
        </p:txBody>
      </p:sp>
      <p:sp>
        <p:nvSpPr>
          <p:cNvPr id="9" name="Text 6"/>
          <p:cNvSpPr/>
          <p:nvPr/>
        </p:nvSpPr>
        <p:spPr>
          <a:xfrm>
            <a:off x="2286000" y="3291840"/>
            <a:ext cx="9144000" cy="640080"/>
          </a:xfrm>
          <a:prstGeom prst="rect">
            <a:avLst/>
          </a:prstGeom>
          <a:noFill/>
          <a:ln/>
        </p:spPr>
        <p:txBody>
          <a:bodyPr wrap="square" lIns="508" tIns="508" rIns="508" bIns="508" rtlCol="0" anchor="ctr"/>
          <a:lstStyle/>
          <a:p>
            <a:pPr indent="0" marL="0">
              <a:buNone/>
            </a:pPr>
            <a:r>
              <a:rPr lang="en-US" sz="2000" dirty="0">
                <a:solidFill>
                  <a:srgbClr val="FFFFFF"/>
                </a:solidFill>
                <a:latin typeface="Calibri" pitchFamily="34" charset="0"/>
                <a:ea typeface="Calibri" pitchFamily="34" charset="-122"/>
                <a:cs typeface="Calibri" pitchFamily="34" charset="-120"/>
              </a:rPr>
              <a:t>HTTP + URL + HTML create the Web</a:t>
            </a:r>
            <a:endParaRPr lang="en-US" sz="2000" dirty="0"/>
          </a:p>
        </p:txBody>
      </p:sp>
      <p:sp>
        <p:nvSpPr>
          <p:cNvPr id="10" name="Text 7"/>
          <p:cNvSpPr/>
          <p:nvPr/>
        </p:nvSpPr>
        <p:spPr>
          <a:xfrm>
            <a:off x="731520" y="4160520"/>
            <a:ext cx="1371600" cy="640080"/>
          </a:xfrm>
          <a:prstGeom prst="roundRect">
            <a:avLst>
              <a:gd name="adj" fmla="val 11429"/>
            </a:avLst>
          </a:prstGeom>
          <a:solidFill>
            <a:srgbClr val="F59E0B"/>
          </a:solidFill>
          <a:ln w="15875">
            <a:solidFill>
              <a:srgbClr val="F59E0B"/>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2000</a:t>
            </a:r>
            <a:endParaRPr lang="en-US" sz="2000" dirty="0"/>
          </a:p>
        </p:txBody>
      </p:sp>
      <p:sp>
        <p:nvSpPr>
          <p:cNvPr id="11" name="Text 8"/>
          <p:cNvSpPr/>
          <p:nvPr/>
        </p:nvSpPr>
        <p:spPr>
          <a:xfrm>
            <a:off x="2286000" y="4160520"/>
            <a:ext cx="9144000" cy="640080"/>
          </a:xfrm>
          <a:prstGeom prst="rect">
            <a:avLst/>
          </a:prstGeom>
          <a:noFill/>
          <a:ln/>
        </p:spPr>
        <p:txBody>
          <a:bodyPr wrap="square" lIns="508" tIns="508" rIns="508" bIns="508"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REST turns HTTP into a way to expose resources</a:t>
            </a:r>
            <a:endParaRPr lang="en-US" sz="2000" dirty="0"/>
          </a:p>
        </p:txBody>
      </p:sp>
      <p:sp>
        <p:nvSpPr>
          <p:cNvPr id="12" name="Text 9"/>
          <p:cNvSpPr/>
          <p:nvPr/>
        </p:nvSpPr>
        <p:spPr>
          <a:xfrm>
            <a:off x="731520" y="5029200"/>
            <a:ext cx="1371600" cy="640080"/>
          </a:xfrm>
          <a:prstGeom prst="roundRect">
            <a:avLst>
              <a:gd name="adj" fmla="val 11429"/>
            </a:avLst>
          </a:prstGeom>
          <a:solidFill>
            <a:srgbClr val="E5484D"/>
          </a:solidFill>
          <a:ln w="15875">
            <a:solidFill>
              <a:srgbClr val="E5484D"/>
            </a:solidFill>
          </a:ln>
        </p:spPr>
        <p:txBody>
          <a:bodyPr wrap="square" lIns="1016" tIns="1016" rIns="1016" bIns="1016"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Today</a:t>
            </a:r>
            <a:endParaRPr lang="en-US" sz="2000" dirty="0"/>
          </a:p>
        </p:txBody>
      </p:sp>
      <p:sp>
        <p:nvSpPr>
          <p:cNvPr id="13" name="Text 10"/>
          <p:cNvSpPr/>
          <p:nvPr/>
        </p:nvSpPr>
        <p:spPr>
          <a:xfrm>
            <a:off x="2286000" y="5029200"/>
            <a:ext cx="9144000" cy="640080"/>
          </a:xfrm>
          <a:prstGeom prst="rect">
            <a:avLst/>
          </a:prstGeom>
          <a:noFill/>
          <a:ln/>
        </p:spPr>
        <p:txBody>
          <a:bodyPr wrap="square" lIns="508" tIns="508" rIns="508" bIns="508" rtlCol="0" anchor="ctr"/>
          <a:lstStyle/>
          <a:p>
            <a:pPr indent="0" marL="0">
              <a:buNone/>
            </a:pPr>
            <a:r>
              <a:rPr lang="en-US" sz="2000" dirty="0">
                <a:solidFill>
                  <a:srgbClr val="FFFFFF"/>
                </a:solidFill>
                <a:latin typeface="Calibri" pitchFamily="34" charset="0"/>
                <a:ea typeface="Calibri" pitchFamily="34" charset="-122"/>
                <a:cs typeface="Calibri" pitchFamily="34" charset="-120"/>
              </a:rPr>
              <a:t>Microservices talk REST (and gRPC, events); API testing is the sweet spot</a:t>
            </a:r>
            <a:endParaRPr lang="en-US" sz="2000" dirty="0"/>
          </a:p>
        </p:txBody>
      </p:sp>
      <p:sp>
        <p:nvSpPr>
          <p:cNvPr id="14" name="Text 11"/>
          <p:cNvSpPr/>
          <p:nvPr/>
        </p:nvSpPr>
        <p:spPr>
          <a:xfrm>
            <a:off x="731520" y="5943600"/>
            <a:ext cx="5486400" cy="548640"/>
          </a:xfrm>
          <a:prstGeom prst="rect">
            <a:avLst/>
          </a:prstGeom>
          <a:noFill/>
          <a:ln/>
        </p:spPr>
        <p:txBody>
          <a:bodyPr wrap="square" lIns="508" tIns="508" rIns="508" bIns="508"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Questions?</a:t>
            </a:r>
            <a:endParaRPr lang="en-US" sz="2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B1F3A"/>
          </a:solidFill>
          <a:ln/>
        </p:spPr>
      </p:sp>
      <p:sp>
        <p:nvSpPr>
          <p:cNvPr id="3" name="Shape 1"/>
          <p:cNvSpPr/>
          <p:nvPr/>
        </p:nvSpPr>
        <p:spPr>
          <a:xfrm>
            <a:off x="0" y="914400"/>
            <a:ext cx="12188952" cy="54864"/>
          </a:xfrm>
          <a:prstGeom prst="rect">
            <a:avLst/>
          </a:prstGeom>
          <a:solidFill>
            <a:srgbClr val="0F9D8F"/>
          </a:solidFill>
          <a:ln/>
        </p:spPr>
      </p:sp>
      <p:sp>
        <p:nvSpPr>
          <p:cNvPr id="4" name="Text 2"/>
          <p:cNvSpPr/>
          <p:nvPr/>
        </p:nvSpPr>
        <p:spPr>
          <a:xfrm>
            <a:off x="457200" y="91440"/>
            <a:ext cx="96926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Appendix: quick glossary</a:t>
            </a:r>
            <a:endParaRPr lang="en-US" sz="2800" dirty="0"/>
          </a:p>
        </p:txBody>
      </p:sp>
      <p:sp>
        <p:nvSpPr>
          <p:cNvPr id="5" name="Text 3"/>
          <p:cNvSpPr/>
          <p:nvPr/>
        </p:nvSpPr>
        <p:spPr>
          <a:xfrm>
            <a:off x="9418320" y="91440"/>
            <a:ext cx="2377440" cy="73152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Appendix</a:t>
            </a:r>
            <a:endParaRPr lang="en-US" sz="1200" dirty="0"/>
          </a:p>
        </p:txBody>
      </p:sp>
      <p:sp>
        <p:nvSpPr>
          <p:cNvPr id="6" name="Text 4"/>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64</a:t>
            </a:r>
            <a:endParaRPr lang="en-US" sz="1000" dirty="0"/>
          </a:p>
        </p:txBody>
      </p:sp>
      <p:sp>
        <p:nvSpPr>
          <p:cNvPr id="8" name="Text 5"/>
          <p:cNvSpPr/>
          <p:nvPr/>
        </p:nvSpPr>
        <p:spPr>
          <a:xfrm>
            <a:off x="548640" y="123444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API</a:t>
            </a:r>
            <a:endParaRPr lang="en-US" sz="1400" dirty="0"/>
          </a:p>
        </p:txBody>
      </p:sp>
      <p:sp>
        <p:nvSpPr>
          <p:cNvPr id="9" name="Text 6"/>
          <p:cNvSpPr/>
          <p:nvPr/>
        </p:nvSpPr>
        <p:spPr>
          <a:xfrm>
            <a:off x="2286000" y="123444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Contract that lets programs talk</a:t>
            </a:r>
            <a:endParaRPr lang="en-US" sz="1400" dirty="0"/>
          </a:p>
        </p:txBody>
      </p:sp>
      <p:sp>
        <p:nvSpPr>
          <p:cNvPr id="10" name="Text 7"/>
          <p:cNvSpPr/>
          <p:nvPr/>
        </p:nvSpPr>
        <p:spPr>
          <a:xfrm>
            <a:off x="6172200" y="123444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Protocol</a:t>
            </a:r>
            <a:endParaRPr lang="en-US" sz="1400" dirty="0"/>
          </a:p>
        </p:txBody>
      </p:sp>
      <p:sp>
        <p:nvSpPr>
          <p:cNvPr id="11" name="Text 8"/>
          <p:cNvSpPr/>
          <p:nvPr/>
        </p:nvSpPr>
        <p:spPr>
          <a:xfrm>
            <a:off x="7909560" y="123444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Agreed rules for exchanging messages</a:t>
            </a:r>
            <a:endParaRPr lang="en-US" sz="1400" dirty="0"/>
          </a:p>
        </p:txBody>
      </p:sp>
      <p:sp>
        <p:nvSpPr>
          <p:cNvPr id="12" name="Text 9"/>
          <p:cNvSpPr/>
          <p:nvPr/>
        </p:nvSpPr>
        <p:spPr>
          <a:xfrm>
            <a:off x="548640" y="205740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Endpoint</a:t>
            </a:r>
            <a:endParaRPr lang="en-US" sz="1400" dirty="0"/>
          </a:p>
        </p:txBody>
      </p:sp>
      <p:sp>
        <p:nvSpPr>
          <p:cNvPr id="13" name="Text 10"/>
          <p:cNvSpPr/>
          <p:nvPr/>
        </p:nvSpPr>
        <p:spPr>
          <a:xfrm>
            <a:off x="2286000" y="205740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A URL + method that does something</a:t>
            </a:r>
            <a:endParaRPr lang="en-US" sz="1400" dirty="0"/>
          </a:p>
        </p:txBody>
      </p:sp>
      <p:sp>
        <p:nvSpPr>
          <p:cNvPr id="14" name="Text 11"/>
          <p:cNvSpPr/>
          <p:nvPr/>
        </p:nvSpPr>
        <p:spPr>
          <a:xfrm>
            <a:off x="6172200" y="205740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Resource</a:t>
            </a:r>
            <a:endParaRPr lang="en-US" sz="1400" dirty="0"/>
          </a:p>
        </p:txBody>
      </p:sp>
      <p:sp>
        <p:nvSpPr>
          <p:cNvPr id="15" name="Text 12"/>
          <p:cNvSpPr/>
          <p:nvPr/>
        </p:nvSpPr>
        <p:spPr>
          <a:xfrm>
            <a:off x="7909560" y="205740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A thing the API exposes (user, order)</a:t>
            </a:r>
            <a:endParaRPr lang="en-US" sz="1400" dirty="0"/>
          </a:p>
        </p:txBody>
      </p:sp>
      <p:sp>
        <p:nvSpPr>
          <p:cNvPr id="16" name="Text 13"/>
          <p:cNvSpPr/>
          <p:nvPr/>
        </p:nvSpPr>
        <p:spPr>
          <a:xfrm>
            <a:off x="548640" y="288036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Payload / body</a:t>
            </a:r>
            <a:endParaRPr lang="en-US" sz="1400" dirty="0"/>
          </a:p>
        </p:txBody>
      </p:sp>
      <p:sp>
        <p:nvSpPr>
          <p:cNvPr id="17" name="Text 14"/>
          <p:cNvSpPr/>
          <p:nvPr/>
        </p:nvSpPr>
        <p:spPr>
          <a:xfrm>
            <a:off x="2286000" y="288036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The data in a request or response</a:t>
            </a:r>
            <a:endParaRPr lang="en-US" sz="1400" dirty="0"/>
          </a:p>
        </p:txBody>
      </p:sp>
      <p:sp>
        <p:nvSpPr>
          <p:cNvPr id="18" name="Text 15"/>
          <p:cNvSpPr/>
          <p:nvPr/>
        </p:nvSpPr>
        <p:spPr>
          <a:xfrm>
            <a:off x="6172200" y="288036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Header</a:t>
            </a:r>
            <a:endParaRPr lang="en-US" sz="1400" dirty="0"/>
          </a:p>
        </p:txBody>
      </p:sp>
      <p:sp>
        <p:nvSpPr>
          <p:cNvPr id="19" name="Text 16"/>
          <p:cNvSpPr/>
          <p:nvPr/>
        </p:nvSpPr>
        <p:spPr>
          <a:xfrm>
            <a:off x="7909560" y="288036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Metadata about the message</a:t>
            </a:r>
            <a:endParaRPr lang="en-US" sz="1400" dirty="0"/>
          </a:p>
        </p:txBody>
      </p:sp>
      <p:sp>
        <p:nvSpPr>
          <p:cNvPr id="20" name="Text 17"/>
          <p:cNvSpPr/>
          <p:nvPr/>
        </p:nvSpPr>
        <p:spPr>
          <a:xfrm>
            <a:off x="548640" y="370332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Idempotent</a:t>
            </a:r>
            <a:endParaRPr lang="en-US" sz="1400" dirty="0"/>
          </a:p>
        </p:txBody>
      </p:sp>
      <p:sp>
        <p:nvSpPr>
          <p:cNvPr id="21" name="Text 18"/>
          <p:cNvSpPr/>
          <p:nvPr/>
        </p:nvSpPr>
        <p:spPr>
          <a:xfrm>
            <a:off x="2286000" y="370332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Repeating gives the same result</a:t>
            </a:r>
            <a:endParaRPr lang="en-US" sz="1400" dirty="0"/>
          </a:p>
        </p:txBody>
      </p:sp>
      <p:sp>
        <p:nvSpPr>
          <p:cNvPr id="22" name="Text 19"/>
          <p:cNvSpPr/>
          <p:nvPr/>
        </p:nvSpPr>
        <p:spPr>
          <a:xfrm>
            <a:off x="6172200" y="370332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Stateless</a:t>
            </a:r>
            <a:endParaRPr lang="en-US" sz="1400" dirty="0"/>
          </a:p>
        </p:txBody>
      </p:sp>
      <p:sp>
        <p:nvSpPr>
          <p:cNvPr id="23" name="Text 20"/>
          <p:cNvSpPr/>
          <p:nvPr/>
        </p:nvSpPr>
        <p:spPr>
          <a:xfrm>
            <a:off x="7909560" y="370332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Server keeps no memory between calls</a:t>
            </a:r>
            <a:endParaRPr lang="en-US" sz="1400" dirty="0"/>
          </a:p>
        </p:txBody>
      </p:sp>
      <p:sp>
        <p:nvSpPr>
          <p:cNvPr id="24" name="Text 21"/>
          <p:cNvSpPr/>
          <p:nvPr/>
        </p:nvSpPr>
        <p:spPr>
          <a:xfrm>
            <a:off x="548640" y="452628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JSON</a:t>
            </a:r>
            <a:endParaRPr lang="en-US" sz="1400" dirty="0"/>
          </a:p>
        </p:txBody>
      </p:sp>
      <p:sp>
        <p:nvSpPr>
          <p:cNvPr id="25" name="Text 22"/>
          <p:cNvSpPr/>
          <p:nvPr/>
        </p:nvSpPr>
        <p:spPr>
          <a:xfrm>
            <a:off x="2286000" y="452628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Lightweight text data format</a:t>
            </a:r>
            <a:endParaRPr lang="en-US" sz="1400" dirty="0"/>
          </a:p>
        </p:txBody>
      </p:sp>
      <p:sp>
        <p:nvSpPr>
          <p:cNvPr id="26" name="Text 23"/>
          <p:cNvSpPr/>
          <p:nvPr/>
        </p:nvSpPr>
        <p:spPr>
          <a:xfrm>
            <a:off x="6172200" y="452628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OpenAPI</a:t>
            </a:r>
            <a:endParaRPr lang="en-US" sz="1400" dirty="0"/>
          </a:p>
        </p:txBody>
      </p:sp>
      <p:sp>
        <p:nvSpPr>
          <p:cNvPr id="27" name="Text 24"/>
          <p:cNvSpPr/>
          <p:nvPr/>
        </p:nvSpPr>
        <p:spPr>
          <a:xfrm>
            <a:off x="7909560" y="452628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Standard way to describe a REST API</a:t>
            </a:r>
            <a:endParaRPr lang="en-US" sz="1400" dirty="0"/>
          </a:p>
        </p:txBody>
      </p:sp>
      <p:sp>
        <p:nvSpPr>
          <p:cNvPr id="28" name="Text 25"/>
          <p:cNvSpPr/>
          <p:nvPr/>
        </p:nvSpPr>
        <p:spPr>
          <a:xfrm>
            <a:off x="548640" y="534924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Gateway</a:t>
            </a:r>
            <a:endParaRPr lang="en-US" sz="1400" dirty="0"/>
          </a:p>
        </p:txBody>
      </p:sp>
      <p:sp>
        <p:nvSpPr>
          <p:cNvPr id="29" name="Text 26"/>
          <p:cNvSpPr/>
          <p:nvPr/>
        </p:nvSpPr>
        <p:spPr>
          <a:xfrm>
            <a:off x="2286000" y="534924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Single front door to many services</a:t>
            </a:r>
            <a:endParaRPr lang="en-US" sz="1400" dirty="0"/>
          </a:p>
        </p:txBody>
      </p:sp>
      <p:sp>
        <p:nvSpPr>
          <p:cNvPr id="30" name="Text 27"/>
          <p:cNvSpPr/>
          <p:nvPr/>
        </p:nvSpPr>
        <p:spPr>
          <a:xfrm>
            <a:off x="6172200" y="5349240"/>
            <a:ext cx="1737360" cy="685800"/>
          </a:xfrm>
          <a:prstGeom prst="rect">
            <a:avLst>
              <a:gd name="adj" fmla="val 10667"/>
            </a:avLst>
          </a:prstGeom>
          <a:solidFill>
            <a:srgbClr val="0B1F3A"/>
          </a:solidFill>
          <a:ln w="15875">
            <a:solidFill>
              <a:srgbClr val="0B1F3A"/>
            </a:solidFill>
          </a:ln>
        </p:spPr>
        <p:txBody>
          <a:bodyPr wrap="square" lIns="1016" tIns="1016" rIns="1016" bIns="1016"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Contract test</a:t>
            </a:r>
            <a:endParaRPr lang="en-US" sz="1400" dirty="0"/>
          </a:p>
        </p:txBody>
      </p:sp>
      <p:sp>
        <p:nvSpPr>
          <p:cNvPr id="31" name="Text 28"/>
          <p:cNvSpPr/>
          <p:nvPr/>
        </p:nvSpPr>
        <p:spPr>
          <a:xfrm>
            <a:off x="7909560" y="5349240"/>
            <a:ext cx="3749040" cy="685800"/>
          </a:xfrm>
          <a:prstGeom prst="rect">
            <a:avLst>
              <a:gd name="adj" fmla="val 10667"/>
            </a:avLst>
          </a:prstGeom>
          <a:solidFill>
            <a:srgbClr val="FFFFFF"/>
          </a:solidFill>
          <a:ln w="15875">
            <a:solidFill>
              <a:srgbClr val="FFFFFF"/>
            </a:solidFill>
          </a:ln>
        </p:spPr>
        <p:txBody>
          <a:bodyPr wrap="square" lIns="1016" tIns="1016" rIns="1016" bIns="1016"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Checks consumer &amp; provider agree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Server: A Journey from Telnet to Microservices</dc:title>
  <dc:subject>PptxGenJS Presentation</dc:subject>
  <dc:creator>PptxGenJS</dc:creator>
  <cp:lastModifiedBy>PptxGenJS</cp:lastModifiedBy>
  <cp:revision>1</cp:revision>
  <dcterms:created xsi:type="dcterms:W3CDTF">2026-10-25T22:57:13Z</dcterms:created>
  <dcterms:modified xsi:type="dcterms:W3CDTF">2026-10-25T22:57:13Z</dcterms:modified>
</cp:coreProperties>
</file>